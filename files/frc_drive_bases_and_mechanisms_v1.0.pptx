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C0A"/>
          </a:solidFill>
          <a:ln w="12700">
            <a:solidFill>
              <a:srgbClr val="E87C0A"/>
            </a:solidFill>
            <a:prstDash val="solid"/>
          </a:ln>
        </p:spPr>
      </p:sp>
      <p:sp>
        <p:nvSpPr>
          <p:cNvPr id="3" name="Shape 1"/>
          <p:cNvSpPr/>
          <p:nvPr/>
        </p:nvSpPr>
        <p:spPr>
          <a:xfrm>
            <a:off x="5943600" y="73152"/>
            <a:ext cx="3200400" cy="5070348"/>
          </a:xfrm>
          <a:prstGeom prst="rect">
            <a:avLst/>
          </a:prstGeom>
          <a:solidFill>
            <a:srgbClr val="1B3A6B"/>
          </a:solidFill>
          <a:ln w="12700">
            <a:solidFill>
              <a:srgbClr val="1B3A6B"/>
            </a:solidFill>
            <a:prstDash val="solid"/>
          </a:ln>
        </p:spPr>
      </p:sp>
      <p:sp>
        <p:nvSpPr>
          <p:cNvPr id="4" name="Shape 2"/>
          <p:cNvSpPr/>
          <p:nvPr/>
        </p:nvSpPr>
        <p:spPr>
          <a:xfrm>
            <a:off x="5577840" y="73152"/>
            <a:ext cx="502920" cy="5070348"/>
          </a:xfrm>
          <a:prstGeom prst="rect">
            <a:avLst/>
          </a:prstGeom>
          <a:solidFill>
            <a:srgbClr val="3A6BC4">
              <a:alpha val="60000"/>
            </a:srgbClr>
          </a:solidFill>
          <a:ln w="12700">
            <a:solidFill>
              <a:srgbClr val="3A6BC4">
                <a:alpha val="60000"/>
              </a:srgbClr>
            </a:solidFill>
            <a:prstDash val="solid"/>
          </a:ln>
        </p:spPr>
      </p:sp>
      <p:sp>
        <p:nvSpPr>
          <p:cNvPr id="5" name="Text 3"/>
          <p:cNvSpPr/>
          <p:nvPr/>
        </p:nvSpPr>
        <p:spPr>
          <a:xfrm>
            <a:off x="457200" y="914400"/>
            <a:ext cx="5303520" cy="320040"/>
          </a:xfrm>
          <a:prstGeom prst="rect">
            <a:avLst/>
          </a:prstGeom>
          <a:noFill/>
          <a:ln/>
        </p:spPr>
        <p:txBody>
          <a:bodyPr wrap="square" lIns="0" tIns="0" rIns="0" bIns="0" rtlCol="0" anchor="ctr"/>
          <a:lstStyle/>
          <a:p>
            <a:pPr algn="l" indent="0" marL="0">
              <a:buNone/>
            </a:pPr>
            <a:r>
              <a:rPr lang="en-US" sz="1100" b="1" spc="400" kern="0" dirty="0">
                <a:solidFill>
                  <a:srgbClr val="E87C0A"/>
                </a:solidFill>
              </a:rPr>
              <a:t>FIRST ROBOTICS COMPETITION</a:t>
            </a:r>
            <a:endParaRPr lang="en-US" sz="1100" dirty="0"/>
          </a:p>
        </p:txBody>
      </p:sp>
      <p:sp>
        <p:nvSpPr>
          <p:cNvPr id="6" name="Text 4"/>
          <p:cNvSpPr/>
          <p:nvPr/>
        </p:nvSpPr>
        <p:spPr>
          <a:xfrm>
            <a:off x="457200" y="1371600"/>
            <a:ext cx="5303520" cy="1645920"/>
          </a:xfrm>
          <a:prstGeom prst="rect">
            <a:avLst/>
          </a:prstGeom>
          <a:noFill/>
          <a:ln/>
        </p:spPr>
        <p:txBody>
          <a:bodyPr wrap="square" lIns="0" tIns="0" rIns="0" bIns="0" rtlCol="0" anchor="ctr"/>
          <a:lstStyle/>
          <a:p>
            <a:pPr algn="l" indent="0" marL="0">
              <a:buNone/>
            </a:pPr>
            <a:r>
              <a:rPr lang="en-US" sz="3800" b="1" dirty="0">
                <a:solidFill>
                  <a:srgbClr val="FFFFFF"/>
                </a:solidFill>
              </a:rPr>
              <a:t>Drive Bases &amp;</a:t>
            </a:r>
            <a:endParaRPr lang="en-US" sz="3800" dirty="0"/>
          </a:p>
          <a:p>
            <a:pPr algn="l" indent="0" marL="0">
              <a:buNone/>
            </a:pPr>
            <a:r>
              <a:rPr lang="en-US" sz="3800" b="1" dirty="0">
                <a:solidFill>
                  <a:srgbClr val="FFFFFF"/>
                </a:solidFill>
              </a:rPr>
              <a:t>Mechanisms</a:t>
            </a:r>
            <a:endParaRPr lang="en-US" sz="3800" dirty="0"/>
          </a:p>
        </p:txBody>
      </p:sp>
      <p:sp>
        <p:nvSpPr>
          <p:cNvPr id="7" name="Text 5"/>
          <p:cNvSpPr/>
          <p:nvPr/>
        </p:nvSpPr>
        <p:spPr>
          <a:xfrm>
            <a:off x="457200" y="3108960"/>
            <a:ext cx="5120640" cy="731520"/>
          </a:xfrm>
          <a:prstGeom prst="rect">
            <a:avLst/>
          </a:prstGeom>
          <a:noFill/>
          <a:ln/>
        </p:spPr>
        <p:txBody>
          <a:bodyPr wrap="square" lIns="0" tIns="0" rIns="0" bIns="0" rtlCol="0" anchor="ctr"/>
          <a:lstStyle/>
          <a:p>
            <a:pPr algn="l" indent="0" marL="0">
              <a:buNone/>
            </a:pPr>
            <a:r>
              <a:rPr lang="en-US" sz="1500" dirty="0">
                <a:solidFill>
                  <a:srgbClr val="D8E4F0"/>
                </a:solidFill>
              </a:rPr>
              <a:t>When to use them, how they work,</a:t>
            </a:r>
            <a:endParaRPr lang="en-US" sz="1500" dirty="0"/>
          </a:p>
          <a:p>
            <a:pPr algn="l" indent="0" marL="0">
              <a:buNone/>
            </a:pPr>
            <a:r>
              <a:rPr lang="en-US" sz="1500" dirty="0">
                <a:solidFill>
                  <a:srgbClr val="D8E4F0"/>
                </a:solidFill>
              </a:rPr>
              <a:t>and what they're best at</a:t>
            </a:r>
            <a:endParaRPr lang="en-US" sz="1500" dirty="0"/>
          </a:p>
        </p:txBody>
      </p:sp>
      <p:sp>
        <p:nvSpPr>
          <p:cNvPr id="8" name="Text 6"/>
          <p:cNvSpPr/>
          <p:nvPr/>
        </p:nvSpPr>
        <p:spPr>
          <a:xfrm>
            <a:off x="6126480" y="1645920"/>
            <a:ext cx="2834640" cy="1371600"/>
          </a:xfrm>
          <a:prstGeom prst="rect">
            <a:avLst/>
          </a:prstGeom>
          <a:noFill/>
          <a:ln/>
        </p:spPr>
        <p:txBody>
          <a:bodyPr wrap="square" lIns="0" tIns="0" rIns="0" bIns="0" rtlCol="0" anchor="ctr"/>
          <a:lstStyle/>
          <a:p>
            <a:pPr algn="ctr" indent="0" marL="0">
              <a:buNone/>
            </a:pPr>
            <a:r>
              <a:rPr lang="en-US" sz="2200" b="1" dirty="0">
                <a:solidFill>
                  <a:srgbClr val="FFFFFF"/>
                </a:solidFill>
              </a:rPr>
              <a:t>DRIVE BASES</a:t>
            </a:r>
            <a:endParaRPr lang="en-US" sz="2200" dirty="0"/>
          </a:p>
          <a:p>
            <a:pPr algn="ctr" indent="0" marL="0">
              <a:buNone/>
            </a:pPr>
            <a:r>
              <a:rPr lang="en-US" sz="2200" b="1" dirty="0">
                <a:solidFill>
                  <a:srgbClr val="FFFFFF"/>
                </a:solidFill>
              </a:rPr>
              <a:t>&amp; MECHANISMS</a:t>
            </a:r>
            <a:endParaRPr lang="en-US" sz="2200" dirty="0"/>
          </a:p>
        </p:txBody>
      </p:sp>
      <p:sp>
        <p:nvSpPr>
          <p:cNvPr id="9" name="Text 7"/>
          <p:cNvSpPr/>
          <p:nvPr/>
        </p:nvSpPr>
        <p:spPr>
          <a:xfrm>
            <a:off x="6126480" y="3108960"/>
            <a:ext cx="2834640" cy="1371600"/>
          </a:xfrm>
          <a:prstGeom prst="rect">
            <a:avLst/>
          </a:prstGeom>
          <a:noFill/>
          <a:ln/>
        </p:spPr>
        <p:txBody>
          <a:bodyPr wrap="square" lIns="0" tIns="0" rIns="0" bIns="0" rtlCol="0" anchor="ctr"/>
          <a:lstStyle/>
          <a:p>
            <a:pPr algn="ctr" indent="0" marL="0">
              <a:buNone/>
            </a:pPr>
            <a:r>
              <a:rPr lang="en-US" sz="1200" dirty="0">
                <a:solidFill>
                  <a:srgbClr val="D8E4F0"/>
                </a:solidFill>
              </a:rPr>
              <a:t>Tank · WCD · Mecanum</a:t>
            </a:r>
            <a:endParaRPr lang="en-US" sz="1200" dirty="0"/>
          </a:p>
          <a:p>
            <a:pPr algn="ctr" indent="0" marL="0">
              <a:buNone/>
            </a:pPr>
            <a:r>
              <a:rPr lang="en-US" sz="1200" dirty="0">
                <a:solidFill>
                  <a:srgbClr val="D8E4F0"/>
                </a:solidFill>
              </a:rPr>
              <a:t>Swerve · H-Drive</a:t>
            </a:r>
            <a:endParaRPr lang="en-US" sz="1200" dirty="0"/>
          </a:p>
          <a:p>
            <a:pPr algn="ctr" indent="0" marL="0">
              <a:buNone/>
            </a:pPr>
            <a:r>
              <a:rPr lang="en-US" sz="1200" dirty="0">
                <a:solidFill>
                  <a:srgbClr val="D8E4F0"/>
                </a:solidFill>
              </a:rPr>
              <a:t>Intakes · Elevators</a:t>
            </a:r>
            <a:endParaRPr lang="en-US" sz="1200" dirty="0"/>
          </a:p>
          <a:p>
            <a:pPr algn="ctr" indent="0" marL="0">
              <a:buNone/>
            </a:pPr>
            <a:r>
              <a:rPr lang="en-US" sz="1200" dirty="0">
                <a:solidFill>
                  <a:srgbClr val="D8E4F0"/>
                </a:solidFill>
              </a:rPr>
              <a:t>Arms · Shooters · Climbers</a:t>
            </a:r>
            <a:endParaRPr lang="en-US" sz="1200" dirty="0"/>
          </a:p>
        </p:txBody>
      </p:sp>
      <p:sp>
        <p:nvSpPr>
          <p:cNvPr id="10" name="Shape 8"/>
          <p:cNvSpPr/>
          <p:nvPr/>
        </p:nvSpPr>
        <p:spPr>
          <a:xfrm>
            <a:off x="0" y="5070348"/>
            <a:ext cx="9144000" cy="73152"/>
          </a:xfrm>
          <a:prstGeom prst="rect">
            <a:avLst/>
          </a:prstGeom>
          <a:solidFill>
            <a:srgbClr val="E87C0A"/>
          </a:solidFill>
          <a:ln w="12700">
            <a:solidFill>
              <a:srgbClr val="E87C0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What is a Drive Base?</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FUNDAMENTALS</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685800"/>
          </a:xfrm>
          <a:prstGeom prst="rect">
            <a:avLst/>
          </a:prstGeom>
          <a:noFill/>
          <a:ln/>
        </p:spPr>
        <p:txBody>
          <a:bodyPr wrap="square" lIns="0" tIns="0" rIns="0" bIns="0" rtlCol="0" anchor="ctr"/>
          <a:lstStyle/>
          <a:p>
            <a:pPr algn="l" indent="0" marL="0">
              <a:buNone/>
            </a:pPr>
            <a:r>
              <a:rPr lang="en-US" sz="1300" dirty="0">
                <a:solidFill>
                  <a:srgbClr val="5B6B80"/>
                </a:solidFill>
              </a:rPr>
              <a:t>The drive base (or drivetrain) is the foundation of every FRC robot. It determines how the robot moves, defends, and scores — making it one of the most critical design decisions each season.</a:t>
            </a:r>
            <a:endParaRPr lang="en-US" sz="1300" dirty="0"/>
          </a:p>
        </p:txBody>
      </p:sp>
      <p:sp>
        <p:nvSpPr>
          <p:cNvPr id="8" name="Shape 6"/>
          <p:cNvSpPr/>
          <p:nvPr/>
        </p:nvSpPr>
        <p:spPr>
          <a:xfrm>
            <a:off x="457200" y="1691640"/>
            <a:ext cx="2606040" cy="12344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457200" y="1691640"/>
            <a:ext cx="2606040" cy="73152"/>
          </a:xfrm>
          <a:prstGeom prst="rect">
            <a:avLst/>
          </a:prstGeom>
          <a:solidFill>
            <a:srgbClr val="E87C0A"/>
          </a:solidFill>
          <a:ln w="12700">
            <a:solidFill>
              <a:srgbClr val="E87C0A"/>
            </a:solidFill>
            <a:prstDash val="solid"/>
          </a:ln>
        </p:spPr>
      </p:sp>
      <p:sp>
        <p:nvSpPr>
          <p:cNvPr id="10" name="Text 8"/>
          <p:cNvSpPr/>
          <p:nvPr/>
        </p:nvSpPr>
        <p:spPr>
          <a:xfrm>
            <a:off x="566928" y="1856232"/>
            <a:ext cx="411480" cy="411480"/>
          </a:xfrm>
          <a:prstGeom prst="rect">
            <a:avLst/>
          </a:prstGeom>
          <a:noFill/>
          <a:ln/>
        </p:spPr>
        <p:txBody>
          <a:bodyPr wrap="square" lIns="0" tIns="0" rIns="0" bIns="0" rtlCol="0" anchor="ctr"/>
          <a:lstStyle/>
          <a:p>
            <a:pPr algn="ctr" indent="0" marL="0">
              <a:buNone/>
            </a:pPr>
            <a:r>
              <a:rPr lang="en-US" sz="2000" b="1" dirty="0">
                <a:solidFill>
                  <a:srgbClr val="3A6BC4"/>
                </a:solidFill>
              </a:rPr>
              <a:t>1</a:t>
            </a:r>
            <a:endParaRPr lang="en-US" sz="2000" dirty="0"/>
          </a:p>
        </p:txBody>
      </p:sp>
      <p:sp>
        <p:nvSpPr>
          <p:cNvPr id="11" name="Text 9"/>
          <p:cNvSpPr/>
          <p:nvPr/>
        </p:nvSpPr>
        <p:spPr>
          <a:xfrm>
            <a:off x="1005840" y="1856232"/>
            <a:ext cx="1920240" cy="320040"/>
          </a:xfrm>
          <a:prstGeom prst="rect">
            <a:avLst/>
          </a:prstGeom>
          <a:noFill/>
          <a:ln/>
        </p:spPr>
        <p:txBody>
          <a:bodyPr wrap="square" lIns="0" tIns="0" rIns="0" bIns="0" rtlCol="0" anchor="ctr"/>
          <a:lstStyle/>
          <a:p>
            <a:pPr algn="l" indent="0" marL="0">
              <a:buNone/>
            </a:pPr>
            <a:r>
              <a:rPr lang="en-US" sz="1400" b="1" dirty="0">
                <a:solidFill>
                  <a:srgbClr val="0D1B2A"/>
                </a:solidFill>
              </a:rPr>
              <a:t>Tank Drive</a:t>
            </a:r>
            <a:endParaRPr lang="en-US" sz="1400" dirty="0"/>
          </a:p>
        </p:txBody>
      </p:sp>
      <p:sp>
        <p:nvSpPr>
          <p:cNvPr id="12" name="Text 10"/>
          <p:cNvSpPr/>
          <p:nvPr/>
        </p:nvSpPr>
        <p:spPr>
          <a:xfrm>
            <a:off x="1005840" y="2194560"/>
            <a:ext cx="1920240" cy="594360"/>
          </a:xfrm>
          <a:prstGeom prst="rect">
            <a:avLst/>
          </a:prstGeom>
          <a:noFill/>
          <a:ln/>
        </p:spPr>
        <p:txBody>
          <a:bodyPr wrap="square" lIns="0" tIns="0" rIns="0" bIns="0" rtlCol="0" anchor="ctr"/>
          <a:lstStyle/>
          <a:p>
            <a:pPr algn="l" indent="0" marL="0">
              <a:buNone/>
            </a:pPr>
            <a:r>
              <a:rPr lang="en-US" sz="1100" dirty="0">
                <a:solidFill>
                  <a:srgbClr val="5B6B80"/>
                </a:solidFill>
              </a:rPr>
              <a:t>Skid-steer, left/right sides</a:t>
            </a:r>
            <a:endParaRPr lang="en-US" sz="1100" dirty="0"/>
          </a:p>
        </p:txBody>
      </p:sp>
      <p:sp>
        <p:nvSpPr>
          <p:cNvPr id="13" name="Shape 11"/>
          <p:cNvSpPr/>
          <p:nvPr/>
        </p:nvSpPr>
        <p:spPr>
          <a:xfrm>
            <a:off x="3291840" y="1691640"/>
            <a:ext cx="2606040" cy="12344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3291840" y="1691640"/>
            <a:ext cx="2606040" cy="73152"/>
          </a:xfrm>
          <a:prstGeom prst="rect">
            <a:avLst/>
          </a:prstGeom>
          <a:solidFill>
            <a:srgbClr val="E87C0A"/>
          </a:solidFill>
          <a:ln w="12700">
            <a:solidFill>
              <a:srgbClr val="E87C0A"/>
            </a:solidFill>
            <a:prstDash val="solid"/>
          </a:ln>
        </p:spPr>
      </p:sp>
      <p:sp>
        <p:nvSpPr>
          <p:cNvPr id="15" name="Text 13"/>
          <p:cNvSpPr/>
          <p:nvPr/>
        </p:nvSpPr>
        <p:spPr>
          <a:xfrm>
            <a:off x="3401568" y="1856232"/>
            <a:ext cx="411480" cy="411480"/>
          </a:xfrm>
          <a:prstGeom prst="rect">
            <a:avLst/>
          </a:prstGeom>
          <a:noFill/>
          <a:ln/>
        </p:spPr>
        <p:txBody>
          <a:bodyPr wrap="square" lIns="0" tIns="0" rIns="0" bIns="0" rtlCol="0" anchor="ctr"/>
          <a:lstStyle/>
          <a:p>
            <a:pPr algn="ctr" indent="0" marL="0">
              <a:buNone/>
            </a:pPr>
            <a:r>
              <a:rPr lang="en-US" sz="2000" b="1" dirty="0">
                <a:solidFill>
                  <a:srgbClr val="3A6BC4"/>
                </a:solidFill>
              </a:rPr>
              <a:t>2</a:t>
            </a:r>
            <a:endParaRPr lang="en-US" sz="2000" dirty="0"/>
          </a:p>
        </p:txBody>
      </p:sp>
      <p:sp>
        <p:nvSpPr>
          <p:cNvPr id="16" name="Text 14"/>
          <p:cNvSpPr/>
          <p:nvPr/>
        </p:nvSpPr>
        <p:spPr>
          <a:xfrm>
            <a:off x="3840480" y="1856232"/>
            <a:ext cx="1920240" cy="320040"/>
          </a:xfrm>
          <a:prstGeom prst="rect">
            <a:avLst/>
          </a:prstGeom>
          <a:noFill/>
          <a:ln/>
        </p:spPr>
        <p:txBody>
          <a:bodyPr wrap="square" lIns="0" tIns="0" rIns="0" bIns="0" rtlCol="0" anchor="ctr"/>
          <a:lstStyle/>
          <a:p>
            <a:pPr algn="l" indent="0" marL="0">
              <a:buNone/>
            </a:pPr>
            <a:r>
              <a:rPr lang="en-US" sz="1400" b="1" dirty="0">
                <a:solidFill>
                  <a:srgbClr val="0D1B2A"/>
                </a:solidFill>
              </a:rPr>
              <a:t>WCD</a:t>
            </a:r>
            <a:endParaRPr lang="en-US" sz="1400" dirty="0"/>
          </a:p>
        </p:txBody>
      </p:sp>
      <p:sp>
        <p:nvSpPr>
          <p:cNvPr id="17" name="Text 15"/>
          <p:cNvSpPr/>
          <p:nvPr/>
        </p:nvSpPr>
        <p:spPr>
          <a:xfrm>
            <a:off x="3840480" y="2194560"/>
            <a:ext cx="1920240" cy="594360"/>
          </a:xfrm>
          <a:prstGeom prst="rect">
            <a:avLst/>
          </a:prstGeom>
          <a:noFill/>
          <a:ln/>
        </p:spPr>
        <p:txBody>
          <a:bodyPr wrap="square" lIns="0" tIns="0" rIns="0" bIns="0" rtlCol="0" anchor="ctr"/>
          <a:lstStyle/>
          <a:p>
            <a:pPr algn="l" indent="0" marL="0">
              <a:buNone/>
            </a:pPr>
            <a:r>
              <a:rPr lang="en-US" sz="1100" dirty="0">
                <a:solidFill>
                  <a:srgbClr val="5B6B80"/>
                </a:solidFill>
              </a:rPr>
              <a:t>West Coast Drive, dropped-center</a:t>
            </a:r>
            <a:endParaRPr lang="en-US" sz="1100" dirty="0"/>
          </a:p>
        </p:txBody>
      </p:sp>
      <p:sp>
        <p:nvSpPr>
          <p:cNvPr id="18" name="Shape 16"/>
          <p:cNvSpPr/>
          <p:nvPr/>
        </p:nvSpPr>
        <p:spPr>
          <a:xfrm>
            <a:off x="6126480" y="1691640"/>
            <a:ext cx="2606040" cy="12344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6126480" y="1691640"/>
            <a:ext cx="2606040" cy="73152"/>
          </a:xfrm>
          <a:prstGeom prst="rect">
            <a:avLst/>
          </a:prstGeom>
          <a:solidFill>
            <a:srgbClr val="E87C0A"/>
          </a:solidFill>
          <a:ln w="12700">
            <a:solidFill>
              <a:srgbClr val="E87C0A"/>
            </a:solidFill>
            <a:prstDash val="solid"/>
          </a:ln>
        </p:spPr>
      </p:sp>
      <p:sp>
        <p:nvSpPr>
          <p:cNvPr id="20" name="Text 18"/>
          <p:cNvSpPr/>
          <p:nvPr/>
        </p:nvSpPr>
        <p:spPr>
          <a:xfrm>
            <a:off x="6236208" y="1856232"/>
            <a:ext cx="411480" cy="411480"/>
          </a:xfrm>
          <a:prstGeom prst="rect">
            <a:avLst/>
          </a:prstGeom>
          <a:noFill/>
          <a:ln/>
        </p:spPr>
        <p:txBody>
          <a:bodyPr wrap="square" lIns="0" tIns="0" rIns="0" bIns="0" rtlCol="0" anchor="ctr"/>
          <a:lstStyle/>
          <a:p>
            <a:pPr algn="ctr" indent="0" marL="0">
              <a:buNone/>
            </a:pPr>
            <a:r>
              <a:rPr lang="en-US" sz="2000" b="1" dirty="0">
                <a:solidFill>
                  <a:srgbClr val="3A6BC4"/>
                </a:solidFill>
              </a:rPr>
              <a:t>3</a:t>
            </a:r>
            <a:endParaRPr lang="en-US" sz="2000" dirty="0"/>
          </a:p>
        </p:txBody>
      </p:sp>
      <p:sp>
        <p:nvSpPr>
          <p:cNvPr id="21" name="Text 19"/>
          <p:cNvSpPr/>
          <p:nvPr/>
        </p:nvSpPr>
        <p:spPr>
          <a:xfrm>
            <a:off x="6675120" y="1856232"/>
            <a:ext cx="1920240" cy="320040"/>
          </a:xfrm>
          <a:prstGeom prst="rect">
            <a:avLst/>
          </a:prstGeom>
          <a:noFill/>
          <a:ln/>
        </p:spPr>
        <p:txBody>
          <a:bodyPr wrap="square" lIns="0" tIns="0" rIns="0" bIns="0" rtlCol="0" anchor="ctr"/>
          <a:lstStyle/>
          <a:p>
            <a:pPr algn="l" indent="0" marL="0">
              <a:buNone/>
            </a:pPr>
            <a:r>
              <a:rPr lang="en-US" sz="1400" b="1" dirty="0">
                <a:solidFill>
                  <a:srgbClr val="0D1B2A"/>
                </a:solidFill>
              </a:rPr>
              <a:t>Mecanum</a:t>
            </a:r>
            <a:endParaRPr lang="en-US" sz="1400" dirty="0"/>
          </a:p>
        </p:txBody>
      </p:sp>
      <p:sp>
        <p:nvSpPr>
          <p:cNvPr id="22" name="Text 20"/>
          <p:cNvSpPr/>
          <p:nvPr/>
        </p:nvSpPr>
        <p:spPr>
          <a:xfrm>
            <a:off x="6675120" y="2194560"/>
            <a:ext cx="1920240" cy="594360"/>
          </a:xfrm>
          <a:prstGeom prst="rect">
            <a:avLst/>
          </a:prstGeom>
          <a:noFill/>
          <a:ln/>
        </p:spPr>
        <p:txBody>
          <a:bodyPr wrap="square" lIns="0" tIns="0" rIns="0" bIns="0" rtlCol="0" anchor="ctr"/>
          <a:lstStyle/>
          <a:p>
            <a:pPr algn="l" indent="0" marL="0">
              <a:buNone/>
            </a:pPr>
            <a:r>
              <a:rPr lang="en-US" sz="1100" dirty="0">
                <a:solidFill>
                  <a:srgbClr val="5B6B80"/>
                </a:solidFill>
              </a:rPr>
              <a:t>Holonomic, diagonal rollers</a:t>
            </a:r>
            <a:endParaRPr lang="en-US" sz="1100" dirty="0"/>
          </a:p>
        </p:txBody>
      </p:sp>
      <p:sp>
        <p:nvSpPr>
          <p:cNvPr id="23" name="Shape 21"/>
          <p:cNvSpPr/>
          <p:nvPr/>
        </p:nvSpPr>
        <p:spPr>
          <a:xfrm>
            <a:off x="457200" y="3108960"/>
            <a:ext cx="2606040" cy="12344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10000"/>
              </a:srgbClr>
            </a:outerShdw>
          </a:effectLst>
        </p:spPr>
      </p:sp>
      <p:sp>
        <p:nvSpPr>
          <p:cNvPr id="24" name="Shape 22"/>
          <p:cNvSpPr/>
          <p:nvPr/>
        </p:nvSpPr>
        <p:spPr>
          <a:xfrm>
            <a:off x="457200" y="3108960"/>
            <a:ext cx="2606040" cy="73152"/>
          </a:xfrm>
          <a:prstGeom prst="rect">
            <a:avLst/>
          </a:prstGeom>
          <a:solidFill>
            <a:srgbClr val="E87C0A"/>
          </a:solidFill>
          <a:ln w="12700">
            <a:solidFill>
              <a:srgbClr val="E87C0A"/>
            </a:solidFill>
            <a:prstDash val="solid"/>
          </a:ln>
        </p:spPr>
      </p:sp>
      <p:sp>
        <p:nvSpPr>
          <p:cNvPr id="25" name="Text 23"/>
          <p:cNvSpPr/>
          <p:nvPr/>
        </p:nvSpPr>
        <p:spPr>
          <a:xfrm>
            <a:off x="566928" y="3273552"/>
            <a:ext cx="411480" cy="411480"/>
          </a:xfrm>
          <a:prstGeom prst="rect">
            <a:avLst/>
          </a:prstGeom>
          <a:noFill/>
          <a:ln/>
        </p:spPr>
        <p:txBody>
          <a:bodyPr wrap="square" lIns="0" tIns="0" rIns="0" bIns="0" rtlCol="0" anchor="ctr"/>
          <a:lstStyle/>
          <a:p>
            <a:pPr algn="ctr" indent="0" marL="0">
              <a:buNone/>
            </a:pPr>
            <a:r>
              <a:rPr lang="en-US" sz="2000" b="1" dirty="0">
                <a:solidFill>
                  <a:srgbClr val="3A6BC4"/>
                </a:solidFill>
              </a:rPr>
              <a:t>4</a:t>
            </a:r>
            <a:endParaRPr lang="en-US" sz="2000" dirty="0"/>
          </a:p>
        </p:txBody>
      </p:sp>
      <p:sp>
        <p:nvSpPr>
          <p:cNvPr id="26" name="Text 24"/>
          <p:cNvSpPr/>
          <p:nvPr/>
        </p:nvSpPr>
        <p:spPr>
          <a:xfrm>
            <a:off x="1005840" y="3273552"/>
            <a:ext cx="1920240" cy="320040"/>
          </a:xfrm>
          <a:prstGeom prst="rect">
            <a:avLst/>
          </a:prstGeom>
          <a:noFill/>
          <a:ln/>
        </p:spPr>
        <p:txBody>
          <a:bodyPr wrap="square" lIns="0" tIns="0" rIns="0" bIns="0" rtlCol="0" anchor="ctr"/>
          <a:lstStyle/>
          <a:p>
            <a:pPr algn="l" indent="0" marL="0">
              <a:buNone/>
            </a:pPr>
            <a:r>
              <a:rPr lang="en-US" sz="1400" b="1" dirty="0">
                <a:solidFill>
                  <a:srgbClr val="0D1B2A"/>
                </a:solidFill>
              </a:rPr>
              <a:t>Swerve</a:t>
            </a:r>
            <a:endParaRPr lang="en-US" sz="1400" dirty="0"/>
          </a:p>
        </p:txBody>
      </p:sp>
      <p:sp>
        <p:nvSpPr>
          <p:cNvPr id="27" name="Text 25"/>
          <p:cNvSpPr/>
          <p:nvPr/>
        </p:nvSpPr>
        <p:spPr>
          <a:xfrm>
            <a:off x="1005840" y="3611880"/>
            <a:ext cx="1920240" cy="594360"/>
          </a:xfrm>
          <a:prstGeom prst="rect">
            <a:avLst/>
          </a:prstGeom>
          <a:noFill/>
          <a:ln/>
        </p:spPr>
        <p:txBody>
          <a:bodyPr wrap="square" lIns="0" tIns="0" rIns="0" bIns="0" rtlCol="0" anchor="ctr"/>
          <a:lstStyle/>
          <a:p>
            <a:pPr algn="l" indent="0" marL="0">
              <a:buNone/>
            </a:pPr>
            <a:r>
              <a:rPr lang="en-US" sz="1100" dirty="0">
                <a:solidFill>
                  <a:srgbClr val="5B6B80"/>
                </a:solidFill>
              </a:rPr>
              <a:t>Independent steering modules</a:t>
            </a:r>
            <a:endParaRPr lang="en-US" sz="1100" dirty="0"/>
          </a:p>
        </p:txBody>
      </p:sp>
      <p:sp>
        <p:nvSpPr>
          <p:cNvPr id="28" name="Shape 26"/>
          <p:cNvSpPr/>
          <p:nvPr/>
        </p:nvSpPr>
        <p:spPr>
          <a:xfrm>
            <a:off x="3291840" y="3108960"/>
            <a:ext cx="2606040" cy="12344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10000"/>
              </a:srgbClr>
            </a:outerShdw>
          </a:effectLst>
        </p:spPr>
      </p:sp>
      <p:sp>
        <p:nvSpPr>
          <p:cNvPr id="29" name="Shape 27"/>
          <p:cNvSpPr/>
          <p:nvPr/>
        </p:nvSpPr>
        <p:spPr>
          <a:xfrm>
            <a:off x="3291840" y="3108960"/>
            <a:ext cx="2606040" cy="73152"/>
          </a:xfrm>
          <a:prstGeom prst="rect">
            <a:avLst/>
          </a:prstGeom>
          <a:solidFill>
            <a:srgbClr val="E87C0A"/>
          </a:solidFill>
          <a:ln w="12700">
            <a:solidFill>
              <a:srgbClr val="E87C0A"/>
            </a:solidFill>
            <a:prstDash val="solid"/>
          </a:ln>
        </p:spPr>
      </p:sp>
      <p:sp>
        <p:nvSpPr>
          <p:cNvPr id="30" name="Text 28"/>
          <p:cNvSpPr/>
          <p:nvPr/>
        </p:nvSpPr>
        <p:spPr>
          <a:xfrm>
            <a:off x="3401568" y="3273552"/>
            <a:ext cx="411480" cy="411480"/>
          </a:xfrm>
          <a:prstGeom prst="rect">
            <a:avLst/>
          </a:prstGeom>
          <a:noFill/>
          <a:ln/>
        </p:spPr>
        <p:txBody>
          <a:bodyPr wrap="square" lIns="0" tIns="0" rIns="0" bIns="0" rtlCol="0" anchor="ctr"/>
          <a:lstStyle/>
          <a:p>
            <a:pPr algn="ctr" indent="0" marL="0">
              <a:buNone/>
            </a:pPr>
            <a:r>
              <a:rPr lang="en-US" sz="2000" b="1" dirty="0">
                <a:solidFill>
                  <a:srgbClr val="3A6BC4"/>
                </a:solidFill>
              </a:rPr>
              <a:t>5</a:t>
            </a:r>
            <a:endParaRPr lang="en-US" sz="2000" dirty="0"/>
          </a:p>
        </p:txBody>
      </p:sp>
      <p:sp>
        <p:nvSpPr>
          <p:cNvPr id="31" name="Text 29"/>
          <p:cNvSpPr/>
          <p:nvPr/>
        </p:nvSpPr>
        <p:spPr>
          <a:xfrm>
            <a:off x="3840480" y="3273552"/>
            <a:ext cx="1920240" cy="320040"/>
          </a:xfrm>
          <a:prstGeom prst="rect">
            <a:avLst/>
          </a:prstGeom>
          <a:noFill/>
          <a:ln/>
        </p:spPr>
        <p:txBody>
          <a:bodyPr wrap="square" lIns="0" tIns="0" rIns="0" bIns="0" rtlCol="0" anchor="ctr"/>
          <a:lstStyle/>
          <a:p>
            <a:pPr algn="l" indent="0" marL="0">
              <a:buNone/>
            </a:pPr>
            <a:r>
              <a:rPr lang="en-US" sz="1400" b="1" dirty="0">
                <a:solidFill>
                  <a:srgbClr val="0D1B2A"/>
                </a:solidFill>
              </a:rPr>
              <a:t>H-Drive</a:t>
            </a:r>
            <a:endParaRPr lang="en-US" sz="1400" dirty="0"/>
          </a:p>
        </p:txBody>
      </p:sp>
      <p:sp>
        <p:nvSpPr>
          <p:cNvPr id="32" name="Text 30"/>
          <p:cNvSpPr/>
          <p:nvPr/>
        </p:nvSpPr>
        <p:spPr>
          <a:xfrm>
            <a:off x="3840480" y="3611880"/>
            <a:ext cx="1920240" cy="594360"/>
          </a:xfrm>
          <a:prstGeom prst="rect">
            <a:avLst/>
          </a:prstGeom>
          <a:noFill/>
          <a:ln/>
        </p:spPr>
        <p:txBody>
          <a:bodyPr wrap="square" lIns="0" tIns="0" rIns="0" bIns="0" rtlCol="0" anchor="ctr"/>
          <a:lstStyle/>
          <a:p>
            <a:pPr algn="l" indent="0" marL="0">
              <a:buNone/>
            </a:pPr>
            <a:r>
              <a:rPr lang="en-US" sz="1100" dirty="0">
                <a:solidFill>
                  <a:srgbClr val="5B6B80"/>
                </a:solidFill>
              </a:rPr>
              <a:t>Omni-wheel strafe assist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C0A"/>
          </a:solidFill>
          <a:ln w="12700">
            <a:solidFill>
              <a:srgbClr val="E87C0A"/>
            </a:solidFill>
            <a:prstDash val="solid"/>
          </a:ln>
        </p:spPr>
      </p:sp>
      <p:sp>
        <p:nvSpPr>
          <p:cNvPr id="3" name="Shape 1"/>
          <p:cNvSpPr/>
          <p:nvPr/>
        </p:nvSpPr>
        <p:spPr>
          <a:xfrm>
            <a:off x="0" y="5070348"/>
            <a:ext cx="9144000" cy="73152"/>
          </a:xfrm>
          <a:prstGeom prst="rect">
            <a:avLst/>
          </a:prstGeom>
          <a:solidFill>
            <a:srgbClr val="E87C0A"/>
          </a:solidFill>
          <a:ln w="12700">
            <a:solidFill>
              <a:srgbClr val="E87C0A"/>
            </a:solidFill>
            <a:prstDash val="solid"/>
          </a:ln>
        </p:spPr>
      </p:sp>
      <p:sp>
        <p:nvSpPr>
          <p:cNvPr id="4" name="Text 2"/>
          <p:cNvSpPr/>
          <p:nvPr/>
        </p:nvSpPr>
        <p:spPr>
          <a:xfrm>
            <a:off x="914400" y="1463040"/>
            <a:ext cx="7315200" cy="1097280"/>
          </a:xfrm>
          <a:prstGeom prst="rect">
            <a:avLst/>
          </a:prstGeom>
          <a:noFill/>
          <a:ln/>
        </p:spPr>
        <p:txBody>
          <a:bodyPr wrap="square" lIns="0" tIns="0" rIns="0" bIns="0" rtlCol="0" anchor="ctr"/>
          <a:lstStyle/>
          <a:p>
            <a:pPr algn="ctr" indent="0" marL="0">
              <a:buNone/>
            </a:pPr>
            <a:r>
              <a:rPr lang="en-US" sz="4000" b="1" dirty="0">
                <a:solidFill>
                  <a:srgbClr val="FFFFFF"/>
                </a:solidFill>
              </a:rPr>
              <a:t>Drive Bases</a:t>
            </a:r>
            <a:endParaRPr lang="en-US" sz="4000" dirty="0"/>
          </a:p>
        </p:txBody>
      </p:sp>
      <p:sp>
        <p:nvSpPr>
          <p:cNvPr id="5" name="Text 3"/>
          <p:cNvSpPr/>
          <p:nvPr/>
        </p:nvSpPr>
        <p:spPr>
          <a:xfrm>
            <a:off x="914400" y="2743200"/>
            <a:ext cx="7315200" cy="731520"/>
          </a:xfrm>
          <a:prstGeom prst="rect">
            <a:avLst/>
          </a:prstGeom>
          <a:noFill/>
          <a:ln/>
        </p:spPr>
        <p:txBody>
          <a:bodyPr wrap="square" lIns="0" tIns="0" rIns="0" bIns="0" rtlCol="0" anchor="ctr"/>
          <a:lstStyle/>
          <a:p>
            <a:pPr algn="ctr" indent="0" marL="0">
              <a:buNone/>
            </a:pPr>
            <a:r>
              <a:rPr lang="en-US" sz="1600" dirty="0">
                <a:solidFill>
                  <a:srgbClr val="D8E4F0"/>
                </a:solidFill>
              </a:rPr>
              <a:t>The five most common drivetrains in FRC competition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Tank Drive  (Skid-Steer)</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DRIVE BASE</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640080"/>
          </a:xfrm>
          <a:prstGeom prst="rect">
            <a:avLst/>
          </a:prstGeom>
          <a:noFill/>
          <a:ln/>
        </p:spPr>
        <p:txBody>
          <a:bodyPr wrap="square" lIns="0" tIns="0" rIns="0" bIns="0" rtlCol="0" anchor="ctr"/>
          <a:lstStyle/>
          <a:p>
            <a:pPr indent="0" marL="0">
              <a:buNone/>
            </a:pPr>
            <a:r>
              <a:rPr lang="en-US" sz="1300" dirty="0">
                <a:solidFill>
                  <a:srgbClr val="5B6B80"/>
                </a:solidFill>
              </a:rPr>
              <a:t>Two independently driven sides — left wheels and right wheels controlled separately. Turning is achieved by running sides at different speeds. The simplest and most reliable drivetrain in FRC.</a:t>
            </a:r>
            <a:endParaRPr lang="en-US" sz="1300" dirty="0"/>
          </a:p>
        </p:txBody>
      </p:sp>
      <p:sp>
        <p:nvSpPr>
          <p:cNvPr id="8" name="Shape 6"/>
          <p:cNvSpPr/>
          <p:nvPr/>
        </p:nvSpPr>
        <p:spPr>
          <a:xfrm>
            <a:off x="457200" y="1572768"/>
            <a:ext cx="420624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9000"/>
              </a:srgbClr>
            </a:outerShdw>
          </a:effectLst>
        </p:spPr>
      </p:sp>
      <p:sp>
        <p:nvSpPr>
          <p:cNvPr id="9" name="Text 7"/>
          <p:cNvSpPr/>
          <p:nvPr/>
        </p:nvSpPr>
        <p:spPr>
          <a:xfrm>
            <a:off x="640080" y="1664208"/>
            <a:ext cx="3840480" cy="274320"/>
          </a:xfrm>
          <a:prstGeom prst="rect">
            <a:avLst/>
          </a:prstGeom>
          <a:noFill/>
          <a:ln/>
        </p:spPr>
        <p:txBody>
          <a:bodyPr wrap="square" lIns="0" tIns="0" rIns="0" bIns="0" rtlCol="0" anchor="ctr"/>
          <a:lstStyle/>
          <a:p>
            <a:pPr indent="0" marL="0">
              <a:buNone/>
            </a:pPr>
            <a:r>
              <a:rPr lang="en-US" sz="1100" b="1" dirty="0">
                <a:solidFill>
                  <a:srgbClr val="3A6BC4"/>
                </a:solidFill>
              </a:rPr>
              <a:t>BEST USED WHEN…</a:t>
            </a:r>
            <a:endParaRPr lang="en-US" sz="1100" dirty="0"/>
          </a:p>
        </p:txBody>
      </p:sp>
      <p:sp>
        <p:nvSpPr>
          <p:cNvPr id="10" name="Text 8"/>
          <p:cNvSpPr/>
          <p:nvPr/>
        </p:nvSpPr>
        <p:spPr>
          <a:xfrm>
            <a:off x="640080" y="1993392"/>
            <a:ext cx="3840480" cy="548640"/>
          </a:xfrm>
          <a:prstGeom prst="rect">
            <a:avLst/>
          </a:prstGeom>
          <a:noFill/>
          <a:ln/>
        </p:spPr>
        <p:txBody>
          <a:bodyPr wrap="square" rtlCol="0" anchor="ctr"/>
          <a:lstStyle/>
          <a:p>
            <a:pPr marL="342900" indent="-342900">
              <a:buSzPct val="100000"/>
              <a:buChar char="•"/>
            </a:pPr>
            <a:r>
              <a:rPr lang="en-US" sz="1200" dirty="0">
                <a:solidFill>
                  <a:srgbClr val="0D1B2A"/>
                </a:solidFill>
              </a:rPr>
              <a:t>Game involves direct defense or pushing matches</a:t>
            </a:r>
            <a:endParaRPr lang="en-US" sz="1200" dirty="0"/>
          </a:p>
          <a:p>
            <a:pPr marL="342900" indent="-342900">
              <a:buSzPct val="100000"/>
              <a:buChar char="•"/>
            </a:pPr>
            <a:r>
              <a:rPr lang="en-US" sz="1200" dirty="0">
                <a:solidFill>
                  <a:srgbClr val="0D1B2A"/>
                </a:solidFill>
              </a:rPr>
              <a:t>Team is new or has limited build resources</a:t>
            </a:r>
            <a:endParaRPr lang="en-US" sz="1200" dirty="0"/>
          </a:p>
          <a:p>
            <a:pPr marL="342900" indent="-342900">
              <a:buSzPct val="100000"/>
              <a:buChar char="•"/>
            </a:pPr>
            <a:r>
              <a:rPr lang="en-US" sz="1200" dirty="0">
                <a:solidFill>
                  <a:srgbClr val="0D1B2A"/>
                </a:solidFill>
              </a:rPr>
              <a:t>Reliability and repairability are top priority</a:t>
            </a:r>
            <a:endParaRPr lang="en-US" sz="1200" dirty="0"/>
          </a:p>
        </p:txBody>
      </p:sp>
      <p:sp>
        <p:nvSpPr>
          <p:cNvPr id="11" name="Shape 9"/>
          <p:cNvSpPr/>
          <p:nvPr/>
        </p:nvSpPr>
        <p:spPr>
          <a:xfrm>
            <a:off x="4846320" y="1572768"/>
            <a:ext cx="182880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846320" y="1572768"/>
            <a:ext cx="1828800" cy="292608"/>
          </a:xfrm>
          <a:prstGeom prst="rect">
            <a:avLst/>
          </a:prstGeom>
          <a:solidFill>
            <a:srgbClr val="3A6BC4"/>
          </a:solidFill>
          <a:ln w="12700">
            <a:solidFill>
              <a:srgbClr val="3A6BC4"/>
            </a:solidFill>
            <a:prstDash val="solid"/>
          </a:ln>
        </p:spPr>
      </p:sp>
      <p:sp>
        <p:nvSpPr>
          <p:cNvPr id="13" name="Text 11"/>
          <p:cNvSpPr/>
          <p:nvPr/>
        </p:nvSpPr>
        <p:spPr>
          <a:xfrm>
            <a:off x="4937760" y="1572768"/>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TYPICAL CONFIG</a:t>
            </a:r>
            <a:endParaRPr lang="en-US" sz="1000" dirty="0"/>
          </a:p>
        </p:txBody>
      </p:sp>
      <p:sp>
        <p:nvSpPr>
          <p:cNvPr id="14" name="Text 12"/>
          <p:cNvSpPr/>
          <p:nvPr/>
        </p:nvSpPr>
        <p:spPr>
          <a:xfrm>
            <a:off x="4937760" y="1920240"/>
            <a:ext cx="1645920" cy="649224"/>
          </a:xfrm>
          <a:prstGeom prst="rect">
            <a:avLst/>
          </a:prstGeom>
          <a:noFill/>
          <a:ln/>
        </p:spPr>
        <p:txBody>
          <a:bodyPr wrap="square" lIns="0" tIns="0" rIns="0" bIns="0" rtlCol="0" anchor="t"/>
          <a:lstStyle/>
          <a:p>
            <a:pPr algn="ctr" indent="0" marL="0">
              <a:buNone/>
            </a:pPr>
            <a:r>
              <a:rPr lang="en-US" sz="1100" dirty="0">
                <a:solidFill>
                  <a:srgbClr val="0D1B2A"/>
                </a:solidFill>
              </a:rPr>
              <a:t>4–6 traction or omni wheels</a:t>
            </a:r>
            <a:endParaRPr lang="en-US" sz="1100" dirty="0"/>
          </a:p>
          <a:p>
            <a:pPr algn="ctr" indent="0" marL="0">
              <a:buNone/>
            </a:pPr>
            <a:r>
              <a:rPr lang="en-US" sz="1100" dirty="0">
                <a:solidFill>
                  <a:srgbClr val="0D1B2A"/>
                </a:solidFill>
              </a:rPr>
              <a:t>8–12" wheel base</a:t>
            </a:r>
            <a:endParaRPr lang="en-US" sz="1100" dirty="0"/>
          </a:p>
        </p:txBody>
      </p:sp>
      <p:sp>
        <p:nvSpPr>
          <p:cNvPr id="15" name="Shape 13"/>
          <p:cNvSpPr/>
          <p:nvPr/>
        </p:nvSpPr>
        <p:spPr>
          <a:xfrm>
            <a:off x="6812280" y="1572768"/>
            <a:ext cx="187452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6812280" y="1572768"/>
            <a:ext cx="1874520" cy="292608"/>
          </a:xfrm>
          <a:prstGeom prst="rect">
            <a:avLst/>
          </a:prstGeom>
          <a:solidFill>
            <a:srgbClr val="3A6BC4"/>
          </a:solidFill>
          <a:ln w="12700">
            <a:solidFill>
              <a:srgbClr val="3A6BC4"/>
            </a:solidFill>
            <a:prstDash val="solid"/>
          </a:ln>
        </p:spPr>
      </p:sp>
      <p:sp>
        <p:nvSpPr>
          <p:cNvPr id="17" name="Text 15"/>
          <p:cNvSpPr/>
          <p:nvPr/>
        </p:nvSpPr>
        <p:spPr>
          <a:xfrm>
            <a:off x="6903720" y="1572768"/>
            <a:ext cx="1691640" cy="292608"/>
          </a:xfrm>
          <a:prstGeom prst="rect">
            <a:avLst/>
          </a:prstGeom>
          <a:noFill/>
          <a:ln/>
        </p:spPr>
        <p:txBody>
          <a:bodyPr wrap="square" lIns="0" tIns="0" rIns="0" bIns="0" rtlCol="0" anchor="ctr"/>
          <a:lstStyle/>
          <a:p>
            <a:pPr algn="ctr" indent="0" marL="0">
              <a:buNone/>
            </a:pPr>
            <a:r>
              <a:rPr lang="en-US" sz="1000" b="1" dirty="0">
                <a:solidFill>
                  <a:srgbClr val="FFFFFF"/>
                </a:solidFill>
              </a:rPr>
              <a:t>EXPERIENCE LEVEL</a:t>
            </a:r>
            <a:endParaRPr lang="en-US" sz="1000" dirty="0"/>
          </a:p>
        </p:txBody>
      </p:sp>
      <p:sp>
        <p:nvSpPr>
          <p:cNvPr id="18" name="Text 16"/>
          <p:cNvSpPr/>
          <p:nvPr/>
        </p:nvSpPr>
        <p:spPr>
          <a:xfrm>
            <a:off x="6903720" y="1920240"/>
            <a:ext cx="1691640" cy="649224"/>
          </a:xfrm>
          <a:prstGeom prst="rect">
            <a:avLst/>
          </a:prstGeom>
          <a:noFill/>
          <a:ln/>
        </p:spPr>
        <p:txBody>
          <a:bodyPr wrap="square" lIns="0" tIns="0" rIns="0" bIns="0" rtlCol="0" anchor="t"/>
          <a:lstStyle/>
          <a:p>
            <a:pPr algn="ctr" indent="0" marL="0">
              <a:buNone/>
            </a:pPr>
            <a:r>
              <a:rPr lang="en-US" sz="1100" dirty="0">
                <a:solidFill>
                  <a:srgbClr val="0D1B2A"/>
                </a:solidFill>
              </a:rPr>
              <a:t>Beginner–</a:t>
            </a:r>
            <a:endParaRPr lang="en-US" sz="1100" dirty="0"/>
          </a:p>
          <a:p>
            <a:pPr algn="ctr" indent="0" marL="0">
              <a:buNone/>
            </a:pPr>
            <a:r>
              <a:rPr lang="en-US" sz="1100" dirty="0">
                <a:solidFill>
                  <a:srgbClr val="0D1B2A"/>
                </a:solidFill>
              </a:rPr>
              <a:t>Intermediate</a:t>
            </a:r>
            <a:endParaRPr lang="en-US" sz="1100" dirty="0"/>
          </a:p>
        </p:txBody>
      </p:sp>
      <p:sp>
        <p:nvSpPr>
          <p:cNvPr id="19" name="Shape 17"/>
          <p:cNvSpPr/>
          <p:nvPr/>
        </p:nvSpPr>
        <p:spPr>
          <a:xfrm>
            <a:off x="457200" y="2743200"/>
            <a:ext cx="4046220" cy="2148840"/>
          </a:xfrm>
          <a:prstGeom prst="rect">
            <a:avLst/>
          </a:prstGeom>
          <a:solidFill>
            <a:srgbClr val="E8F5E9"/>
          </a:solidFill>
          <a:ln w="19050">
            <a:solidFill>
              <a:srgbClr val="81C784"/>
            </a:solidFill>
            <a:prstDash val="solid"/>
          </a:ln>
        </p:spPr>
      </p:sp>
      <p:sp>
        <p:nvSpPr>
          <p:cNvPr id="20" name="Shape 18"/>
          <p:cNvSpPr/>
          <p:nvPr/>
        </p:nvSpPr>
        <p:spPr>
          <a:xfrm>
            <a:off x="457200" y="2743200"/>
            <a:ext cx="4046220" cy="347472"/>
          </a:xfrm>
          <a:prstGeom prst="rect">
            <a:avLst/>
          </a:prstGeom>
          <a:solidFill>
            <a:srgbClr val="388E3C"/>
          </a:solidFill>
          <a:ln w="12700">
            <a:solidFill>
              <a:srgbClr val="388E3C"/>
            </a:solidFill>
            <a:prstDash val="solid"/>
          </a:ln>
        </p:spPr>
      </p:sp>
      <p:sp>
        <p:nvSpPr>
          <p:cNvPr id="21" name="Text 19"/>
          <p:cNvSpPr/>
          <p:nvPr/>
        </p:nvSpPr>
        <p:spPr>
          <a:xfrm>
            <a:off x="45720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PROS</a:t>
            </a:r>
            <a:endParaRPr lang="en-US" sz="1200" dirty="0"/>
          </a:p>
        </p:txBody>
      </p:sp>
      <p:sp>
        <p:nvSpPr>
          <p:cNvPr id="22" name="Text 20"/>
          <p:cNvSpPr/>
          <p:nvPr/>
        </p:nvSpPr>
        <p:spPr>
          <a:xfrm>
            <a:off x="548640" y="3154680"/>
            <a:ext cx="3863340" cy="1645920"/>
          </a:xfrm>
          <a:prstGeom prst="rect">
            <a:avLst/>
          </a:prstGeom>
          <a:noFill/>
          <a:ln/>
        </p:spPr>
        <p:txBody>
          <a:bodyPr wrap="square" rtlCol="0" anchor="ctr"/>
          <a:lstStyle/>
          <a:p>
            <a:pPr marL="342900" indent="-342900">
              <a:buSzPct val="100000"/>
              <a:buChar char="•"/>
            </a:pPr>
            <a:r>
              <a:rPr lang="en-US" sz="1200" dirty="0">
                <a:solidFill>
                  <a:srgbClr val="1B3A1C"/>
                </a:solidFill>
              </a:rPr>
              <a:t>Extremely simple to build &amp; maintain</a:t>
            </a:r>
            <a:endParaRPr lang="en-US" sz="1200" dirty="0"/>
          </a:p>
          <a:p>
            <a:pPr marL="342900" indent="-342900">
              <a:buSzPct val="100000"/>
              <a:buChar char="•"/>
            </a:pPr>
            <a:r>
              <a:rPr lang="en-US" sz="1200" dirty="0">
                <a:solidFill>
                  <a:srgbClr val="1B3A1C"/>
                </a:solidFill>
              </a:rPr>
              <a:t>High pushing power — great for defense</a:t>
            </a:r>
            <a:endParaRPr lang="en-US" sz="1200" dirty="0"/>
          </a:p>
          <a:p>
            <a:pPr marL="342900" indent="-342900">
              <a:buSzPct val="100000"/>
              <a:buChar char="•"/>
            </a:pPr>
            <a:r>
              <a:rPr lang="en-US" sz="1200" dirty="0">
                <a:solidFill>
                  <a:srgbClr val="1B3A1C"/>
                </a:solidFill>
              </a:rPr>
              <a:t>Very reliable, few failure points</a:t>
            </a:r>
            <a:endParaRPr lang="en-US" sz="1200" dirty="0"/>
          </a:p>
          <a:p>
            <a:pPr marL="342900" indent="-342900">
              <a:buSzPct val="100000"/>
              <a:buChar char="•"/>
            </a:pPr>
            <a:r>
              <a:rPr lang="en-US" sz="1200" dirty="0">
                <a:solidFill>
                  <a:srgbClr val="1B3A1C"/>
                </a:solidFill>
              </a:rPr>
              <a:t>Easy to program (arcade or tank controls)</a:t>
            </a:r>
            <a:endParaRPr lang="en-US" sz="1200" dirty="0"/>
          </a:p>
        </p:txBody>
      </p:sp>
      <p:sp>
        <p:nvSpPr>
          <p:cNvPr id="23" name="Shape 21"/>
          <p:cNvSpPr/>
          <p:nvPr/>
        </p:nvSpPr>
        <p:spPr>
          <a:xfrm>
            <a:off x="4640580" y="2743200"/>
            <a:ext cx="4046220" cy="2148840"/>
          </a:xfrm>
          <a:prstGeom prst="rect">
            <a:avLst/>
          </a:prstGeom>
          <a:solidFill>
            <a:srgbClr val="FFEBEE"/>
          </a:solidFill>
          <a:ln w="19050">
            <a:solidFill>
              <a:srgbClr val="E57373"/>
            </a:solidFill>
            <a:prstDash val="solid"/>
          </a:ln>
        </p:spPr>
      </p:sp>
      <p:sp>
        <p:nvSpPr>
          <p:cNvPr id="24" name="Shape 22"/>
          <p:cNvSpPr/>
          <p:nvPr/>
        </p:nvSpPr>
        <p:spPr>
          <a:xfrm>
            <a:off x="4640580" y="2743200"/>
            <a:ext cx="4046220" cy="347472"/>
          </a:xfrm>
          <a:prstGeom prst="rect">
            <a:avLst/>
          </a:prstGeom>
          <a:solidFill>
            <a:srgbClr val="C62828"/>
          </a:solidFill>
          <a:ln w="12700">
            <a:solidFill>
              <a:srgbClr val="C62828"/>
            </a:solidFill>
            <a:prstDash val="solid"/>
          </a:ln>
        </p:spPr>
      </p:sp>
      <p:sp>
        <p:nvSpPr>
          <p:cNvPr id="25" name="Text 23"/>
          <p:cNvSpPr/>
          <p:nvPr/>
        </p:nvSpPr>
        <p:spPr>
          <a:xfrm>
            <a:off x="464058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CONS</a:t>
            </a:r>
            <a:endParaRPr lang="en-US" sz="1200" dirty="0"/>
          </a:p>
        </p:txBody>
      </p:sp>
      <p:sp>
        <p:nvSpPr>
          <p:cNvPr id="26" name="Text 24"/>
          <p:cNvSpPr/>
          <p:nvPr/>
        </p:nvSpPr>
        <p:spPr>
          <a:xfrm>
            <a:off x="4732020" y="3154680"/>
            <a:ext cx="3863340" cy="1645920"/>
          </a:xfrm>
          <a:prstGeom prst="rect">
            <a:avLst/>
          </a:prstGeom>
          <a:noFill/>
          <a:ln/>
        </p:spPr>
        <p:txBody>
          <a:bodyPr wrap="square" rtlCol="0" anchor="ctr"/>
          <a:lstStyle/>
          <a:p>
            <a:pPr marL="342900" indent="-342900">
              <a:buSzPct val="100000"/>
              <a:buChar char="•"/>
            </a:pPr>
            <a:r>
              <a:rPr lang="en-US" sz="1200" dirty="0">
                <a:solidFill>
                  <a:srgbClr val="4A0000"/>
                </a:solidFill>
              </a:rPr>
              <a:t>Cannot strafe — no lateral movement</a:t>
            </a:r>
            <a:endParaRPr lang="en-US" sz="1200" dirty="0"/>
          </a:p>
          <a:p>
            <a:pPr marL="342900" indent="-342900">
              <a:buSzPct val="100000"/>
              <a:buChar char="•"/>
            </a:pPr>
            <a:r>
              <a:rPr lang="en-US" sz="1200" dirty="0">
                <a:solidFill>
                  <a:srgbClr val="4A0000"/>
                </a:solidFill>
              </a:rPr>
              <a:t>Turning radius limits agility</a:t>
            </a:r>
            <a:endParaRPr lang="en-US" sz="1200" dirty="0"/>
          </a:p>
          <a:p>
            <a:pPr marL="342900" indent="-342900">
              <a:buSzPct val="100000"/>
              <a:buChar char="•"/>
            </a:pPr>
            <a:r>
              <a:rPr lang="en-US" sz="1200" dirty="0">
                <a:solidFill>
                  <a:srgbClr val="4A0000"/>
                </a:solidFill>
              </a:rPr>
              <a:t>Can be pushed sideways by holonomic bots</a:t>
            </a:r>
            <a:endParaRPr lang="en-US" sz="1200" dirty="0"/>
          </a:p>
          <a:p>
            <a:pPr marL="342900" indent="-342900">
              <a:buSzPct val="100000"/>
              <a:buChar char="•"/>
            </a:pPr>
            <a:r>
              <a:rPr lang="en-US" sz="1200" dirty="0">
                <a:solidFill>
                  <a:srgbClr val="4A0000"/>
                </a:solidFill>
              </a:rPr>
              <a:t>Skids on traction wheels when turning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West Coast Drive (WCD)</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DRIVE BASE</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640080"/>
          </a:xfrm>
          <a:prstGeom prst="rect">
            <a:avLst/>
          </a:prstGeom>
          <a:noFill/>
          <a:ln/>
        </p:spPr>
        <p:txBody>
          <a:bodyPr wrap="square" lIns="0" tIns="0" rIns="0" bIns="0" rtlCol="0" anchor="ctr"/>
          <a:lstStyle/>
          <a:p>
            <a:pPr indent="0" marL="0">
              <a:buNone/>
            </a:pPr>
            <a:r>
              <a:rPr lang="en-US" sz="1300" dirty="0">
                <a:solidFill>
                  <a:srgbClr val="5B6B80"/>
                </a:solidFill>
              </a:rPr>
              <a:t>A refined tank drive with a 6-wheel "dropped center" design. The middle wheel sits ~1/16" lower than the outer wheels, acting as a pivot point to reduce turning friction. Used by top teams worldwide.</a:t>
            </a:r>
            <a:endParaRPr lang="en-US" sz="1300" dirty="0"/>
          </a:p>
        </p:txBody>
      </p:sp>
      <p:sp>
        <p:nvSpPr>
          <p:cNvPr id="8" name="Shape 6"/>
          <p:cNvSpPr/>
          <p:nvPr/>
        </p:nvSpPr>
        <p:spPr>
          <a:xfrm>
            <a:off x="457200" y="1572768"/>
            <a:ext cx="420624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9000"/>
              </a:srgbClr>
            </a:outerShdw>
          </a:effectLst>
        </p:spPr>
      </p:sp>
      <p:sp>
        <p:nvSpPr>
          <p:cNvPr id="9" name="Text 7"/>
          <p:cNvSpPr/>
          <p:nvPr/>
        </p:nvSpPr>
        <p:spPr>
          <a:xfrm>
            <a:off x="640080" y="1664208"/>
            <a:ext cx="3840480" cy="274320"/>
          </a:xfrm>
          <a:prstGeom prst="rect">
            <a:avLst/>
          </a:prstGeom>
          <a:noFill/>
          <a:ln/>
        </p:spPr>
        <p:txBody>
          <a:bodyPr wrap="square" lIns="0" tIns="0" rIns="0" bIns="0" rtlCol="0" anchor="ctr"/>
          <a:lstStyle/>
          <a:p>
            <a:pPr indent="0" marL="0">
              <a:buNone/>
            </a:pPr>
            <a:r>
              <a:rPr lang="en-US" sz="1100" b="1" dirty="0">
                <a:solidFill>
                  <a:srgbClr val="3A6BC4"/>
                </a:solidFill>
              </a:rPr>
              <a:t>BEST USED WHEN…</a:t>
            </a:r>
            <a:endParaRPr lang="en-US" sz="1100" dirty="0"/>
          </a:p>
        </p:txBody>
      </p:sp>
      <p:sp>
        <p:nvSpPr>
          <p:cNvPr id="10" name="Text 8"/>
          <p:cNvSpPr/>
          <p:nvPr/>
        </p:nvSpPr>
        <p:spPr>
          <a:xfrm>
            <a:off x="640080" y="1993392"/>
            <a:ext cx="3840480" cy="548640"/>
          </a:xfrm>
          <a:prstGeom prst="rect">
            <a:avLst/>
          </a:prstGeom>
          <a:noFill/>
          <a:ln/>
        </p:spPr>
        <p:txBody>
          <a:bodyPr wrap="square" rtlCol="0" anchor="ctr"/>
          <a:lstStyle/>
          <a:p>
            <a:pPr marL="342900" indent="-342900">
              <a:buSzPct val="100000"/>
              <a:buChar char="•"/>
            </a:pPr>
            <a:r>
              <a:rPr lang="en-US" sz="1200" dirty="0">
                <a:solidFill>
                  <a:srgbClr val="0D1B2A"/>
                </a:solidFill>
              </a:rPr>
              <a:t>Defense and field control are key game strategies</a:t>
            </a:r>
            <a:endParaRPr lang="en-US" sz="1200" dirty="0"/>
          </a:p>
          <a:p>
            <a:pPr marL="342900" indent="-342900">
              <a:buSzPct val="100000"/>
              <a:buChar char="•"/>
            </a:pPr>
            <a:r>
              <a:rPr lang="en-US" sz="1200" dirty="0">
                <a:solidFill>
                  <a:srgbClr val="0D1B2A"/>
                </a:solidFill>
              </a:rPr>
              <a:t>Team wants maximum pushing power + mobility</a:t>
            </a:r>
            <a:endParaRPr lang="en-US" sz="1200" dirty="0"/>
          </a:p>
          <a:p>
            <a:pPr marL="342900" indent="-342900">
              <a:buSzPct val="100000"/>
              <a:buChar char="•"/>
            </a:pPr>
            <a:r>
              <a:rPr lang="en-US" sz="1200" dirty="0">
                <a:solidFill>
                  <a:srgbClr val="0D1B2A"/>
                </a:solidFill>
              </a:rPr>
              <a:t>Low-maintenance, season-long reliability is needed</a:t>
            </a:r>
            <a:endParaRPr lang="en-US" sz="1200" dirty="0"/>
          </a:p>
        </p:txBody>
      </p:sp>
      <p:sp>
        <p:nvSpPr>
          <p:cNvPr id="11" name="Shape 9"/>
          <p:cNvSpPr/>
          <p:nvPr/>
        </p:nvSpPr>
        <p:spPr>
          <a:xfrm>
            <a:off x="4846320" y="1572768"/>
            <a:ext cx="182880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846320" y="1572768"/>
            <a:ext cx="1828800" cy="292608"/>
          </a:xfrm>
          <a:prstGeom prst="rect">
            <a:avLst/>
          </a:prstGeom>
          <a:solidFill>
            <a:srgbClr val="3A6BC4"/>
          </a:solidFill>
          <a:ln w="12700">
            <a:solidFill>
              <a:srgbClr val="3A6BC4"/>
            </a:solidFill>
            <a:prstDash val="solid"/>
          </a:ln>
        </p:spPr>
      </p:sp>
      <p:sp>
        <p:nvSpPr>
          <p:cNvPr id="13" name="Text 11"/>
          <p:cNvSpPr/>
          <p:nvPr/>
        </p:nvSpPr>
        <p:spPr>
          <a:xfrm>
            <a:off x="4937760" y="1572768"/>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TYPICAL CONFIG</a:t>
            </a:r>
            <a:endParaRPr lang="en-US" sz="1000" dirty="0"/>
          </a:p>
        </p:txBody>
      </p:sp>
      <p:sp>
        <p:nvSpPr>
          <p:cNvPr id="14" name="Text 12"/>
          <p:cNvSpPr/>
          <p:nvPr/>
        </p:nvSpPr>
        <p:spPr>
          <a:xfrm>
            <a:off x="4937760" y="1920240"/>
            <a:ext cx="1645920" cy="649224"/>
          </a:xfrm>
          <a:prstGeom prst="rect">
            <a:avLst/>
          </a:prstGeom>
          <a:noFill/>
          <a:ln/>
        </p:spPr>
        <p:txBody>
          <a:bodyPr wrap="square" lIns="0" tIns="0" rIns="0" bIns="0" rtlCol="0" anchor="t"/>
          <a:lstStyle/>
          <a:p>
            <a:pPr algn="ctr" indent="0" marL="0">
              <a:buNone/>
            </a:pPr>
            <a:r>
              <a:rPr lang="en-US" sz="1100" dirty="0">
                <a:solidFill>
                  <a:srgbClr val="0D1B2A"/>
                </a:solidFill>
              </a:rPr>
              <a:t>6 traction wheels</a:t>
            </a:r>
            <a:endParaRPr lang="en-US" sz="1100" dirty="0"/>
          </a:p>
          <a:p>
            <a:pPr algn="ctr" indent="0" marL="0">
              <a:buNone/>
            </a:pPr>
            <a:r>
              <a:rPr lang="en-US" sz="1100" dirty="0">
                <a:solidFill>
                  <a:srgbClr val="0D1B2A"/>
                </a:solidFill>
              </a:rPr>
              <a:t>Dropped center ~1/16"</a:t>
            </a:r>
            <a:endParaRPr lang="en-US" sz="1100" dirty="0"/>
          </a:p>
        </p:txBody>
      </p:sp>
      <p:sp>
        <p:nvSpPr>
          <p:cNvPr id="15" name="Shape 13"/>
          <p:cNvSpPr/>
          <p:nvPr/>
        </p:nvSpPr>
        <p:spPr>
          <a:xfrm>
            <a:off x="6812280" y="1572768"/>
            <a:ext cx="187452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6812280" y="1572768"/>
            <a:ext cx="1874520" cy="292608"/>
          </a:xfrm>
          <a:prstGeom prst="rect">
            <a:avLst/>
          </a:prstGeom>
          <a:solidFill>
            <a:srgbClr val="3A6BC4"/>
          </a:solidFill>
          <a:ln w="12700">
            <a:solidFill>
              <a:srgbClr val="3A6BC4"/>
            </a:solidFill>
            <a:prstDash val="solid"/>
          </a:ln>
        </p:spPr>
      </p:sp>
      <p:sp>
        <p:nvSpPr>
          <p:cNvPr id="17" name="Text 15"/>
          <p:cNvSpPr/>
          <p:nvPr/>
        </p:nvSpPr>
        <p:spPr>
          <a:xfrm>
            <a:off x="6903720" y="1572768"/>
            <a:ext cx="1691640" cy="292608"/>
          </a:xfrm>
          <a:prstGeom prst="rect">
            <a:avLst/>
          </a:prstGeom>
          <a:noFill/>
          <a:ln/>
        </p:spPr>
        <p:txBody>
          <a:bodyPr wrap="square" lIns="0" tIns="0" rIns="0" bIns="0" rtlCol="0" anchor="ctr"/>
          <a:lstStyle/>
          <a:p>
            <a:pPr algn="ctr" indent="0" marL="0">
              <a:buNone/>
            </a:pPr>
            <a:r>
              <a:rPr lang="en-US" sz="1000" b="1" dirty="0">
                <a:solidFill>
                  <a:srgbClr val="FFFFFF"/>
                </a:solidFill>
              </a:rPr>
              <a:t>EXPERIENCE LEVEL</a:t>
            </a:r>
            <a:endParaRPr lang="en-US" sz="1000" dirty="0"/>
          </a:p>
        </p:txBody>
      </p:sp>
      <p:sp>
        <p:nvSpPr>
          <p:cNvPr id="18" name="Text 16"/>
          <p:cNvSpPr/>
          <p:nvPr/>
        </p:nvSpPr>
        <p:spPr>
          <a:xfrm>
            <a:off x="6903720" y="1920240"/>
            <a:ext cx="1691640" cy="649224"/>
          </a:xfrm>
          <a:prstGeom prst="rect">
            <a:avLst/>
          </a:prstGeom>
          <a:noFill/>
          <a:ln/>
        </p:spPr>
        <p:txBody>
          <a:bodyPr wrap="square" lIns="0" tIns="0" rIns="0" bIns="0" rtlCol="0" anchor="t"/>
          <a:lstStyle/>
          <a:p>
            <a:pPr algn="ctr" indent="0" marL="0">
              <a:buNone/>
            </a:pPr>
            <a:r>
              <a:rPr lang="en-US" sz="1100" dirty="0">
                <a:solidFill>
                  <a:srgbClr val="0D1B2A"/>
                </a:solidFill>
              </a:rPr>
              <a:t>Intermediate</a:t>
            </a:r>
            <a:endParaRPr lang="en-US" sz="1100" dirty="0"/>
          </a:p>
        </p:txBody>
      </p:sp>
      <p:sp>
        <p:nvSpPr>
          <p:cNvPr id="19" name="Shape 17"/>
          <p:cNvSpPr/>
          <p:nvPr/>
        </p:nvSpPr>
        <p:spPr>
          <a:xfrm>
            <a:off x="457200" y="2743200"/>
            <a:ext cx="4046220" cy="2148840"/>
          </a:xfrm>
          <a:prstGeom prst="rect">
            <a:avLst/>
          </a:prstGeom>
          <a:solidFill>
            <a:srgbClr val="E8F5E9"/>
          </a:solidFill>
          <a:ln w="19050">
            <a:solidFill>
              <a:srgbClr val="81C784"/>
            </a:solidFill>
            <a:prstDash val="solid"/>
          </a:ln>
        </p:spPr>
      </p:sp>
      <p:sp>
        <p:nvSpPr>
          <p:cNvPr id="20" name="Shape 18"/>
          <p:cNvSpPr/>
          <p:nvPr/>
        </p:nvSpPr>
        <p:spPr>
          <a:xfrm>
            <a:off x="457200" y="2743200"/>
            <a:ext cx="4046220" cy="347472"/>
          </a:xfrm>
          <a:prstGeom prst="rect">
            <a:avLst/>
          </a:prstGeom>
          <a:solidFill>
            <a:srgbClr val="388E3C"/>
          </a:solidFill>
          <a:ln w="12700">
            <a:solidFill>
              <a:srgbClr val="388E3C"/>
            </a:solidFill>
            <a:prstDash val="solid"/>
          </a:ln>
        </p:spPr>
      </p:sp>
      <p:sp>
        <p:nvSpPr>
          <p:cNvPr id="21" name="Text 19"/>
          <p:cNvSpPr/>
          <p:nvPr/>
        </p:nvSpPr>
        <p:spPr>
          <a:xfrm>
            <a:off x="45720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PROS</a:t>
            </a:r>
            <a:endParaRPr lang="en-US" sz="1200" dirty="0"/>
          </a:p>
        </p:txBody>
      </p:sp>
      <p:sp>
        <p:nvSpPr>
          <p:cNvPr id="22" name="Text 20"/>
          <p:cNvSpPr/>
          <p:nvPr/>
        </p:nvSpPr>
        <p:spPr>
          <a:xfrm>
            <a:off x="548640" y="3154680"/>
            <a:ext cx="3863340" cy="1645920"/>
          </a:xfrm>
          <a:prstGeom prst="rect">
            <a:avLst/>
          </a:prstGeom>
          <a:noFill/>
          <a:ln/>
        </p:spPr>
        <p:txBody>
          <a:bodyPr wrap="square" rtlCol="0" anchor="ctr"/>
          <a:lstStyle/>
          <a:p>
            <a:pPr marL="342900" indent="-342900">
              <a:buSzPct val="100000"/>
              <a:buChar char="•"/>
            </a:pPr>
            <a:r>
              <a:rPr lang="en-US" sz="1200" dirty="0">
                <a:solidFill>
                  <a:srgbClr val="1B3A1C"/>
                </a:solidFill>
              </a:rPr>
              <a:t>Excellent pushing &amp; defensive capability</a:t>
            </a:r>
            <a:endParaRPr lang="en-US" sz="1200" dirty="0"/>
          </a:p>
          <a:p>
            <a:pPr marL="342900" indent="-342900">
              <a:buSzPct val="100000"/>
              <a:buChar char="•"/>
            </a:pPr>
            <a:r>
              <a:rPr lang="en-US" sz="1200" dirty="0">
                <a:solidFill>
                  <a:srgbClr val="1B3A1C"/>
                </a:solidFill>
              </a:rPr>
              <a:t>Smooth turning — dropped center reduces scrub</a:t>
            </a:r>
            <a:endParaRPr lang="en-US" sz="1200" dirty="0"/>
          </a:p>
          <a:p>
            <a:pPr marL="342900" indent="-342900">
              <a:buSzPct val="100000"/>
              <a:buChar char="•"/>
            </a:pPr>
            <a:r>
              <a:rPr lang="en-US" sz="1200" dirty="0">
                <a:solidFill>
                  <a:srgbClr val="1B3A1C"/>
                </a:solidFill>
              </a:rPr>
              <a:t>Robust, battle-tested in high-competition play</a:t>
            </a:r>
            <a:endParaRPr lang="en-US" sz="1200" dirty="0"/>
          </a:p>
          <a:p>
            <a:pPr marL="342900" indent="-342900">
              <a:buSzPct val="100000"/>
              <a:buChar char="•"/>
            </a:pPr>
            <a:r>
              <a:rPr lang="en-US" sz="1200" dirty="0">
                <a:solidFill>
                  <a:srgbClr val="1B3A1C"/>
                </a:solidFill>
              </a:rPr>
              <a:t>Famously used by top FRC teams (254, 1114, etc.)</a:t>
            </a:r>
            <a:endParaRPr lang="en-US" sz="1200" dirty="0"/>
          </a:p>
        </p:txBody>
      </p:sp>
      <p:sp>
        <p:nvSpPr>
          <p:cNvPr id="23" name="Shape 21"/>
          <p:cNvSpPr/>
          <p:nvPr/>
        </p:nvSpPr>
        <p:spPr>
          <a:xfrm>
            <a:off x="4640580" y="2743200"/>
            <a:ext cx="4046220" cy="2148840"/>
          </a:xfrm>
          <a:prstGeom prst="rect">
            <a:avLst/>
          </a:prstGeom>
          <a:solidFill>
            <a:srgbClr val="FFEBEE"/>
          </a:solidFill>
          <a:ln w="19050">
            <a:solidFill>
              <a:srgbClr val="E57373"/>
            </a:solidFill>
            <a:prstDash val="solid"/>
          </a:ln>
        </p:spPr>
      </p:sp>
      <p:sp>
        <p:nvSpPr>
          <p:cNvPr id="24" name="Shape 22"/>
          <p:cNvSpPr/>
          <p:nvPr/>
        </p:nvSpPr>
        <p:spPr>
          <a:xfrm>
            <a:off x="4640580" y="2743200"/>
            <a:ext cx="4046220" cy="347472"/>
          </a:xfrm>
          <a:prstGeom prst="rect">
            <a:avLst/>
          </a:prstGeom>
          <a:solidFill>
            <a:srgbClr val="C62828"/>
          </a:solidFill>
          <a:ln w="12700">
            <a:solidFill>
              <a:srgbClr val="C62828"/>
            </a:solidFill>
            <a:prstDash val="solid"/>
          </a:ln>
        </p:spPr>
      </p:sp>
      <p:sp>
        <p:nvSpPr>
          <p:cNvPr id="25" name="Text 23"/>
          <p:cNvSpPr/>
          <p:nvPr/>
        </p:nvSpPr>
        <p:spPr>
          <a:xfrm>
            <a:off x="464058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CONS</a:t>
            </a:r>
            <a:endParaRPr lang="en-US" sz="1200" dirty="0"/>
          </a:p>
        </p:txBody>
      </p:sp>
      <p:sp>
        <p:nvSpPr>
          <p:cNvPr id="26" name="Text 24"/>
          <p:cNvSpPr/>
          <p:nvPr/>
        </p:nvSpPr>
        <p:spPr>
          <a:xfrm>
            <a:off x="4732020" y="3154680"/>
            <a:ext cx="3863340" cy="1645920"/>
          </a:xfrm>
          <a:prstGeom prst="rect">
            <a:avLst/>
          </a:prstGeom>
          <a:noFill/>
          <a:ln/>
        </p:spPr>
        <p:txBody>
          <a:bodyPr wrap="square" rtlCol="0" anchor="ctr"/>
          <a:lstStyle/>
          <a:p>
            <a:pPr marL="342900" indent="-342900">
              <a:buSzPct val="100000"/>
              <a:buChar char="•"/>
            </a:pPr>
            <a:r>
              <a:rPr lang="en-US" sz="1200" dirty="0">
                <a:solidFill>
                  <a:srgbClr val="4A0000"/>
                </a:solidFill>
              </a:rPr>
              <a:t>Still no lateral/strafing movement</a:t>
            </a:r>
            <a:endParaRPr lang="en-US" sz="1200" dirty="0"/>
          </a:p>
          <a:p>
            <a:pPr marL="342900" indent="-342900">
              <a:buSzPct val="100000"/>
              <a:buChar char="•"/>
            </a:pPr>
            <a:r>
              <a:rPr lang="en-US" sz="1200" dirty="0">
                <a:solidFill>
                  <a:srgbClr val="4A0000"/>
                </a:solidFill>
              </a:rPr>
              <a:t>Complex CNC chassis requires machining skill</a:t>
            </a:r>
            <a:endParaRPr lang="en-US" sz="1200" dirty="0"/>
          </a:p>
          <a:p>
            <a:pPr marL="342900" indent="-342900">
              <a:buSzPct val="100000"/>
              <a:buChar char="•"/>
            </a:pPr>
            <a:r>
              <a:rPr lang="en-US" sz="1200" dirty="0">
                <a:solidFill>
                  <a:srgbClr val="4A0000"/>
                </a:solidFill>
              </a:rPr>
              <a:t>Outclassed in agility by swerve in open games</a:t>
            </a:r>
            <a:endParaRPr lang="en-US" sz="1200" dirty="0"/>
          </a:p>
          <a:p>
            <a:pPr marL="342900" indent="-342900">
              <a:buSzPct val="100000"/>
              <a:buChar char="•"/>
            </a:pPr>
            <a:r>
              <a:rPr lang="en-US" sz="1200" dirty="0">
                <a:solidFill>
                  <a:srgbClr val="4A0000"/>
                </a:solidFill>
              </a:rPr>
              <a:t>Weight distribution must be carefully tuned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Mecanum Drive</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DRIVE BASE</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640080"/>
          </a:xfrm>
          <a:prstGeom prst="rect">
            <a:avLst/>
          </a:prstGeom>
          <a:noFill/>
          <a:ln/>
        </p:spPr>
        <p:txBody>
          <a:bodyPr wrap="square" lIns="0" tIns="0" rIns="0" bIns="0" rtlCol="0" anchor="ctr"/>
          <a:lstStyle/>
          <a:p>
            <a:pPr indent="0" marL="0">
              <a:buNone/>
            </a:pPr>
            <a:r>
              <a:rPr lang="en-US" sz="1300" dirty="0">
                <a:solidFill>
                  <a:srgbClr val="5B6B80"/>
                </a:solidFill>
              </a:rPr>
              <a:t>Four wheels each fitted with angled (45°) rollers. By independently controlling wheel speed and direction, the robot can strafe sideways, move diagonally, and rotate — all without turning.</a:t>
            </a:r>
            <a:endParaRPr lang="en-US" sz="1300" dirty="0"/>
          </a:p>
        </p:txBody>
      </p:sp>
      <p:sp>
        <p:nvSpPr>
          <p:cNvPr id="8" name="Shape 6"/>
          <p:cNvSpPr/>
          <p:nvPr/>
        </p:nvSpPr>
        <p:spPr>
          <a:xfrm>
            <a:off x="457200" y="1572768"/>
            <a:ext cx="420624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9000"/>
              </a:srgbClr>
            </a:outerShdw>
          </a:effectLst>
        </p:spPr>
      </p:sp>
      <p:sp>
        <p:nvSpPr>
          <p:cNvPr id="9" name="Text 7"/>
          <p:cNvSpPr/>
          <p:nvPr/>
        </p:nvSpPr>
        <p:spPr>
          <a:xfrm>
            <a:off x="640080" y="1664208"/>
            <a:ext cx="3840480" cy="274320"/>
          </a:xfrm>
          <a:prstGeom prst="rect">
            <a:avLst/>
          </a:prstGeom>
          <a:noFill/>
          <a:ln/>
        </p:spPr>
        <p:txBody>
          <a:bodyPr wrap="square" lIns="0" tIns="0" rIns="0" bIns="0" rtlCol="0" anchor="ctr"/>
          <a:lstStyle/>
          <a:p>
            <a:pPr indent="0" marL="0">
              <a:buNone/>
            </a:pPr>
            <a:r>
              <a:rPr lang="en-US" sz="1100" b="1" dirty="0">
                <a:solidFill>
                  <a:srgbClr val="3A6BC4"/>
                </a:solidFill>
              </a:rPr>
              <a:t>BEST USED WHEN…</a:t>
            </a:r>
            <a:endParaRPr lang="en-US" sz="1100" dirty="0"/>
          </a:p>
        </p:txBody>
      </p:sp>
      <p:sp>
        <p:nvSpPr>
          <p:cNvPr id="10" name="Text 8"/>
          <p:cNvSpPr/>
          <p:nvPr/>
        </p:nvSpPr>
        <p:spPr>
          <a:xfrm>
            <a:off x="640080" y="1993392"/>
            <a:ext cx="3840480" cy="548640"/>
          </a:xfrm>
          <a:prstGeom prst="rect">
            <a:avLst/>
          </a:prstGeom>
          <a:noFill/>
          <a:ln/>
        </p:spPr>
        <p:txBody>
          <a:bodyPr wrap="square" rtlCol="0" anchor="ctr"/>
          <a:lstStyle/>
          <a:p>
            <a:pPr marL="342900" indent="-342900">
              <a:buSzPct val="100000"/>
              <a:buChar char="•"/>
            </a:pPr>
            <a:r>
              <a:rPr lang="en-US" sz="1200" dirty="0">
                <a:solidFill>
                  <a:srgbClr val="0D1B2A"/>
                </a:solidFill>
              </a:rPr>
              <a:t>Game requires precise lateral repositioning</a:t>
            </a:r>
            <a:endParaRPr lang="en-US" sz="1200" dirty="0"/>
          </a:p>
          <a:p>
            <a:pPr marL="342900" indent="-342900">
              <a:buSzPct val="100000"/>
              <a:buChar char="•"/>
            </a:pPr>
            <a:r>
              <a:rPr lang="en-US" sz="1200" dirty="0">
                <a:solidFill>
                  <a:srgbClr val="0D1B2A"/>
                </a:solidFill>
              </a:rPr>
              <a:t>Tight field layouts with limited turning space</a:t>
            </a:r>
            <a:endParaRPr lang="en-US" sz="1200" dirty="0"/>
          </a:p>
          <a:p>
            <a:pPr marL="342900" indent="-342900">
              <a:buSzPct val="100000"/>
              <a:buChar char="•"/>
            </a:pPr>
            <a:r>
              <a:rPr lang="en-US" sz="1200" dirty="0">
                <a:solidFill>
                  <a:srgbClr val="0D1B2A"/>
                </a:solidFill>
              </a:rPr>
              <a:t>Team wants holonomic motion without swerve cost</a:t>
            </a:r>
            <a:endParaRPr lang="en-US" sz="1200" dirty="0"/>
          </a:p>
        </p:txBody>
      </p:sp>
      <p:sp>
        <p:nvSpPr>
          <p:cNvPr id="11" name="Shape 9"/>
          <p:cNvSpPr/>
          <p:nvPr/>
        </p:nvSpPr>
        <p:spPr>
          <a:xfrm>
            <a:off x="4846320" y="1572768"/>
            <a:ext cx="182880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846320" y="1572768"/>
            <a:ext cx="1828800" cy="292608"/>
          </a:xfrm>
          <a:prstGeom prst="rect">
            <a:avLst/>
          </a:prstGeom>
          <a:solidFill>
            <a:srgbClr val="3A6BC4"/>
          </a:solidFill>
          <a:ln w="12700">
            <a:solidFill>
              <a:srgbClr val="3A6BC4"/>
            </a:solidFill>
            <a:prstDash val="solid"/>
          </a:ln>
        </p:spPr>
      </p:sp>
      <p:sp>
        <p:nvSpPr>
          <p:cNvPr id="13" name="Text 11"/>
          <p:cNvSpPr/>
          <p:nvPr/>
        </p:nvSpPr>
        <p:spPr>
          <a:xfrm>
            <a:off x="4937760" y="1572768"/>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TYPICAL CONFIG</a:t>
            </a:r>
            <a:endParaRPr lang="en-US" sz="1000" dirty="0"/>
          </a:p>
        </p:txBody>
      </p:sp>
      <p:sp>
        <p:nvSpPr>
          <p:cNvPr id="14" name="Text 12"/>
          <p:cNvSpPr/>
          <p:nvPr/>
        </p:nvSpPr>
        <p:spPr>
          <a:xfrm>
            <a:off x="4937760" y="1920240"/>
            <a:ext cx="1645920" cy="649224"/>
          </a:xfrm>
          <a:prstGeom prst="rect">
            <a:avLst/>
          </a:prstGeom>
          <a:noFill/>
          <a:ln/>
        </p:spPr>
        <p:txBody>
          <a:bodyPr wrap="square" lIns="0" tIns="0" rIns="0" bIns="0" rtlCol="0" anchor="t"/>
          <a:lstStyle/>
          <a:p>
            <a:pPr algn="ctr" indent="0" marL="0">
              <a:buNone/>
            </a:pPr>
            <a:r>
              <a:rPr lang="en-US" sz="1100" dirty="0">
                <a:solidFill>
                  <a:srgbClr val="0D1B2A"/>
                </a:solidFill>
              </a:rPr>
              <a:t>4 mecanum wheels</a:t>
            </a:r>
            <a:endParaRPr lang="en-US" sz="1100" dirty="0"/>
          </a:p>
          <a:p>
            <a:pPr algn="ctr" indent="0" marL="0">
              <a:buNone/>
            </a:pPr>
            <a:r>
              <a:rPr lang="en-US" sz="1100" dirty="0">
                <a:solidFill>
                  <a:srgbClr val="0D1B2A"/>
                </a:solidFill>
              </a:rPr>
              <a:t>X or H arrangement</a:t>
            </a:r>
            <a:endParaRPr lang="en-US" sz="1100" dirty="0"/>
          </a:p>
        </p:txBody>
      </p:sp>
      <p:sp>
        <p:nvSpPr>
          <p:cNvPr id="15" name="Shape 13"/>
          <p:cNvSpPr/>
          <p:nvPr/>
        </p:nvSpPr>
        <p:spPr>
          <a:xfrm>
            <a:off x="6812280" y="1572768"/>
            <a:ext cx="187452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6812280" y="1572768"/>
            <a:ext cx="1874520" cy="292608"/>
          </a:xfrm>
          <a:prstGeom prst="rect">
            <a:avLst/>
          </a:prstGeom>
          <a:solidFill>
            <a:srgbClr val="3A6BC4"/>
          </a:solidFill>
          <a:ln w="12700">
            <a:solidFill>
              <a:srgbClr val="3A6BC4"/>
            </a:solidFill>
            <a:prstDash val="solid"/>
          </a:ln>
        </p:spPr>
      </p:sp>
      <p:sp>
        <p:nvSpPr>
          <p:cNvPr id="17" name="Text 15"/>
          <p:cNvSpPr/>
          <p:nvPr/>
        </p:nvSpPr>
        <p:spPr>
          <a:xfrm>
            <a:off x="6903720" y="1572768"/>
            <a:ext cx="1691640" cy="292608"/>
          </a:xfrm>
          <a:prstGeom prst="rect">
            <a:avLst/>
          </a:prstGeom>
          <a:noFill/>
          <a:ln/>
        </p:spPr>
        <p:txBody>
          <a:bodyPr wrap="square" lIns="0" tIns="0" rIns="0" bIns="0" rtlCol="0" anchor="ctr"/>
          <a:lstStyle/>
          <a:p>
            <a:pPr algn="ctr" indent="0" marL="0">
              <a:buNone/>
            </a:pPr>
            <a:r>
              <a:rPr lang="en-US" sz="1000" b="1" dirty="0">
                <a:solidFill>
                  <a:srgbClr val="FFFFFF"/>
                </a:solidFill>
              </a:rPr>
              <a:t>EXPERIENCE LEVEL</a:t>
            </a:r>
            <a:endParaRPr lang="en-US" sz="1000" dirty="0"/>
          </a:p>
        </p:txBody>
      </p:sp>
      <p:sp>
        <p:nvSpPr>
          <p:cNvPr id="18" name="Text 16"/>
          <p:cNvSpPr/>
          <p:nvPr/>
        </p:nvSpPr>
        <p:spPr>
          <a:xfrm>
            <a:off x="6903720" y="1920240"/>
            <a:ext cx="1691640" cy="649224"/>
          </a:xfrm>
          <a:prstGeom prst="rect">
            <a:avLst/>
          </a:prstGeom>
          <a:noFill/>
          <a:ln/>
        </p:spPr>
        <p:txBody>
          <a:bodyPr wrap="square" lIns="0" tIns="0" rIns="0" bIns="0" rtlCol="0" anchor="t"/>
          <a:lstStyle/>
          <a:p>
            <a:pPr algn="ctr" indent="0" marL="0">
              <a:buNone/>
            </a:pPr>
            <a:r>
              <a:rPr lang="en-US" sz="1100" dirty="0">
                <a:solidFill>
                  <a:srgbClr val="0D1B2A"/>
                </a:solidFill>
              </a:rPr>
              <a:t>Intermediate</a:t>
            </a:r>
            <a:endParaRPr lang="en-US" sz="1100" dirty="0"/>
          </a:p>
        </p:txBody>
      </p:sp>
      <p:sp>
        <p:nvSpPr>
          <p:cNvPr id="19" name="Shape 17"/>
          <p:cNvSpPr/>
          <p:nvPr/>
        </p:nvSpPr>
        <p:spPr>
          <a:xfrm>
            <a:off x="457200" y="2743200"/>
            <a:ext cx="4046220" cy="2148840"/>
          </a:xfrm>
          <a:prstGeom prst="rect">
            <a:avLst/>
          </a:prstGeom>
          <a:solidFill>
            <a:srgbClr val="E8F5E9"/>
          </a:solidFill>
          <a:ln w="19050">
            <a:solidFill>
              <a:srgbClr val="81C784"/>
            </a:solidFill>
            <a:prstDash val="solid"/>
          </a:ln>
        </p:spPr>
      </p:sp>
      <p:sp>
        <p:nvSpPr>
          <p:cNvPr id="20" name="Shape 18"/>
          <p:cNvSpPr/>
          <p:nvPr/>
        </p:nvSpPr>
        <p:spPr>
          <a:xfrm>
            <a:off x="457200" y="2743200"/>
            <a:ext cx="4046220" cy="347472"/>
          </a:xfrm>
          <a:prstGeom prst="rect">
            <a:avLst/>
          </a:prstGeom>
          <a:solidFill>
            <a:srgbClr val="388E3C"/>
          </a:solidFill>
          <a:ln w="12700">
            <a:solidFill>
              <a:srgbClr val="388E3C"/>
            </a:solidFill>
            <a:prstDash val="solid"/>
          </a:ln>
        </p:spPr>
      </p:sp>
      <p:sp>
        <p:nvSpPr>
          <p:cNvPr id="21" name="Text 19"/>
          <p:cNvSpPr/>
          <p:nvPr/>
        </p:nvSpPr>
        <p:spPr>
          <a:xfrm>
            <a:off x="45720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PROS</a:t>
            </a:r>
            <a:endParaRPr lang="en-US" sz="1200" dirty="0"/>
          </a:p>
        </p:txBody>
      </p:sp>
      <p:sp>
        <p:nvSpPr>
          <p:cNvPr id="22" name="Text 20"/>
          <p:cNvSpPr/>
          <p:nvPr/>
        </p:nvSpPr>
        <p:spPr>
          <a:xfrm>
            <a:off x="548640" y="3154680"/>
            <a:ext cx="3863340" cy="1645920"/>
          </a:xfrm>
          <a:prstGeom prst="rect">
            <a:avLst/>
          </a:prstGeom>
          <a:noFill/>
          <a:ln/>
        </p:spPr>
        <p:txBody>
          <a:bodyPr wrap="square" rtlCol="0" anchor="ctr"/>
          <a:lstStyle/>
          <a:p>
            <a:pPr marL="342900" indent="-342900">
              <a:buSzPct val="100000"/>
              <a:buChar char="•"/>
            </a:pPr>
            <a:r>
              <a:rPr lang="en-US" sz="1200" dirty="0">
                <a:solidFill>
                  <a:srgbClr val="1B3A1C"/>
                </a:solidFill>
              </a:rPr>
              <a:t>Full holonomic motion — strafes in any direction</a:t>
            </a:r>
            <a:endParaRPr lang="en-US" sz="1200" dirty="0"/>
          </a:p>
          <a:p>
            <a:pPr marL="342900" indent="-342900">
              <a:buSzPct val="100000"/>
              <a:buChar char="•"/>
            </a:pPr>
            <a:r>
              <a:rPr lang="en-US" sz="1200" dirty="0">
                <a:solidFill>
                  <a:srgbClr val="1B3A1C"/>
                </a:solidFill>
              </a:rPr>
              <a:t>Simpler build than swerve, no steering mechanism</a:t>
            </a:r>
            <a:endParaRPr lang="en-US" sz="1200" dirty="0"/>
          </a:p>
          <a:p>
            <a:pPr marL="342900" indent="-342900">
              <a:buSzPct val="100000"/>
              <a:buChar char="•"/>
            </a:pPr>
            <a:r>
              <a:rPr lang="en-US" sz="1200" dirty="0">
                <a:solidFill>
                  <a:srgbClr val="1B3A1C"/>
                </a:solidFill>
              </a:rPr>
              <a:t>Great for game pieces needing precise alignment</a:t>
            </a:r>
            <a:endParaRPr lang="en-US" sz="1200" dirty="0"/>
          </a:p>
          <a:p>
            <a:pPr marL="342900" indent="-342900">
              <a:buSzPct val="100000"/>
              <a:buChar char="•"/>
            </a:pPr>
            <a:r>
              <a:rPr lang="en-US" sz="1200" dirty="0">
                <a:solidFill>
                  <a:srgbClr val="1B3A1C"/>
                </a:solidFill>
              </a:rPr>
              <a:t>Widely understood — many team resources available</a:t>
            </a:r>
            <a:endParaRPr lang="en-US" sz="1200" dirty="0"/>
          </a:p>
        </p:txBody>
      </p:sp>
      <p:sp>
        <p:nvSpPr>
          <p:cNvPr id="23" name="Shape 21"/>
          <p:cNvSpPr/>
          <p:nvPr/>
        </p:nvSpPr>
        <p:spPr>
          <a:xfrm>
            <a:off x="4640580" y="2743200"/>
            <a:ext cx="4046220" cy="2148840"/>
          </a:xfrm>
          <a:prstGeom prst="rect">
            <a:avLst/>
          </a:prstGeom>
          <a:solidFill>
            <a:srgbClr val="FFEBEE"/>
          </a:solidFill>
          <a:ln w="19050">
            <a:solidFill>
              <a:srgbClr val="E57373"/>
            </a:solidFill>
            <a:prstDash val="solid"/>
          </a:ln>
        </p:spPr>
      </p:sp>
      <p:sp>
        <p:nvSpPr>
          <p:cNvPr id="24" name="Shape 22"/>
          <p:cNvSpPr/>
          <p:nvPr/>
        </p:nvSpPr>
        <p:spPr>
          <a:xfrm>
            <a:off x="4640580" y="2743200"/>
            <a:ext cx="4046220" cy="347472"/>
          </a:xfrm>
          <a:prstGeom prst="rect">
            <a:avLst/>
          </a:prstGeom>
          <a:solidFill>
            <a:srgbClr val="C62828"/>
          </a:solidFill>
          <a:ln w="12700">
            <a:solidFill>
              <a:srgbClr val="C62828"/>
            </a:solidFill>
            <a:prstDash val="solid"/>
          </a:ln>
        </p:spPr>
      </p:sp>
      <p:sp>
        <p:nvSpPr>
          <p:cNvPr id="25" name="Text 23"/>
          <p:cNvSpPr/>
          <p:nvPr/>
        </p:nvSpPr>
        <p:spPr>
          <a:xfrm>
            <a:off x="464058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CONS</a:t>
            </a:r>
            <a:endParaRPr lang="en-US" sz="1200" dirty="0"/>
          </a:p>
        </p:txBody>
      </p:sp>
      <p:sp>
        <p:nvSpPr>
          <p:cNvPr id="26" name="Text 24"/>
          <p:cNvSpPr/>
          <p:nvPr/>
        </p:nvSpPr>
        <p:spPr>
          <a:xfrm>
            <a:off x="4732020" y="3154680"/>
            <a:ext cx="3863340" cy="1645920"/>
          </a:xfrm>
          <a:prstGeom prst="rect">
            <a:avLst/>
          </a:prstGeom>
          <a:noFill/>
          <a:ln/>
        </p:spPr>
        <p:txBody>
          <a:bodyPr wrap="square" rtlCol="0" anchor="ctr"/>
          <a:lstStyle/>
          <a:p>
            <a:pPr marL="342900" indent="-342900">
              <a:buSzPct val="100000"/>
              <a:buChar char="•"/>
            </a:pPr>
            <a:r>
              <a:rPr lang="en-US" sz="1200" dirty="0">
                <a:solidFill>
                  <a:srgbClr val="4A0000"/>
                </a:solidFill>
              </a:rPr>
              <a:t>Reduced pushing force vs. traction wheels</a:t>
            </a:r>
            <a:endParaRPr lang="en-US" sz="1200" dirty="0"/>
          </a:p>
          <a:p>
            <a:pPr marL="342900" indent="-342900">
              <a:buSzPct val="100000"/>
              <a:buChar char="•"/>
            </a:pPr>
            <a:r>
              <a:rPr lang="en-US" sz="1200" dirty="0">
                <a:solidFill>
                  <a:srgbClr val="4A0000"/>
                </a:solidFill>
              </a:rPr>
              <a:t>Poor on uneven or carpet-edge terrain</a:t>
            </a:r>
            <a:endParaRPr lang="en-US" sz="1200" dirty="0"/>
          </a:p>
          <a:p>
            <a:pPr marL="342900" indent="-342900">
              <a:buSzPct val="100000"/>
              <a:buChar char="•"/>
            </a:pPr>
            <a:r>
              <a:rPr lang="en-US" sz="1200" dirty="0">
                <a:solidFill>
                  <a:srgbClr val="4A0000"/>
                </a:solidFill>
              </a:rPr>
              <a:t>Rollers can wear — higher maintenance</a:t>
            </a:r>
            <a:endParaRPr lang="en-US" sz="1200" dirty="0"/>
          </a:p>
          <a:p>
            <a:pPr marL="342900" indent="-342900">
              <a:buSzPct val="100000"/>
              <a:buChar char="•"/>
            </a:pPr>
            <a:r>
              <a:rPr lang="en-US" sz="1200" dirty="0">
                <a:solidFill>
                  <a:srgbClr val="4A0000"/>
                </a:solidFill>
              </a:rPr>
              <a:t>More complex driver training needed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Swerve Drive</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DRIVE BASE</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640080"/>
          </a:xfrm>
          <a:prstGeom prst="rect">
            <a:avLst/>
          </a:prstGeom>
          <a:noFill/>
          <a:ln/>
        </p:spPr>
        <p:txBody>
          <a:bodyPr wrap="square" lIns="0" tIns="0" rIns="0" bIns="0" rtlCol="0" anchor="ctr"/>
          <a:lstStyle/>
          <a:p>
            <a:pPr indent="0" marL="0">
              <a:buNone/>
            </a:pPr>
            <a:r>
              <a:rPr lang="en-US" sz="1300" dirty="0">
                <a:solidFill>
                  <a:srgbClr val="5B6B80"/>
                </a:solidFill>
              </a:rPr>
              <a:t>Four independently steerable and driveable modules. Each module can rotate 360° and drive independently, giving full omnidirectional movement with maximum traction. The gold standard in modern FRC.</a:t>
            </a:r>
            <a:endParaRPr lang="en-US" sz="1300" dirty="0"/>
          </a:p>
        </p:txBody>
      </p:sp>
      <p:sp>
        <p:nvSpPr>
          <p:cNvPr id="8" name="Shape 6"/>
          <p:cNvSpPr/>
          <p:nvPr/>
        </p:nvSpPr>
        <p:spPr>
          <a:xfrm>
            <a:off x="457200" y="1572768"/>
            <a:ext cx="420624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9000"/>
              </a:srgbClr>
            </a:outerShdw>
          </a:effectLst>
        </p:spPr>
      </p:sp>
      <p:sp>
        <p:nvSpPr>
          <p:cNvPr id="9" name="Text 7"/>
          <p:cNvSpPr/>
          <p:nvPr/>
        </p:nvSpPr>
        <p:spPr>
          <a:xfrm>
            <a:off x="640080" y="1664208"/>
            <a:ext cx="3840480" cy="274320"/>
          </a:xfrm>
          <a:prstGeom prst="rect">
            <a:avLst/>
          </a:prstGeom>
          <a:noFill/>
          <a:ln/>
        </p:spPr>
        <p:txBody>
          <a:bodyPr wrap="square" lIns="0" tIns="0" rIns="0" bIns="0" rtlCol="0" anchor="ctr"/>
          <a:lstStyle/>
          <a:p>
            <a:pPr indent="0" marL="0">
              <a:buNone/>
            </a:pPr>
            <a:r>
              <a:rPr lang="en-US" sz="1100" b="1" dirty="0">
                <a:solidFill>
                  <a:srgbClr val="3A6BC4"/>
                </a:solidFill>
              </a:rPr>
              <a:t>BEST USED WHEN…</a:t>
            </a:r>
            <a:endParaRPr lang="en-US" sz="1100" dirty="0"/>
          </a:p>
        </p:txBody>
      </p:sp>
      <p:sp>
        <p:nvSpPr>
          <p:cNvPr id="10" name="Text 8"/>
          <p:cNvSpPr/>
          <p:nvPr/>
        </p:nvSpPr>
        <p:spPr>
          <a:xfrm>
            <a:off x="640080" y="1993392"/>
            <a:ext cx="3840480" cy="548640"/>
          </a:xfrm>
          <a:prstGeom prst="rect">
            <a:avLst/>
          </a:prstGeom>
          <a:noFill/>
          <a:ln/>
        </p:spPr>
        <p:txBody>
          <a:bodyPr wrap="square" rtlCol="0" anchor="ctr"/>
          <a:lstStyle/>
          <a:p>
            <a:pPr marL="342900" indent="-342900">
              <a:buSzPct val="100000"/>
              <a:buChar char="•"/>
            </a:pPr>
            <a:r>
              <a:rPr lang="en-US" sz="1200" dirty="0">
                <a:solidFill>
                  <a:srgbClr val="0D1B2A"/>
                </a:solidFill>
              </a:rPr>
              <a:t>Game rewards speed, agility &amp; field control</a:t>
            </a:r>
            <a:endParaRPr lang="en-US" sz="1200" dirty="0"/>
          </a:p>
          <a:p>
            <a:pPr marL="342900" indent="-342900">
              <a:buSzPct val="100000"/>
              <a:buChar char="•"/>
            </a:pPr>
            <a:r>
              <a:rPr lang="en-US" sz="1200" dirty="0">
                <a:solidFill>
                  <a:srgbClr val="0D1B2A"/>
                </a:solidFill>
              </a:rPr>
              <a:t>Team has experience to build &amp; tune modules</a:t>
            </a:r>
            <a:endParaRPr lang="en-US" sz="1200" dirty="0"/>
          </a:p>
          <a:p>
            <a:pPr marL="342900" indent="-342900">
              <a:buSzPct val="100000"/>
              <a:buChar char="•"/>
            </a:pPr>
            <a:r>
              <a:rPr lang="en-US" sz="1200" dirty="0">
                <a:solidFill>
                  <a:srgbClr val="0D1B2A"/>
                </a:solidFill>
              </a:rPr>
              <a:t>Competing at high-level events (District/Worlds)</a:t>
            </a:r>
            <a:endParaRPr lang="en-US" sz="1200" dirty="0"/>
          </a:p>
        </p:txBody>
      </p:sp>
      <p:sp>
        <p:nvSpPr>
          <p:cNvPr id="11" name="Shape 9"/>
          <p:cNvSpPr/>
          <p:nvPr/>
        </p:nvSpPr>
        <p:spPr>
          <a:xfrm>
            <a:off x="4846320" y="1572768"/>
            <a:ext cx="182880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846320" y="1572768"/>
            <a:ext cx="1828800" cy="292608"/>
          </a:xfrm>
          <a:prstGeom prst="rect">
            <a:avLst/>
          </a:prstGeom>
          <a:solidFill>
            <a:srgbClr val="3A6BC4"/>
          </a:solidFill>
          <a:ln w="12700">
            <a:solidFill>
              <a:srgbClr val="3A6BC4"/>
            </a:solidFill>
            <a:prstDash val="solid"/>
          </a:ln>
        </p:spPr>
      </p:sp>
      <p:sp>
        <p:nvSpPr>
          <p:cNvPr id="13" name="Text 11"/>
          <p:cNvSpPr/>
          <p:nvPr/>
        </p:nvSpPr>
        <p:spPr>
          <a:xfrm>
            <a:off x="4937760" y="1572768"/>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TYPICAL CONFIG</a:t>
            </a:r>
            <a:endParaRPr lang="en-US" sz="1000" dirty="0"/>
          </a:p>
        </p:txBody>
      </p:sp>
      <p:sp>
        <p:nvSpPr>
          <p:cNvPr id="14" name="Text 12"/>
          <p:cNvSpPr/>
          <p:nvPr/>
        </p:nvSpPr>
        <p:spPr>
          <a:xfrm>
            <a:off x="4937760" y="1920240"/>
            <a:ext cx="1645920" cy="649224"/>
          </a:xfrm>
          <a:prstGeom prst="rect">
            <a:avLst/>
          </a:prstGeom>
          <a:noFill/>
          <a:ln/>
        </p:spPr>
        <p:txBody>
          <a:bodyPr wrap="square" lIns="0" tIns="0" rIns="0" bIns="0" rtlCol="0" anchor="t"/>
          <a:lstStyle/>
          <a:p>
            <a:pPr algn="ctr" indent="0" marL="0">
              <a:buNone/>
            </a:pPr>
            <a:r>
              <a:rPr lang="en-US" sz="1100" dirty="0">
                <a:solidFill>
                  <a:srgbClr val="0D1B2A"/>
                </a:solidFill>
              </a:rPr>
              <a:t>SDS MK4i / REV</a:t>
            </a:r>
            <a:endParaRPr lang="en-US" sz="1100" dirty="0"/>
          </a:p>
          <a:p>
            <a:pPr algn="ctr" indent="0" marL="0">
              <a:buNone/>
            </a:pPr>
            <a:r>
              <a:rPr lang="en-US" sz="1100" dirty="0">
                <a:solidFill>
                  <a:srgbClr val="0D1B2A"/>
                </a:solidFill>
              </a:rPr>
              <a:t>4 modules, 2 motors ea.</a:t>
            </a:r>
            <a:endParaRPr lang="en-US" sz="1100" dirty="0"/>
          </a:p>
        </p:txBody>
      </p:sp>
      <p:sp>
        <p:nvSpPr>
          <p:cNvPr id="15" name="Shape 13"/>
          <p:cNvSpPr/>
          <p:nvPr/>
        </p:nvSpPr>
        <p:spPr>
          <a:xfrm>
            <a:off x="6812280" y="1572768"/>
            <a:ext cx="187452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6812280" y="1572768"/>
            <a:ext cx="1874520" cy="292608"/>
          </a:xfrm>
          <a:prstGeom prst="rect">
            <a:avLst/>
          </a:prstGeom>
          <a:solidFill>
            <a:srgbClr val="3A6BC4"/>
          </a:solidFill>
          <a:ln w="12700">
            <a:solidFill>
              <a:srgbClr val="3A6BC4"/>
            </a:solidFill>
            <a:prstDash val="solid"/>
          </a:ln>
        </p:spPr>
      </p:sp>
      <p:sp>
        <p:nvSpPr>
          <p:cNvPr id="17" name="Text 15"/>
          <p:cNvSpPr/>
          <p:nvPr/>
        </p:nvSpPr>
        <p:spPr>
          <a:xfrm>
            <a:off x="6903720" y="1572768"/>
            <a:ext cx="1691640" cy="292608"/>
          </a:xfrm>
          <a:prstGeom prst="rect">
            <a:avLst/>
          </a:prstGeom>
          <a:noFill/>
          <a:ln/>
        </p:spPr>
        <p:txBody>
          <a:bodyPr wrap="square" lIns="0" tIns="0" rIns="0" bIns="0" rtlCol="0" anchor="ctr"/>
          <a:lstStyle/>
          <a:p>
            <a:pPr algn="ctr" indent="0" marL="0">
              <a:buNone/>
            </a:pPr>
            <a:r>
              <a:rPr lang="en-US" sz="1000" b="1" dirty="0">
                <a:solidFill>
                  <a:srgbClr val="FFFFFF"/>
                </a:solidFill>
              </a:rPr>
              <a:t>EXPERIENCE LEVEL</a:t>
            </a:r>
            <a:endParaRPr lang="en-US" sz="1000" dirty="0"/>
          </a:p>
        </p:txBody>
      </p:sp>
      <p:sp>
        <p:nvSpPr>
          <p:cNvPr id="18" name="Text 16"/>
          <p:cNvSpPr/>
          <p:nvPr/>
        </p:nvSpPr>
        <p:spPr>
          <a:xfrm>
            <a:off x="6903720" y="1920240"/>
            <a:ext cx="1691640" cy="649224"/>
          </a:xfrm>
          <a:prstGeom prst="rect">
            <a:avLst/>
          </a:prstGeom>
          <a:noFill/>
          <a:ln/>
        </p:spPr>
        <p:txBody>
          <a:bodyPr wrap="square" lIns="0" tIns="0" rIns="0" bIns="0" rtlCol="0" anchor="t"/>
          <a:lstStyle/>
          <a:p>
            <a:pPr algn="ctr" indent="0" marL="0">
              <a:buNone/>
            </a:pPr>
            <a:r>
              <a:rPr lang="en-US" sz="1100" dirty="0">
                <a:solidFill>
                  <a:srgbClr val="0D1B2A"/>
                </a:solidFill>
              </a:rPr>
              <a:t>Advanced</a:t>
            </a:r>
            <a:endParaRPr lang="en-US" sz="1100" dirty="0"/>
          </a:p>
        </p:txBody>
      </p:sp>
      <p:sp>
        <p:nvSpPr>
          <p:cNvPr id="19" name="Shape 17"/>
          <p:cNvSpPr/>
          <p:nvPr/>
        </p:nvSpPr>
        <p:spPr>
          <a:xfrm>
            <a:off x="457200" y="2743200"/>
            <a:ext cx="4046220" cy="2148840"/>
          </a:xfrm>
          <a:prstGeom prst="rect">
            <a:avLst/>
          </a:prstGeom>
          <a:solidFill>
            <a:srgbClr val="E8F5E9"/>
          </a:solidFill>
          <a:ln w="19050">
            <a:solidFill>
              <a:srgbClr val="81C784"/>
            </a:solidFill>
            <a:prstDash val="solid"/>
          </a:ln>
        </p:spPr>
      </p:sp>
      <p:sp>
        <p:nvSpPr>
          <p:cNvPr id="20" name="Shape 18"/>
          <p:cNvSpPr/>
          <p:nvPr/>
        </p:nvSpPr>
        <p:spPr>
          <a:xfrm>
            <a:off x="457200" y="2743200"/>
            <a:ext cx="4046220" cy="347472"/>
          </a:xfrm>
          <a:prstGeom prst="rect">
            <a:avLst/>
          </a:prstGeom>
          <a:solidFill>
            <a:srgbClr val="388E3C"/>
          </a:solidFill>
          <a:ln w="12700">
            <a:solidFill>
              <a:srgbClr val="388E3C"/>
            </a:solidFill>
            <a:prstDash val="solid"/>
          </a:ln>
        </p:spPr>
      </p:sp>
      <p:sp>
        <p:nvSpPr>
          <p:cNvPr id="21" name="Text 19"/>
          <p:cNvSpPr/>
          <p:nvPr/>
        </p:nvSpPr>
        <p:spPr>
          <a:xfrm>
            <a:off x="45720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PROS</a:t>
            </a:r>
            <a:endParaRPr lang="en-US" sz="1200" dirty="0"/>
          </a:p>
        </p:txBody>
      </p:sp>
      <p:sp>
        <p:nvSpPr>
          <p:cNvPr id="22" name="Text 20"/>
          <p:cNvSpPr/>
          <p:nvPr/>
        </p:nvSpPr>
        <p:spPr>
          <a:xfrm>
            <a:off x="548640" y="3154680"/>
            <a:ext cx="3863340" cy="1645920"/>
          </a:xfrm>
          <a:prstGeom prst="rect">
            <a:avLst/>
          </a:prstGeom>
          <a:noFill/>
          <a:ln/>
        </p:spPr>
        <p:txBody>
          <a:bodyPr wrap="square" rtlCol="0" anchor="ctr"/>
          <a:lstStyle/>
          <a:p>
            <a:pPr marL="342900" indent="-342900">
              <a:buSzPct val="100000"/>
              <a:buChar char="•"/>
            </a:pPr>
            <a:r>
              <a:rPr lang="en-US" sz="1200" dirty="0">
                <a:solidFill>
                  <a:srgbClr val="1B3A1C"/>
                </a:solidFill>
              </a:rPr>
              <a:t>Full omnidirectional movement + full traction</a:t>
            </a:r>
            <a:endParaRPr lang="en-US" sz="1200" dirty="0"/>
          </a:p>
          <a:p>
            <a:pPr marL="342900" indent="-342900">
              <a:buSzPct val="100000"/>
              <a:buChar char="•"/>
            </a:pPr>
            <a:r>
              <a:rPr lang="en-US" sz="1200" dirty="0">
                <a:solidFill>
                  <a:srgbClr val="1B3A1C"/>
                </a:solidFill>
              </a:rPr>
              <a:t>Extremely fast — can outrun any other drive</a:t>
            </a:r>
            <a:endParaRPr lang="en-US" sz="1200" dirty="0"/>
          </a:p>
          <a:p>
            <a:pPr marL="342900" indent="-342900">
              <a:buSzPct val="100000"/>
              <a:buChar char="•"/>
            </a:pPr>
            <a:r>
              <a:rPr lang="en-US" sz="1200" dirty="0">
                <a:solidFill>
                  <a:srgbClr val="1B3A1C"/>
                </a:solidFill>
              </a:rPr>
              <a:t>Dominant in open-field games &amp; auto routines</a:t>
            </a:r>
            <a:endParaRPr lang="en-US" sz="1200" dirty="0"/>
          </a:p>
          <a:p>
            <a:pPr marL="342900" indent="-342900">
              <a:buSzPct val="100000"/>
              <a:buChar char="•"/>
            </a:pPr>
            <a:r>
              <a:rPr lang="en-US" sz="1200" dirty="0">
                <a:solidFill>
                  <a:srgbClr val="1B3A1C"/>
                </a:solidFill>
              </a:rPr>
              <a:t>Modular — single bad module is replaceable</a:t>
            </a:r>
            <a:endParaRPr lang="en-US" sz="1200" dirty="0"/>
          </a:p>
        </p:txBody>
      </p:sp>
      <p:sp>
        <p:nvSpPr>
          <p:cNvPr id="23" name="Shape 21"/>
          <p:cNvSpPr/>
          <p:nvPr/>
        </p:nvSpPr>
        <p:spPr>
          <a:xfrm>
            <a:off x="4640580" y="2743200"/>
            <a:ext cx="4046220" cy="2148840"/>
          </a:xfrm>
          <a:prstGeom prst="rect">
            <a:avLst/>
          </a:prstGeom>
          <a:solidFill>
            <a:srgbClr val="FFEBEE"/>
          </a:solidFill>
          <a:ln w="19050">
            <a:solidFill>
              <a:srgbClr val="E57373"/>
            </a:solidFill>
            <a:prstDash val="solid"/>
          </a:ln>
        </p:spPr>
      </p:sp>
      <p:sp>
        <p:nvSpPr>
          <p:cNvPr id="24" name="Shape 22"/>
          <p:cNvSpPr/>
          <p:nvPr/>
        </p:nvSpPr>
        <p:spPr>
          <a:xfrm>
            <a:off x="4640580" y="2743200"/>
            <a:ext cx="4046220" cy="347472"/>
          </a:xfrm>
          <a:prstGeom prst="rect">
            <a:avLst/>
          </a:prstGeom>
          <a:solidFill>
            <a:srgbClr val="C62828"/>
          </a:solidFill>
          <a:ln w="12700">
            <a:solidFill>
              <a:srgbClr val="C62828"/>
            </a:solidFill>
            <a:prstDash val="solid"/>
          </a:ln>
        </p:spPr>
      </p:sp>
      <p:sp>
        <p:nvSpPr>
          <p:cNvPr id="25" name="Text 23"/>
          <p:cNvSpPr/>
          <p:nvPr/>
        </p:nvSpPr>
        <p:spPr>
          <a:xfrm>
            <a:off x="464058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CONS</a:t>
            </a:r>
            <a:endParaRPr lang="en-US" sz="1200" dirty="0"/>
          </a:p>
        </p:txBody>
      </p:sp>
      <p:sp>
        <p:nvSpPr>
          <p:cNvPr id="26" name="Text 24"/>
          <p:cNvSpPr/>
          <p:nvPr/>
        </p:nvSpPr>
        <p:spPr>
          <a:xfrm>
            <a:off x="4732020" y="3154680"/>
            <a:ext cx="3863340" cy="1645920"/>
          </a:xfrm>
          <a:prstGeom prst="rect">
            <a:avLst/>
          </a:prstGeom>
          <a:noFill/>
          <a:ln/>
        </p:spPr>
        <p:txBody>
          <a:bodyPr wrap="square" rtlCol="0" anchor="ctr"/>
          <a:lstStyle/>
          <a:p>
            <a:pPr marL="342900" indent="-342900">
              <a:buSzPct val="100000"/>
              <a:buChar char="•"/>
            </a:pPr>
            <a:r>
              <a:rPr lang="en-US" sz="1200" dirty="0">
                <a:solidFill>
                  <a:srgbClr val="4A0000"/>
                </a:solidFill>
              </a:rPr>
              <a:t>Very expensive ($800–$1500+ for modules alone)</a:t>
            </a:r>
            <a:endParaRPr lang="en-US" sz="1200" dirty="0"/>
          </a:p>
          <a:p>
            <a:pPr marL="342900" indent="-342900">
              <a:buSzPct val="100000"/>
              <a:buChar char="•"/>
            </a:pPr>
            <a:r>
              <a:rPr lang="en-US" sz="1200" dirty="0">
                <a:solidFill>
                  <a:srgbClr val="4A0000"/>
                </a:solidFill>
              </a:rPr>
              <a:t>Complex programming — requires odometry &amp; PID</a:t>
            </a:r>
            <a:endParaRPr lang="en-US" sz="1200" dirty="0"/>
          </a:p>
          <a:p>
            <a:pPr marL="342900" indent="-342900">
              <a:buSzPct val="100000"/>
              <a:buChar char="•"/>
            </a:pPr>
            <a:r>
              <a:rPr lang="en-US" sz="1200" dirty="0">
                <a:solidFill>
                  <a:srgbClr val="4A0000"/>
                </a:solidFill>
              </a:rPr>
              <a:t>High build skill required — tolerances are tight</a:t>
            </a:r>
            <a:endParaRPr lang="en-US" sz="1200" dirty="0"/>
          </a:p>
          <a:p>
            <a:pPr marL="342900" indent="-342900">
              <a:buSzPct val="100000"/>
              <a:buChar char="•"/>
            </a:pPr>
            <a:r>
              <a:rPr lang="en-US" sz="1200" dirty="0">
                <a:solidFill>
                  <a:srgbClr val="4A0000"/>
                </a:solidFill>
              </a:rPr>
              <a:t>More failure points; heavier than simpler drives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H-Drive &amp; Omni Variants</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DRIVE BASE</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640080"/>
          </a:xfrm>
          <a:prstGeom prst="rect">
            <a:avLst/>
          </a:prstGeom>
          <a:noFill/>
          <a:ln/>
        </p:spPr>
        <p:txBody>
          <a:bodyPr wrap="square" lIns="0" tIns="0" rIns="0" bIns="0" rtlCol="0" anchor="ctr"/>
          <a:lstStyle/>
          <a:p>
            <a:pPr indent="0" marL="0">
              <a:buNone/>
            </a:pPr>
            <a:r>
              <a:rPr lang="en-US" sz="1300" dirty="0">
                <a:solidFill>
                  <a:srgbClr val="5B6B80"/>
                </a:solidFill>
              </a:rPr>
              <a:t>H-Drive adds a center omni wheel perpendicular to the main drive axis. A simpler alternative to mecanum for basic strafing. Other variants include butterfly drive (switchable contact) and kiwi drive.</a:t>
            </a:r>
            <a:endParaRPr lang="en-US" sz="1300" dirty="0"/>
          </a:p>
        </p:txBody>
      </p:sp>
      <p:sp>
        <p:nvSpPr>
          <p:cNvPr id="8" name="Shape 6"/>
          <p:cNvSpPr/>
          <p:nvPr/>
        </p:nvSpPr>
        <p:spPr>
          <a:xfrm>
            <a:off x="457200" y="1572768"/>
            <a:ext cx="420624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9000"/>
              </a:srgbClr>
            </a:outerShdw>
          </a:effectLst>
        </p:spPr>
      </p:sp>
      <p:sp>
        <p:nvSpPr>
          <p:cNvPr id="9" name="Text 7"/>
          <p:cNvSpPr/>
          <p:nvPr/>
        </p:nvSpPr>
        <p:spPr>
          <a:xfrm>
            <a:off x="640080" y="1664208"/>
            <a:ext cx="3840480" cy="274320"/>
          </a:xfrm>
          <a:prstGeom prst="rect">
            <a:avLst/>
          </a:prstGeom>
          <a:noFill/>
          <a:ln/>
        </p:spPr>
        <p:txBody>
          <a:bodyPr wrap="square" lIns="0" tIns="0" rIns="0" bIns="0" rtlCol="0" anchor="ctr"/>
          <a:lstStyle/>
          <a:p>
            <a:pPr indent="0" marL="0">
              <a:buNone/>
            </a:pPr>
            <a:r>
              <a:rPr lang="en-US" sz="1100" b="1" dirty="0">
                <a:solidFill>
                  <a:srgbClr val="3A6BC4"/>
                </a:solidFill>
              </a:rPr>
              <a:t>BEST USED WHEN…</a:t>
            </a:r>
            <a:endParaRPr lang="en-US" sz="1100" dirty="0"/>
          </a:p>
        </p:txBody>
      </p:sp>
      <p:sp>
        <p:nvSpPr>
          <p:cNvPr id="10" name="Text 8"/>
          <p:cNvSpPr/>
          <p:nvPr/>
        </p:nvSpPr>
        <p:spPr>
          <a:xfrm>
            <a:off x="640080" y="1993392"/>
            <a:ext cx="3840480" cy="548640"/>
          </a:xfrm>
          <a:prstGeom prst="rect">
            <a:avLst/>
          </a:prstGeom>
          <a:noFill/>
          <a:ln/>
        </p:spPr>
        <p:txBody>
          <a:bodyPr wrap="square" rtlCol="0" anchor="ctr"/>
          <a:lstStyle/>
          <a:p>
            <a:pPr marL="342900" indent="-342900">
              <a:buSzPct val="100000"/>
              <a:buChar char="•"/>
            </a:pPr>
            <a:r>
              <a:rPr lang="en-US" sz="1200" dirty="0">
                <a:solidFill>
                  <a:srgbClr val="0D1B2A"/>
                </a:solidFill>
              </a:rPr>
              <a:t>A simpler strafe option is needed over mecanum</a:t>
            </a:r>
            <a:endParaRPr lang="en-US" sz="1200" dirty="0"/>
          </a:p>
          <a:p>
            <a:pPr marL="342900" indent="-342900">
              <a:buSzPct val="100000"/>
              <a:buChar char="•"/>
            </a:pPr>
            <a:r>
              <a:rPr lang="en-US" sz="1200" dirty="0">
                <a:solidFill>
                  <a:srgbClr val="0D1B2A"/>
                </a:solidFill>
              </a:rPr>
              <a:t>Weight or budget limits a full swerve build</a:t>
            </a:r>
            <a:endParaRPr lang="en-US" sz="1200" dirty="0"/>
          </a:p>
          <a:p>
            <a:pPr marL="342900" indent="-342900">
              <a:buSzPct val="100000"/>
              <a:buChar char="•"/>
            </a:pPr>
            <a:r>
              <a:rPr lang="en-US" sz="1200" dirty="0">
                <a:solidFill>
                  <a:srgbClr val="0D1B2A"/>
                </a:solidFill>
              </a:rPr>
              <a:t>Lateral movement needed only occasionally</a:t>
            </a:r>
            <a:endParaRPr lang="en-US" sz="1200" dirty="0"/>
          </a:p>
        </p:txBody>
      </p:sp>
      <p:sp>
        <p:nvSpPr>
          <p:cNvPr id="11" name="Shape 9"/>
          <p:cNvSpPr/>
          <p:nvPr/>
        </p:nvSpPr>
        <p:spPr>
          <a:xfrm>
            <a:off x="4846320" y="1572768"/>
            <a:ext cx="182880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846320" y="1572768"/>
            <a:ext cx="1828800" cy="292608"/>
          </a:xfrm>
          <a:prstGeom prst="rect">
            <a:avLst/>
          </a:prstGeom>
          <a:solidFill>
            <a:srgbClr val="3A6BC4"/>
          </a:solidFill>
          <a:ln w="12700">
            <a:solidFill>
              <a:srgbClr val="3A6BC4"/>
            </a:solidFill>
            <a:prstDash val="solid"/>
          </a:ln>
        </p:spPr>
      </p:sp>
      <p:sp>
        <p:nvSpPr>
          <p:cNvPr id="13" name="Text 11"/>
          <p:cNvSpPr/>
          <p:nvPr/>
        </p:nvSpPr>
        <p:spPr>
          <a:xfrm>
            <a:off x="4937760" y="1572768"/>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TYPICAL CONFIG</a:t>
            </a:r>
            <a:endParaRPr lang="en-US" sz="1000" dirty="0"/>
          </a:p>
        </p:txBody>
      </p:sp>
      <p:sp>
        <p:nvSpPr>
          <p:cNvPr id="14" name="Text 12"/>
          <p:cNvSpPr/>
          <p:nvPr/>
        </p:nvSpPr>
        <p:spPr>
          <a:xfrm>
            <a:off x="4937760" y="1920240"/>
            <a:ext cx="1645920" cy="649224"/>
          </a:xfrm>
          <a:prstGeom prst="rect">
            <a:avLst/>
          </a:prstGeom>
          <a:noFill/>
          <a:ln/>
        </p:spPr>
        <p:txBody>
          <a:bodyPr wrap="square" lIns="0" tIns="0" rIns="0" bIns="0" rtlCol="0" anchor="t"/>
          <a:lstStyle/>
          <a:p>
            <a:pPr algn="ctr" indent="0" marL="0">
              <a:buNone/>
            </a:pPr>
            <a:r>
              <a:rPr lang="en-US" sz="1100" dirty="0">
                <a:solidFill>
                  <a:srgbClr val="0D1B2A"/>
                </a:solidFill>
              </a:rPr>
              <a:t>4 traction + 1 center omni</a:t>
            </a:r>
            <a:endParaRPr lang="en-US" sz="1100" dirty="0"/>
          </a:p>
          <a:p>
            <a:pPr algn="ctr" indent="0" marL="0">
              <a:buNone/>
            </a:pPr>
            <a:r>
              <a:rPr lang="en-US" sz="1100" dirty="0">
                <a:solidFill>
                  <a:srgbClr val="0D1B2A"/>
                </a:solidFill>
              </a:rPr>
              <a:t>Single strafe motor</a:t>
            </a:r>
            <a:endParaRPr lang="en-US" sz="1100" dirty="0"/>
          </a:p>
        </p:txBody>
      </p:sp>
      <p:sp>
        <p:nvSpPr>
          <p:cNvPr id="15" name="Shape 13"/>
          <p:cNvSpPr/>
          <p:nvPr/>
        </p:nvSpPr>
        <p:spPr>
          <a:xfrm>
            <a:off x="6812280" y="1572768"/>
            <a:ext cx="187452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6812280" y="1572768"/>
            <a:ext cx="1874520" cy="292608"/>
          </a:xfrm>
          <a:prstGeom prst="rect">
            <a:avLst/>
          </a:prstGeom>
          <a:solidFill>
            <a:srgbClr val="3A6BC4"/>
          </a:solidFill>
          <a:ln w="12700">
            <a:solidFill>
              <a:srgbClr val="3A6BC4"/>
            </a:solidFill>
            <a:prstDash val="solid"/>
          </a:ln>
        </p:spPr>
      </p:sp>
      <p:sp>
        <p:nvSpPr>
          <p:cNvPr id="17" name="Text 15"/>
          <p:cNvSpPr/>
          <p:nvPr/>
        </p:nvSpPr>
        <p:spPr>
          <a:xfrm>
            <a:off x="6903720" y="1572768"/>
            <a:ext cx="1691640" cy="292608"/>
          </a:xfrm>
          <a:prstGeom prst="rect">
            <a:avLst/>
          </a:prstGeom>
          <a:noFill/>
          <a:ln/>
        </p:spPr>
        <p:txBody>
          <a:bodyPr wrap="square" lIns="0" tIns="0" rIns="0" bIns="0" rtlCol="0" anchor="ctr"/>
          <a:lstStyle/>
          <a:p>
            <a:pPr algn="ctr" indent="0" marL="0">
              <a:buNone/>
            </a:pPr>
            <a:r>
              <a:rPr lang="en-US" sz="1000" b="1" dirty="0">
                <a:solidFill>
                  <a:srgbClr val="FFFFFF"/>
                </a:solidFill>
              </a:rPr>
              <a:t>EXPERIENCE LEVEL</a:t>
            </a:r>
            <a:endParaRPr lang="en-US" sz="1000" dirty="0"/>
          </a:p>
        </p:txBody>
      </p:sp>
      <p:sp>
        <p:nvSpPr>
          <p:cNvPr id="18" name="Text 16"/>
          <p:cNvSpPr/>
          <p:nvPr/>
        </p:nvSpPr>
        <p:spPr>
          <a:xfrm>
            <a:off x="6903720" y="1920240"/>
            <a:ext cx="1691640" cy="649224"/>
          </a:xfrm>
          <a:prstGeom prst="rect">
            <a:avLst/>
          </a:prstGeom>
          <a:noFill/>
          <a:ln/>
        </p:spPr>
        <p:txBody>
          <a:bodyPr wrap="square" lIns="0" tIns="0" rIns="0" bIns="0" rtlCol="0" anchor="t"/>
          <a:lstStyle/>
          <a:p>
            <a:pPr algn="ctr" indent="0" marL="0">
              <a:buNone/>
            </a:pPr>
            <a:r>
              <a:rPr lang="en-US" sz="1100" dirty="0">
                <a:solidFill>
                  <a:srgbClr val="0D1B2A"/>
                </a:solidFill>
              </a:rPr>
              <a:t>Intermediate</a:t>
            </a:r>
            <a:endParaRPr lang="en-US" sz="1100" dirty="0"/>
          </a:p>
        </p:txBody>
      </p:sp>
      <p:sp>
        <p:nvSpPr>
          <p:cNvPr id="19" name="Shape 17"/>
          <p:cNvSpPr/>
          <p:nvPr/>
        </p:nvSpPr>
        <p:spPr>
          <a:xfrm>
            <a:off x="457200" y="2743200"/>
            <a:ext cx="4046220" cy="2148840"/>
          </a:xfrm>
          <a:prstGeom prst="rect">
            <a:avLst/>
          </a:prstGeom>
          <a:solidFill>
            <a:srgbClr val="E8F5E9"/>
          </a:solidFill>
          <a:ln w="19050">
            <a:solidFill>
              <a:srgbClr val="81C784"/>
            </a:solidFill>
            <a:prstDash val="solid"/>
          </a:ln>
        </p:spPr>
      </p:sp>
      <p:sp>
        <p:nvSpPr>
          <p:cNvPr id="20" name="Shape 18"/>
          <p:cNvSpPr/>
          <p:nvPr/>
        </p:nvSpPr>
        <p:spPr>
          <a:xfrm>
            <a:off x="457200" y="2743200"/>
            <a:ext cx="4046220" cy="347472"/>
          </a:xfrm>
          <a:prstGeom prst="rect">
            <a:avLst/>
          </a:prstGeom>
          <a:solidFill>
            <a:srgbClr val="388E3C"/>
          </a:solidFill>
          <a:ln w="12700">
            <a:solidFill>
              <a:srgbClr val="388E3C"/>
            </a:solidFill>
            <a:prstDash val="solid"/>
          </a:ln>
        </p:spPr>
      </p:sp>
      <p:sp>
        <p:nvSpPr>
          <p:cNvPr id="21" name="Text 19"/>
          <p:cNvSpPr/>
          <p:nvPr/>
        </p:nvSpPr>
        <p:spPr>
          <a:xfrm>
            <a:off x="45720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PROS</a:t>
            </a:r>
            <a:endParaRPr lang="en-US" sz="1200" dirty="0"/>
          </a:p>
        </p:txBody>
      </p:sp>
      <p:sp>
        <p:nvSpPr>
          <p:cNvPr id="22" name="Text 20"/>
          <p:cNvSpPr/>
          <p:nvPr/>
        </p:nvSpPr>
        <p:spPr>
          <a:xfrm>
            <a:off x="548640" y="3154680"/>
            <a:ext cx="3863340" cy="1645920"/>
          </a:xfrm>
          <a:prstGeom prst="rect">
            <a:avLst/>
          </a:prstGeom>
          <a:noFill/>
          <a:ln/>
        </p:spPr>
        <p:txBody>
          <a:bodyPr wrap="square" rtlCol="0" anchor="ctr"/>
          <a:lstStyle/>
          <a:p>
            <a:pPr marL="342900" indent="-342900">
              <a:buSzPct val="100000"/>
              <a:buChar char="•"/>
            </a:pPr>
            <a:r>
              <a:rPr lang="en-US" sz="1200" dirty="0">
                <a:solidFill>
                  <a:srgbClr val="1B3A1C"/>
                </a:solidFill>
              </a:rPr>
              <a:t>Adds strafing without full holonomic complexity</a:t>
            </a:r>
            <a:endParaRPr lang="en-US" sz="1200" dirty="0"/>
          </a:p>
          <a:p>
            <a:pPr marL="342900" indent="-342900">
              <a:buSzPct val="100000"/>
              <a:buChar char="•"/>
            </a:pPr>
            <a:r>
              <a:rPr lang="en-US" sz="1200" dirty="0">
                <a:solidFill>
                  <a:srgbClr val="1B3A1C"/>
                </a:solidFill>
              </a:rPr>
              <a:t>Retains good forward pushing force</a:t>
            </a:r>
            <a:endParaRPr lang="en-US" sz="1200" dirty="0"/>
          </a:p>
          <a:p>
            <a:pPr marL="342900" indent="-342900">
              <a:buSzPct val="100000"/>
              <a:buChar char="•"/>
            </a:pPr>
            <a:r>
              <a:rPr lang="en-US" sz="1200" dirty="0">
                <a:solidFill>
                  <a:srgbClr val="1B3A1C"/>
                </a:solidFill>
              </a:rPr>
              <a:t>Simpler than mecanum wheel timing</a:t>
            </a:r>
            <a:endParaRPr lang="en-US" sz="1200" dirty="0"/>
          </a:p>
          <a:p>
            <a:pPr marL="342900" indent="-342900">
              <a:buSzPct val="100000"/>
              <a:buChar char="•"/>
            </a:pPr>
            <a:r>
              <a:rPr lang="en-US" sz="1200" dirty="0">
                <a:solidFill>
                  <a:srgbClr val="1B3A1C"/>
                </a:solidFill>
              </a:rPr>
              <a:t>Low cost strafe upgrade to a tank base</a:t>
            </a:r>
            <a:endParaRPr lang="en-US" sz="1200" dirty="0"/>
          </a:p>
        </p:txBody>
      </p:sp>
      <p:sp>
        <p:nvSpPr>
          <p:cNvPr id="23" name="Shape 21"/>
          <p:cNvSpPr/>
          <p:nvPr/>
        </p:nvSpPr>
        <p:spPr>
          <a:xfrm>
            <a:off x="4640580" y="2743200"/>
            <a:ext cx="4046220" cy="2148840"/>
          </a:xfrm>
          <a:prstGeom prst="rect">
            <a:avLst/>
          </a:prstGeom>
          <a:solidFill>
            <a:srgbClr val="FFEBEE"/>
          </a:solidFill>
          <a:ln w="19050">
            <a:solidFill>
              <a:srgbClr val="E57373"/>
            </a:solidFill>
            <a:prstDash val="solid"/>
          </a:ln>
        </p:spPr>
      </p:sp>
      <p:sp>
        <p:nvSpPr>
          <p:cNvPr id="24" name="Shape 22"/>
          <p:cNvSpPr/>
          <p:nvPr/>
        </p:nvSpPr>
        <p:spPr>
          <a:xfrm>
            <a:off x="4640580" y="2743200"/>
            <a:ext cx="4046220" cy="347472"/>
          </a:xfrm>
          <a:prstGeom prst="rect">
            <a:avLst/>
          </a:prstGeom>
          <a:solidFill>
            <a:srgbClr val="C62828"/>
          </a:solidFill>
          <a:ln w="12700">
            <a:solidFill>
              <a:srgbClr val="C62828"/>
            </a:solidFill>
            <a:prstDash val="solid"/>
          </a:ln>
        </p:spPr>
      </p:sp>
      <p:sp>
        <p:nvSpPr>
          <p:cNvPr id="25" name="Text 23"/>
          <p:cNvSpPr/>
          <p:nvPr/>
        </p:nvSpPr>
        <p:spPr>
          <a:xfrm>
            <a:off x="4640580" y="2743200"/>
            <a:ext cx="4046220" cy="347472"/>
          </a:xfrm>
          <a:prstGeom prst="rect">
            <a:avLst/>
          </a:prstGeom>
          <a:noFill/>
          <a:ln/>
        </p:spPr>
        <p:txBody>
          <a:bodyPr wrap="square" lIns="0" tIns="0" rIns="0" bIns="0" rtlCol="0" anchor="ctr"/>
          <a:lstStyle/>
          <a:p>
            <a:pPr algn="ctr" indent="0" marL="0">
              <a:buNone/>
            </a:pPr>
            <a:r>
              <a:rPr lang="en-US" sz="1200" b="1" dirty="0">
                <a:solidFill>
                  <a:srgbClr val="FFFFFF"/>
                </a:solidFill>
              </a:rPr>
              <a:t>✗  CONS</a:t>
            </a:r>
            <a:endParaRPr lang="en-US" sz="1200" dirty="0"/>
          </a:p>
        </p:txBody>
      </p:sp>
      <p:sp>
        <p:nvSpPr>
          <p:cNvPr id="26" name="Text 24"/>
          <p:cNvSpPr/>
          <p:nvPr/>
        </p:nvSpPr>
        <p:spPr>
          <a:xfrm>
            <a:off x="4732020" y="3154680"/>
            <a:ext cx="3863340" cy="1645920"/>
          </a:xfrm>
          <a:prstGeom prst="rect">
            <a:avLst/>
          </a:prstGeom>
          <a:noFill/>
          <a:ln/>
        </p:spPr>
        <p:txBody>
          <a:bodyPr wrap="square" rtlCol="0" anchor="ctr"/>
          <a:lstStyle/>
          <a:p>
            <a:pPr marL="342900" indent="-342900">
              <a:buSzPct val="100000"/>
              <a:buChar char="•"/>
            </a:pPr>
            <a:r>
              <a:rPr lang="en-US" sz="1200" dirty="0">
                <a:solidFill>
                  <a:srgbClr val="4A0000"/>
                </a:solidFill>
              </a:rPr>
              <a:t>Center wheel must be perfectly weighted to contact</a:t>
            </a:r>
            <a:endParaRPr lang="en-US" sz="1200" dirty="0"/>
          </a:p>
          <a:p>
            <a:pPr marL="342900" indent="-342900">
              <a:buSzPct val="100000"/>
              <a:buChar char="•"/>
            </a:pPr>
            <a:r>
              <a:rPr lang="en-US" sz="1200" dirty="0">
                <a:solidFill>
                  <a:srgbClr val="4A0000"/>
                </a:solidFill>
              </a:rPr>
              <a:t>Strafing power limited to center wheel</a:t>
            </a:r>
            <a:endParaRPr lang="en-US" sz="1200" dirty="0"/>
          </a:p>
          <a:p>
            <a:pPr marL="342900" indent="-342900">
              <a:buSzPct val="100000"/>
              <a:buChar char="•"/>
            </a:pPr>
            <a:r>
              <a:rPr lang="en-US" sz="1200" dirty="0">
                <a:solidFill>
                  <a:srgbClr val="4A0000"/>
                </a:solidFill>
              </a:rPr>
              <a:t>Still inferior agility vs. swerve or mecanum</a:t>
            </a:r>
            <a:endParaRPr lang="en-US" sz="1200" dirty="0"/>
          </a:p>
          <a:p>
            <a:pPr marL="342900" indent="-342900">
              <a:buSzPct val="100000"/>
              <a:buChar char="•"/>
            </a:pPr>
            <a:r>
              <a:rPr lang="en-US" sz="1200" dirty="0">
                <a:solidFill>
                  <a:srgbClr val="4A0000"/>
                </a:solidFill>
              </a:rPr>
              <a:t>Rarely seen at high-level competition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Drive Base Comparison</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SUMMARY</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4114800"/>
        </p:xfrm>
        <a:graphic>
          <a:graphicData uri="http://schemas.openxmlformats.org/drawingml/2006/table">
            <a:tbl>
              <a:tblPr/>
              <a:tblGrid>
                <a:gridCol w="1280160"/>
                <a:gridCol w="777240"/>
                <a:gridCol w="1051560"/>
                <a:gridCol w="1051560"/>
                <a:gridCol w="1005840"/>
                <a:gridCol w="685800"/>
                <a:gridCol w="2560320"/>
              </a:tblGrid>
              <a:tr h="685800">
                <a:tc>
                  <a:txBody>
                    <a:bodyPr/>
                    <a:lstStyle/>
                    <a:p>
                      <a:pPr algn="ctr" indent="0" marL="0">
                        <a:buNone/>
                      </a:pPr>
                      <a:r>
                        <a:rPr lang="en-US" sz="1200" b="1" dirty="0">
                          <a:solidFill>
                            <a:srgbClr val="FFFFFF"/>
                          </a:solidFill>
                        </a:rPr>
                        <a:t>Drive Type</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Strafe?</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Push Power</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Agility</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Complexity</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Cost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Best For</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0D1B2A"/>
                    </a:solidFill>
                  </a:tcPr>
                </a:tc>
              </a:tr>
              <a:tr h="685800">
                <a:tc>
                  <a:txBody>
                    <a:bodyPr/>
                    <a:lstStyle/>
                    <a:p>
                      <a:pPr algn="ctr" indent="0" marL="0">
                        <a:buNone/>
                      </a:pPr>
                      <a:r>
                        <a:rPr lang="en-US" sz="1200" dirty="0">
                          <a:solidFill>
                            <a:srgbClr val="0D1B2A"/>
                          </a:solidFill>
                        </a:rPr>
                        <a:t>Tank Drive</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Low</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Defense, new teams</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r>
              <a:tr h="685800">
                <a:tc>
                  <a:txBody>
                    <a:bodyPr/>
                    <a:lstStyle/>
                    <a:p>
                      <a:pPr algn="ctr" indent="0" marL="0">
                        <a:buNone/>
                      </a:pPr>
                      <a:r>
                        <a:rPr lang="en-US" sz="1200" dirty="0">
                          <a:solidFill>
                            <a:srgbClr val="0D1B2A"/>
                          </a:solidFill>
                        </a:rPr>
                        <a:t>WCD</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Med</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Defense + speed</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r>
              <a:tr h="685800">
                <a:tc>
                  <a:txBody>
                    <a:bodyPr/>
                    <a:lstStyle/>
                    <a:p>
                      <a:pPr algn="ctr" indent="0" marL="0">
                        <a:buNone/>
                      </a:pPr>
                      <a:r>
                        <a:rPr lang="en-US" sz="1200" dirty="0">
                          <a:solidFill>
                            <a:srgbClr val="0D1B2A"/>
                          </a:solidFill>
                        </a:rPr>
                        <a:t>Mecanum</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Med</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Precision scoring</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r>
              <a:tr h="685800">
                <a:tc>
                  <a:txBody>
                    <a:bodyPr/>
                    <a:lstStyle/>
                    <a:p>
                      <a:pPr algn="ctr" indent="0" marL="0">
                        <a:buNone/>
                      </a:pPr>
                      <a:r>
                        <a:rPr lang="en-US" sz="1200" dirty="0">
                          <a:solidFill>
                            <a:srgbClr val="0D1B2A"/>
                          </a:solidFill>
                        </a:rPr>
                        <a:t>Swerve</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High</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Open field, elites</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r>
              <a:tr h="685800">
                <a:tc>
                  <a:txBody>
                    <a:bodyPr/>
                    <a:lstStyle/>
                    <a:p>
                      <a:pPr algn="ctr" indent="0" marL="0">
                        <a:buNone/>
                      </a:pPr>
                      <a:r>
                        <a:rPr lang="en-US" sz="1200" dirty="0">
                          <a:solidFill>
                            <a:srgbClr val="0D1B2A"/>
                          </a:solidFill>
                        </a:rPr>
                        <a:t>H-Drive</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Med</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1B2A"/>
                          </a:solidFill>
                        </a:rPr>
                        <a:t>Budget strafe</a:t>
                      </a:r>
                      <a:endParaRPr lang="en-US" sz="1200" dirty="0"/>
                    </a:p>
                  </a:txBody>
                  <a:tcPr marL="91440" marR="91440" marT="45720" marB="45720">
                    <a:lnL w="6350" cap="flat" cmpd="sng" algn="ctr">
                      <a:solidFill>
                        <a:srgbClr val="D8E4F0"/>
                      </a:solidFill>
                      <a:prstDash val="solid"/>
                      <a:round/>
                      <a:headEnd type="none" w="med" len="med"/>
                      <a:tailEnd type="none" w="med" len="med"/>
                    </a:lnL>
                    <a:lnR w="6350" cap="flat" cmpd="sng" algn="ctr">
                      <a:solidFill>
                        <a:srgbClr val="D8E4F0"/>
                      </a:solidFill>
                      <a:prstDash val="solid"/>
                      <a:round/>
                      <a:headEnd type="none" w="med" len="med"/>
                      <a:tailEnd type="none" w="med" len="med"/>
                    </a:lnR>
                    <a:lnT w="6350" cap="flat" cmpd="sng" algn="ctr">
                      <a:solidFill>
                        <a:srgbClr val="D8E4F0"/>
                      </a:solidFill>
                      <a:prstDash val="solid"/>
                      <a:round/>
                      <a:headEnd type="none" w="med" len="med"/>
                      <a:tailEnd type="none" w="med" len="med"/>
                    </a:lnT>
                    <a:lnB w="6350" cap="flat" cmpd="sng" algn="ctr">
                      <a:solidFill>
                        <a:srgbClr val="D8E4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C0A"/>
          </a:solidFill>
          <a:ln w="12700">
            <a:solidFill>
              <a:srgbClr val="E87C0A"/>
            </a:solidFill>
            <a:prstDash val="solid"/>
          </a:ln>
        </p:spPr>
      </p:sp>
      <p:sp>
        <p:nvSpPr>
          <p:cNvPr id="3" name="Shape 1"/>
          <p:cNvSpPr/>
          <p:nvPr/>
        </p:nvSpPr>
        <p:spPr>
          <a:xfrm>
            <a:off x="0" y="5070348"/>
            <a:ext cx="9144000" cy="73152"/>
          </a:xfrm>
          <a:prstGeom prst="rect">
            <a:avLst/>
          </a:prstGeom>
          <a:solidFill>
            <a:srgbClr val="E87C0A"/>
          </a:solidFill>
          <a:ln w="12700">
            <a:solidFill>
              <a:srgbClr val="E87C0A"/>
            </a:solidFill>
            <a:prstDash val="solid"/>
          </a:ln>
        </p:spPr>
      </p:sp>
      <p:sp>
        <p:nvSpPr>
          <p:cNvPr id="4" name="Text 2"/>
          <p:cNvSpPr/>
          <p:nvPr/>
        </p:nvSpPr>
        <p:spPr>
          <a:xfrm>
            <a:off x="914400" y="1463040"/>
            <a:ext cx="7315200" cy="1097280"/>
          </a:xfrm>
          <a:prstGeom prst="rect">
            <a:avLst/>
          </a:prstGeom>
          <a:noFill/>
          <a:ln/>
        </p:spPr>
        <p:txBody>
          <a:bodyPr wrap="square" lIns="0" tIns="0" rIns="0" bIns="0" rtlCol="0" anchor="ctr"/>
          <a:lstStyle/>
          <a:p>
            <a:pPr algn="ctr" indent="0" marL="0">
              <a:buNone/>
            </a:pPr>
            <a:r>
              <a:rPr lang="en-US" sz="4000" b="1" dirty="0">
                <a:solidFill>
                  <a:srgbClr val="FFFFFF"/>
                </a:solidFill>
              </a:rPr>
              <a:t>Common Mechanisms</a:t>
            </a:r>
            <a:endParaRPr lang="en-US" sz="4000" dirty="0"/>
          </a:p>
        </p:txBody>
      </p:sp>
      <p:sp>
        <p:nvSpPr>
          <p:cNvPr id="5" name="Text 3"/>
          <p:cNvSpPr/>
          <p:nvPr/>
        </p:nvSpPr>
        <p:spPr>
          <a:xfrm>
            <a:off x="914400" y="2743200"/>
            <a:ext cx="7315200" cy="731520"/>
          </a:xfrm>
          <a:prstGeom prst="rect">
            <a:avLst/>
          </a:prstGeom>
          <a:noFill/>
          <a:ln/>
        </p:spPr>
        <p:txBody>
          <a:bodyPr wrap="square" lIns="0" tIns="0" rIns="0" bIns="0" rtlCol="0" anchor="ctr"/>
          <a:lstStyle/>
          <a:p>
            <a:pPr algn="ctr" indent="0" marL="0">
              <a:buNone/>
            </a:pPr>
            <a:r>
              <a:rPr lang="en-US" sz="1600" dirty="0">
                <a:solidFill>
                  <a:srgbClr val="D8E4F0"/>
                </a:solidFill>
              </a:rPr>
              <a:t>Intakes · Elevators · Arms · Shooters · Climbers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Intake Systems</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MECHANISM</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548640"/>
          </a:xfrm>
          <a:prstGeom prst="rect">
            <a:avLst/>
          </a:prstGeom>
          <a:noFill/>
          <a:ln/>
        </p:spPr>
        <p:txBody>
          <a:bodyPr wrap="square" lIns="0" tIns="0" rIns="0" bIns="0" rtlCol="0" anchor="ctr"/>
          <a:lstStyle/>
          <a:p>
            <a:pPr indent="0" marL="0">
              <a:buNone/>
            </a:pPr>
            <a:r>
              <a:rPr lang="en-US" sz="1300" dirty="0">
                <a:solidFill>
                  <a:srgbClr val="5B6B80"/>
                </a:solidFill>
              </a:rPr>
              <a:t>Intakes collect game pieces from the floor, feeder stations, or the field. The design depends entirely on the game piece shape and how it needs to be transferred into the robot.</a:t>
            </a:r>
            <a:endParaRPr lang="en-US" sz="1300" dirty="0"/>
          </a:p>
        </p:txBody>
      </p:sp>
      <p:sp>
        <p:nvSpPr>
          <p:cNvPr id="8" name="Shape 6"/>
          <p:cNvSpPr/>
          <p:nvPr/>
        </p:nvSpPr>
        <p:spPr>
          <a:xfrm>
            <a:off x="457200" y="1508760"/>
            <a:ext cx="8229600" cy="100584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9" name="Shape 7"/>
          <p:cNvSpPr/>
          <p:nvPr/>
        </p:nvSpPr>
        <p:spPr>
          <a:xfrm>
            <a:off x="457200" y="1508760"/>
            <a:ext cx="73152" cy="1005840"/>
          </a:xfrm>
          <a:prstGeom prst="rect">
            <a:avLst/>
          </a:prstGeom>
          <a:solidFill>
            <a:srgbClr val="E87C0A"/>
          </a:solidFill>
          <a:ln w="12700">
            <a:solidFill>
              <a:srgbClr val="E87C0A"/>
            </a:solidFill>
            <a:prstDash val="solid"/>
          </a:ln>
        </p:spPr>
      </p:sp>
      <p:sp>
        <p:nvSpPr>
          <p:cNvPr id="10" name="Text 8"/>
          <p:cNvSpPr/>
          <p:nvPr/>
        </p:nvSpPr>
        <p:spPr>
          <a:xfrm>
            <a:off x="685800" y="1581912"/>
            <a:ext cx="2560320" cy="320040"/>
          </a:xfrm>
          <a:prstGeom prst="rect">
            <a:avLst/>
          </a:prstGeom>
          <a:noFill/>
          <a:ln/>
        </p:spPr>
        <p:txBody>
          <a:bodyPr wrap="square" lIns="0" tIns="0" rIns="0" bIns="0" rtlCol="0" anchor="ctr"/>
          <a:lstStyle/>
          <a:p>
            <a:pPr indent="0" marL="0">
              <a:buNone/>
            </a:pPr>
            <a:r>
              <a:rPr lang="en-US" sz="1300" b="1" dirty="0">
                <a:solidFill>
                  <a:srgbClr val="0D1B2A"/>
                </a:solidFill>
              </a:rPr>
              <a:t>Roller Intake</a:t>
            </a:r>
            <a:endParaRPr lang="en-US" sz="1300" dirty="0"/>
          </a:p>
        </p:txBody>
      </p:sp>
      <p:sp>
        <p:nvSpPr>
          <p:cNvPr id="11" name="Text 9"/>
          <p:cNvSpPr/>
          <p:nvPr/>
        </p:nvSpPr>
        <p:spPr>
          <a:xfrm>
            <a:off x="685800" y="1920240"/>
            <a:ext cx="7863840" cy="512064"/>
          </a:xfrm>
          <a:prstGeom prst="rect">
            <a:avLst/>
          </a:prstGeom>
          <a:noFill/>
          <a:ln/>
        </p:spPr>
        <p:txBody>
          <a:bodyPr wrap="square" lIns="0" tIns="0" rIns="0" bIns="0" rtlCol="0" anchor="ctr"/>
          <a:lstStyle/>
          <a:p>
            <a:pPr indent="0" marL="0">
              <a:buNone/>
            </a:pPr>
            <a:r>
              <a:rPr lang="en-US" sz="1100" dirty="0">
                <a:solidFill>
                  <a:srgbClr val="5B6B80"/>
                </a:solidFill>
              </a:rPr>
              <a:t>One or more spinning rollers grab pieces off the floor. Compliant (rubber) wheels grip game pieces and pull them in. Most common FRC intake type.</a:t>
            </a:r>
            <a:endParaRPr lang="en-US" sz="1100" dirty="0"/>
          </a:p>
        </p:txBody>
      </p:sp>
      <p:sp>
        <p:nvSpPr>
          <p:cNvPr id="12" name="Shape 10"/>
          <p:cNvSpPr/>
          <p:nvPr/>
        </p:nvSpPr>
        <p:spPr>
          <a:xfrm>
            <a:off x="457200" y="2624328"/>
            <a:ext cx="8229600" cy="100584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3" name="Shape 11"/>
          <p:cNvSpPr/>
          <p:nvPr/>
        </p:nvSpPr>
        <p:spPr>
          <a:xfrm>
            <a:off x="457200" y="2624328"/>
            <a:ext cx="73152" cy="1005840"/>
          </a:xfrm>
          <a:prstGeom prst="rect">
            <a:avLst/>
          </a:prstGeom>
          <a:solidFill>
            <a:srgbClr val="E87C0A"/>
          </a:solidFill>
          <a:ln w="12700">
            <a:solidFill>
              <a:srgbClr val="E87C0A"/>
            </a:solidFill>
            <a:prstDash val="solid"/>
          </a:ln>
        </p:spPr>
      </p:sp>
      <p:sp>
        <p:nvSpPr>
          <p:cNvPr id="14" name="Text 12"/>
          <p:cNvSpPr/>
          <p:nvPr/>
        </p:nvSpPr>
        <p:spPr>
          <a:xfrm>
            <a:off x="685800" y="2697480"/>
            <a:ext cx="2560320" cy="320040"/>
          </a:xfrm>
          <a:prstGeom prst="rect">
            <a:avLst/>
          </a:prstGeom>
          <a:noFill/>
          <a:ln/>
        </p:spPr>
        <p:txBody>
          <a:bodyPr wrap="square" lIns="0" tIns="0" rIns="0" bIns="0" rtlCol="0" anchor="ctr"/>
          <a:lstStyle/>
          <a:p>
            <a:pPr indent="0" marL="0">
              <a:buNone/>
            </a:pPr>
            <a:r>
              <a:rPr lang="en-US" sz="1300" b="1" dirty="0">
                <a:solidFill>
                  <a:srgbClr val="0D1B2A"/>
                </a:solidFill>
              </a:rPr>
              <a:t>4-Bar Linkage</a:t>
            </a:r>
            <a:endParaRPr lang="en-US" sz="1300" dirty="0"/>
          </a:p>
        </p:txBody>
      </p:sp>
      <p:sp>
        <p:nvSpPr>
          <p:cNvPr id="15" name="Text 13"/>
          <p:cNvSpPr/>
          <p:nvPr/>
        </p:nvSpPr>
        <p:spPr>
          <a:xfrm>
            <a:off x="685800" y="3035808"/>
            <a:ext cx="7863840" cy="512064"/>
          </a:xfrm>
          <a:prstGeom prst="rect">
            <a:avLst/>
          </a:prstGeom>
          <a:noFill/>
          <a:ln/>
        </p:spPr>
        <p:txBody>
          <a:bodyPr wrap="square" lIns="0" tIns="0" rIns="0" bIns="0" rtlCol="0" anchor="ctr"/>
          <a:lstStyle/>
          <a:p>
            <a:pPr indent="0" marL="0">
              <a:buNone/>
            </a:pPr>
            <a:r>
              <a:rPr lang="en-US" sz="1100" dirty="0">
                <a:solidFill>
                  <a:srgbClr val="5B6B80"/>
                </a:solidFill>
              </a:rPr>
              <a:t>Pivoting arm with rollers extends over the bumpers to reach game pieces, then retracts inside the frame perimeter. Very common for balls &amp; discs.</a:t>
            </a:r>
            <a:endParaRPr lang="en-US" sz="1100" dirty="0"/>
          </a:p>
        </p:txBody>
      </p:sp>
      <p:sp>
        <p:nvSpPr>
          <p:cNvPr id="16" name="Shape 14"/>
          <p:cNvSpPr/>
          <p:nvPr/>
        </p:nvSpPr>
        <p:spPr>
          <a:xfrm>
            <a:off x="457200" y="3739896"/>
            <a:ext cx="8229600" cy="100584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7" name="Shape 15"/>
          <p:cNvSpPr/>
          <p:nvPr/>
        </p:nvSpPr>
        <p:spPr>
          <a:xfrm>
            <a:off x="457200" y="3739896"/>
            <a:ext cx="73152" cy="1005840"/>
          </a:xfrm>
          <a:prstGeom prst="rect">
            <a:avLst/>
          </a:prstGeom>
          <a:solidFill>
            <a:srgbClr val="E87C0A"/>
          </a:solidFill>
          <a:ln w="12700">
            <a:solidFill>
              <a:srgbClr val="E87C0A"/>
            </a:solidFill>
            <a:prstDash val="solid"/>
          </a:ln>
        </p:spPr>
      </p:sp>
      <p:sp>
        <p:nvSpPr>
          <p:cNvPr id="18" name="Text 16"/>
          <p:cNvSpPr/>
          <p:nvPr/>
        </p:nvSpPr>
        <p:spPr>
          <a:xfrm>
            <a:off x="685800" y="3813048"/>
            <a:ext cx="2560320" cy="320040"/>
          </a:xfrm>
          <a:prstGeom prst="rect">
            <a:avLst/>
          </a:prstGeom>
          <a:noFill/>
          <a:ln/>
        </p:spPr>
        <p:txBody>
          <a:bodyPr wrap="square" lIns="0" tIns="0" rIns="0" bIns="0" rtlCol="0" anchor="ctr"/>
          <a:lstStyle/>
          <a:p>
            <a:pPr indent="0" marL="0">
              <a:buNone/>
            </a:pPr>
            <a:r>
              <a:rPr lang="en-US" sz="1300" b="1" dirty="0">
                <a:solidFill>
                  <a:srgbClr val="0D1B2A"/>
                </a:solidFill>
              </a:rPr>
              <a:t>Ground-Level Intake</a:t>
            </a:r>
            <a:endParaRPr lang="en-US" sz="1300" dirty="0"/>
          </a:p>
        </p:txBody>
      </p:sp>
      <p:sp>
        <p:nvSpPr>
          <p:cNvPr id="19" name="Text 17"/>
          <p:cNvSpPr/>
          <p:nvPr/>
        </p:nvSpPr>
        <p:spPr>
          <a:xfrm>
            <a:off x="685800" y="4151376"/>
            <a:ext cx="7863840" cy="512064"/>
          </a:xfrm>
          <a:prstGeom prst="rect">
            <a:avLst/>
          </a:prstGeom>
          <a:noFill/>
          <a:ln/>
        </p:spPr>
        <p:txBody>
          <a:bodyPr wrap="square" lIns="0" tIns="0" rIns="0" bIns="0" rtlCol="0" anchor="ctr"/>
          <a:lstStyle/>
          <a:p>
            <a:pPr indent="0" marL="0">
              <a:buNone/>
            </a:pPr>
            <a:r>
              <a:rPr lang="en-US" sz="1100" dirty="0">
                <a:solidFill>
                  <a:srgbClr val="5B6B80"/>
                </a:solidFill>
              </a:rPr>
              <a:t>Fixed position near the bumpers, no pivot needed. Works with funnel guides to channel pieces into rollers. Simple and fast.</a:t>
            </a:r>
            <a:endParaRPr lang="en-US" sz="1100" dirty="0"/>
          </a:p>
        </p:txBody>
      </p:sp>
      <p:sp>
        <p:nvSpPr>
          <p:cNvPr id="20" name="Text 18"/>
          <p:cNvSpPr/>
          <p:nvPr/>
        </p:nvSpPr>
        <p:spPr>
          <a:xfrm>
            <a:off x="457200" y="4572000"/>
            <a:ext cx="8229600" cy="384048"/>
          </a:xfrm>
          <a:prstGeom prst="rect">
            <a:avLst/>
          </a:prstGeom>
          <a:noFill/>
          <a:ln/>
        </p:spPr>
        <p:txBody>
          <a:bodyPr wrap="square" lIns="0" tIns="0" rIns="0" bIns="0" rtlCol="0" anchor="ctr"/>
          <a:lstStyle/>
          <a:p>
            <a:pPr indent="0" marL="0">
              <a:buNone/>
            </a:pPr>
            <a:r>
              <a:rPr lang="en-US" sz="1100" i="1" dirty="0">
                <a:solidFill>
                  <a:srgbClr val="3A6BC4"/>
                </a:solidFill>
              </a:rPr>
              <a:t>⚡  Key tip: Always use compliant (flex) wheels or rubber-covered rollers — rigid rollers bounce game pieces away rather than gripping them.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Elevators &amp; Arm Mechanisms</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MECHANISM</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Shape 5"/>
          <p:cNvSpPr/>
          <p:nvPr/>
        </p:nvSpPr>
        <p:spPr>
          <a:xfrm>
            <a:off x="365760" y="777240"/>
            <a:ext cx="4114800" cy="42062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777240"/>
            <a:ext cx="4114800" cy="365760"/>
          </a:xfrm>
          <a:prstGeom prst="rect">
            <a:avLst/>
          </a:prstGeom>
          <a:solidFill>
            <a:srgbClr val="3A6BC4"/>
          </a:solidFill>
          <a:ln w="12700">
            <a:solidFill>
              <a:srgbClr val="3A6BC4"/>
            </a:solidFill>
            <a:prstDash val="solid"/>
          </a:ln>
        </p:spPr>
      </p:sp>
      <p:sp>
        <p:nvSpPr>
          <p:cNvPr id="9" name="Text 7"/>
          <p:cNvSpPr/>
          <p:nvPr/>
        </p:nvSpPr>
        <p:spPr>
          <a:xfrm>
            <a:off x="457200" y="777240"/>
            <a:ext cx="3931920" cy="365760"/>
          </a:xfrm>
          <a:prstGeom prst="rect">
            <a:avLst/>
          </a:prstGeom>
          <a:noFill/>
          <a:ln/>
        </p:spPr>
        <p:txBody>
          <a:bodyPr wrap="square" lIns="0" tIns="0" rIns="0" bIns="0" rtlCol="0" anchor="ctr"/>
          <a:lstStyle/>
          <a:p>
            <a:pPr algn="ctr" indent="0" marL="0">
              <a:buNone/>
            </a:pPr>
            <a:r>
              <a:rPr lang="en-US" sz="1200" b="1" dirty="0">
                <a:solidFill>
                  <a:srgbClr val="FFFFFF"/>
                </a:solidFill>
              </a:rPr>
              <a:t>ELEVATOR / VERTICAL LIFT</a:t>
            </a:r>
            <a:endParaRPr lang="en-US" sz="1200" dirty="0"/>
          </a:p>
        </p:txBody>
      </p:sp>
      <p:sp>
        <p:nvSpPr>
          <p:cNvPr id="10" name="Text 8"/>
          <p:cNvSpPr/>
          <p:nvPr/>
        </p:nvSpPr>
        <p:spPr>
          <a:xfrm>
            <a:off x="548640" y="1234440"/>
            <a:ext cx="3749040" cy="3566160"/>
          </a:xfrm>
          <a:prstGeom prst="rect">
            <a:avLst/>
          </a:prstGeom>
          <a:noFill/>
          <a:ln/>
        </p:spPr>
        <p:txBody>
          <a:bodyPr wrap="square" rtlCol="0" anchor="ctr"/>
          <a:lstStyle/>
          <a:p>
            <a:pPr indent="0" marL="0">
              <a:buNone/>
            </a:pPr>
            <a:r>
              <a:rPr lang="en-US" sz="1200" b="1" dirty="0">
                <a:solidFill>
                  <a:srgbClr val="0D1B2A"/>
                </a:solidFill>
              </a:rPr>
              <a:t>Cascading Elevator</a:t>
            </a:r>
            <a:endParaRPr lang="en-US" sz="1200" dirty="0"/>
          </a:p>
          <a:p>
            <a:pPr indent="0" marL="0">
              <a:buNone/>
            </a:pPr>
            <a:r>
              <a:rPr lang="en-US" sz="1100" dirty="0">
                <a:solidFill>
                  <a:srgbClr val="5B6B80"/>
                </a:solidFill>
              </a:rPr>
              <a:t>Multi-stage, very high reach, compact footprint. Each stage rides on the previous one. Used when height is critical (grid scoring, high goals).</a:t>
            </a:r>
            <a:endParaRPr lang="en-US" sz="1200" dirty="0"/>
          </a:p>
          <a:p>
            <a:pPr indent="0" marL="0">
              <a:buNone/>
            </a:pPr>
            <a:r>
              <a:rPr lang="en-US" sz="600" dirty="0">
                <a:solidFill>
                  <a:srgbClr val="000000"/>
                </a:solidFill>
              </a:rPr>
              <a:t>
</a:t>
            </a:r>
            <a:endParaRPr lang="en-US" sz="1200" dirty="0"/>
          </a:p>
          <a:p>
            <a:pPr indent="0" marL="0">
              <a:buNone/>
            </a:pPr>
            <a:r>
              <a:rPr lang="en-US" sz="1200" b="1" dirty="0">
                <a:solidFill>
                  <a:srgbClr val="0D1B2A"/>
                </a:solidFill>
              </a:rPr>
              <a:t>Continuous/Single Stage</a:t>
            </a:r>
            <a:endParaRPr lang="en-US" sz="1200" dirty="0"/>
          </a:p>
          <a:p>
            <a:pPr indent="0" marL="0">
              <a:buNone/>
            </a:pPr>
            <a:r>
              <a:rPr lang="en-US" sz="1100" dirty="0">
                <a:solidFill>
                  <a:srgbClr val="5B6B80"/>
                </a:solidFill>
              </a:rPr>
              <a:t>Single moving carriage. Simpler to build, less reach. Great for mid-height scoring tasks.</a:t>
            </a:r>
            <a:endParaRPr lang="en-US" sz="1200" dirty="0"/>
          </a:p>
          <a:p>
            <a:pPr indent="0" marL="0">
              <a:buNone/>
            </a:pPr>
            <a:r>
              <a:rPr lang="en-US" sz="600" dirty="0">
                <a:solidFill>
                  <a:srgbClr val="000000"/>
                </a:solidFill>
              </a:rPr>
              <a:t>
</a:t>
            </a:r>
            <a:endParaRPr lang="en-US" sz="1200" dirty="0"/>
          </a:p>
          <a:p>
            <a:pPr indent="0" marL="0">
              <a:buNone/>
            </a:pPr>
            <a:r>
              <a:rPr lang="en-US" sz="1100" b="1" dirty="0">
                <a:solidFill>
                  <a:srgbClr val="1B5E20"/>
                </a:solidFill>
              </a:rPr>
              <a:t>Pros: </a:t>
            </a:r>
            <a:pPr indent="0" marL="0">
              <a:buNone/>
            </a:pPr>
            <a:r>
              <a:rPr lang="en-US" sz="1100" dirty="0">
                <a:solidFill>
                  <a:srgbClr val="1B5E20"/>
                </a:solidFill>
              </a:rPr>
              <a:t>Very fast travel, predictable motion, great for repeated cycles</a:t>
            </a:r>
            <a:endParaRPr lang="en-US" sz="1200" dirty="0"/>
          </a:p>
          <a:p>
            <a:pPr indent="0" marL="0">
              <a:buNone/>
            </a:pPr>
            <a:r>
              <a:rPr lang="en-US" sz="1100" b="1" dirty="0">
                <a:solidFill>
                  <a:srgbClr val="B71C1C"/>
                </a:solidFill>
              </a:rPr>
              <a:t>Cons: </a:t>
            </a:r>
            <a:pPr indent="0" marL="0">
              <a:buNone/>
            </a:pPr>
            <a:r>
              <a:rPr lang="en-US" sz="1100" dirty="0">
                <a:solidFill>
                  <a:srgbClr val="B71C1C"/>
                </a:solidFill>
              </a:rPr>
              <a:t>String/belt breaks are catastrophic; carriage can jam</a:t>
            </a:r>
            <a:endParaRPr lang="en-US" sz="1200" dirty="0"/>
          </a:p>
        </p:txBody>
      </p:sp>
      <p:sp>
        <p:nvSpPr>
          <p:cNvPr id="11" name="Shape 9"/>
          <p:cNvSpPr/>
          <p:nvPr/>
        </p:nvSpPr>
        <p:spPr>
          <a:xfrm>
            <a:off x="4663440" y="777240"/>
            <a:ext cx="4114800" cy="420624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8000"/>
              </a:srgbClr>
            </a:outerShdw>
          </a:effectLst>
        </p:spPr>
      </p:sp>
      <p:sp>
        <p:nvSpPr>
          <p:cNvPr id="12" name="Shape 10"/>
          <p:cNvSpPr/>
          <p:nvPr/>
        </p:nvSpPr>
        <p:spPr>
          <a:xfrm>
            <a:off x="4663440" y="777240"/>
            <a:ext cx="4114800" cy="365760"/>
          </a:xfrm>
          <a:prstGeom prst="rect">
            <a:avLst/>
          </a:prstGeom>
          <a:solidFill>
            <a:srgbClr val="E87C0A"/>
          </a:solidFill>
          <a:ln w="12700">
            <a:solidFill>
              <a:srgbClr val="E87C0A"/>
            </a:solidFill>
            <a:prstDash val="solid"/>
          </a:ln>
        </p:spPr>
      </p:sp>
      <p:sp>
        <p:nvSpPr>
          <p:cNvPr id="13" name="Text 11"/>
          <p:cNvSpPr/>
          <p:nvPr/>
        </p:nvSpPr>
        <p:spPr>
          <a:xfrm>
            <a:off x="4754880" y="777240"/>
            <a:ext cx="3931920" cy="365760"/>
          </a:xfrm>
          <a:prstGeom prst="rect">
            <a:avLst/>
          </a:prstGeom>
          <a:noFill/>
          <a:ln/>
        </p:spPr>
        <p:txBody>
          <a:bodyPr wrap="square" lIns="0" tIns="0" rIns="0" bIns="0" rtlCol="0" anchor="ctr"/>
          <a:lstStyle/>
          <a:p>
            <a:pPr algn="ctr" indent="0" marL="0">
              <a:buNone/>
            </a:pPr>
            <a:r>
              <a:rPr lang="en-US" sz="1200" b="1" dirty="0">
                <a:solidFill>
                  <a:srgbClr val="FFFFFF"/>
                </a:solidFill>
              </a:rPr>
              <a:t>ARM / PIVOT MECHANISM</a:t>
            </a:r>
            <a:endParaRPr lang="en-US" sz="1200" dirty="0"/>
          </a:p>
        </p:txBody>
      </p:sp>
      <p:sp>
        <p:nvSpPr>
          <p:cNvPr id="14" name="Text 12"/>
          <p:cNvSpPr/>
          <p:nvPr/>
        </p:nvSpPr>
        <p:spPr>
          <a:xfrm>
            <a:off x="4846320" y="1234440"/>
            <a:ext cx="3749040" cy="3566160"/>
          </a:xfrm>
          <a:prstGeom prst="rect">
            <a:avLst/>
          </a:prstGeom>
          <a:noFill/>
          <a:ln/>
        </p:spPr>
        <p:txBody>
          <a:bodyPr wrap="square" rtlCol="0" anchor="ctr"/>
          <a:lstStyle/>
          <a:p>
            <a:pPr indent="0" marL="0">
              <a:buNone/>
            </a:pPr>
            <a:r>
              <a:rPr lang="en-US" sz="1200" b="1" dirty="0">
                <a:solidFill>
                  <a:srgbClr val="0D1B2A"/>
                </a:solidFill>
              </a:rPr>
              <a:t>Single-Joint Arm</a:t>
            </a:r>
            <a:endParaRPr lang="en-US" sz="1200" dirty="0"/>
          </a:p>
          <a:p>
            <a:pPr indent="0" marL="0">
              <a:buNone/>
            </a:pPr>
            <a:r>
              <a:rPr lang="en-US" sz="1100" dirty="0">
                <a:solidFill>
                  <a:srgbClr val="5B6B80"/>
                </a:solidFill>
              </a:rPr>
              <a:t>Simple pivot from a fixed point. Rotates to score at different heights. Easy to build, wide range of motion.</a:t>
            </a:r>
            <a:endParaRPr lang="en-US" sz="1200" dirty="0"/>
          </a:p>
          <a:p>
            <a:pPr indent="0" marL="0">
              <a:buNone/>
            </a:pPr>
            <a:r>
              <a:rPr lang="en-US" sz="600" dirty="0">
                <a:solidFill>
                  <a:srgbClr val="000000"/>
                </a:solidFill>
              </a:rPr>
              <a:t>
</a:t>
            </a:r>
            <a:endParaRPr lang="en-US" sz="1200" dirty="0"/>
          </a:p>
          <a:p>
            <a:pPr indent="0" marL="0">
              <a:buNone/>
            </a:pPr>
            <a:r>
              <a:rPr lang="en-US" sz="1200" b="1" dirty="0">
                <a:solidFill>
                  <a:srgbClr val="0D1B2A"/>
                </a:solidFill>
              </a:rPr>
              <a:t>Double/Multi-Joint Arm</a:t>
            </a:r>
            <a:endParaRPr lang="en-US" sz="1200" dirty="0"/>
          </a:p>
          <a:p>
            <a:pPr indent="0" marL="0">
              <a:buNone/>
            </a:pPr>
            <a:r>
              <a:rPr lang="en-US" sz="1100" dirty="0">
                <a:solidFill>
                  <a:srgbClr val="5B6B80"/>
                </a:solidFill>
              </a:rPr>
              <a:t>Elbow and wrist joints. Far more reach and flexibility but much harder to control. Requires advanced inverse kinematics.</a:t>
            </a:r>
            <a:endParaRPr lang="en-US" sz="1200" dirty="0"/>
          </a:p>
          <a:p>
            <a:pPr indent="0" marL="0">
              <a:buNone/>
            </a:pPr>
            <a:r>
              <a:rPr lang="en-US" sz="600" dirty="0">
                <a:solidFill>
                  <a:srgbClr val="000000"/>
                </a:solidFill>
              </a:rPr>
              <a:t>
</a:t>
            </a:r>
            <a:endParaRPr lang="en-US" sz="1200" dirty="0"/>
          </a:p>
          <a:p>
            <a:pPr indent="0" marL="0">
              <a:buNone/>
            </a:pPr>
            <a:r>
              <a:rPr lang="en-US" sz="1100" b="1" dirty="0">
                <a:solidFill>
                  <a:srgbClr val="1B5E20"/>
                </a:solidFill>
              </a:rPr>
              <a:t>Pros: </a:t>
            </a:r>
            <a:pPr indent="0" marL="0">
              <a:buNone/>
            </a:pPr>
            <a:r>
              <a:rPr lang="en-US" sz="1100" dirty="0">
                <a:solidFill>
                  <a:srgbClr val="1B5E20"/>
                </a:solidFill>
              </a:rPr>
              <a:t>Versatile reach, can extend over obstacles and walls</a:t>
            </a:r>
            <a:endParaRPr lang="en-US" sz="1200" dirty="0"/>
          </a:p>
          <a:p>
            <a:pPr indent="0" marL="0">
              <a:buNone/>
            </a:pPr>
            <a:r>
              <a:rPr lang="en-US" sz="1100" b="1" dirty="0">
                <a:solidFill>
                  <a:srgbClr val="B71C1C"/>
                </a:solidFill>
              </a:rPr>
              <a:t>Cons: </a:t>
            </a:r>
            <a:pPr indent="0" marL="0">
              <a:buNone/>
            </a:pPr>
            <a:r>
              <a:rPr lang="en-US" sz="1100" dirty="0">
                <a:solidFill>
                  <a:srgbClr val="B71C1C"/>
                </a:solidFill>
              </a:rPr>
              <a:t>Torque demands are high; tipping risk if not counterweighted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Shooters &amp; Launchers</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MECHANISM</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502920"/>
          </a:xfrm>
          <a:prstGeom prst="rect">
            <a:avLst/>
          </a:prstGeom>
          <a:noFill/>
          <a:ln/>
        </p:spPr>
        <p:txBody>
          <a:bodyPr wrap="square" lIns="0" tIns="0" rIns="0" bIns="0" rtlCol="0" anchor="ctr"/>
          <a:lstStyle/>
          <a:p>
            <a:pPr indent="0" marL="0">
              <a:buNone/>
            </a:pPr>
            <a:r>
              <a:rPr lang="en-US" sz="1300" dirty="0">
                <a:solidFill>
                  <a:srgbClr val="5B6B80"/>
                </a:solidFill>
              </a:rPr>
              <a:t>Used when game pieces must be propelled — into goals, over barriers, or into targets. The game design dictates which launch method is appropriate.</a:t>
            </a:r>
            <a:endParaRPr lang="en-US" sz="1300" dirty="0"/>
          </a:p>
        </p:txBody>
      </p:sp>
      <p:sp>
        <p:nvSpPr>
          <p:cNvPr id="8" name="Shape 6"/>
          <p:cNvSpPr/>
          <p:nvPr/>
        </p:nvSpPr>
        <p:spPr>
          <a:xfrm>
            <a:off x="365760" y="1444752"/>
            <a:ext cx="841248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9" name="Shape 7"/>
          <p:cNvSpPr/>
          <p:nvPr/>
        </p:nvSpPr>
        <p:spPr>
          <a:xfrm>
            <a:off x="365760" y="1444752"/>
            <a:ext cx="73152" cy="1051560"/>
          </a:xfrm>
          <a:prstGeom prst="rect">
            <a:avLst/>
          </a:prstGeom>
          <a:solidFill>
            <a:srgbClr val="3A6BC4"/>
          </a:solidFill>
          <a:ln w="12700">
            <a:solidFill>
              <a:srgbClr val="3A6BC4"/>
            </a:solidFill>
            <a:prstDash val="solid"/>
          </a:ln>
        </p:spPr>
      </p:sp>
      <p:sp>
        <p:nvSpPr>
          <p:cNvPr id="10" name="Text 8"/>
          <p:cNvSpPr/>
          <p:nvPr/>
        </p:nvSpPr>
        <p:spPr>
          <a:xfrm>
            <a:off x="594360" y="1499616"/>
            <a:ext cx="2194560" cy="320040"/>
          </a:xfrm>
          <a:prstGeom prst="rect">
            <a:avLst/>
          </a:prstGeom>
          <a:noFill/>
          <a:ln/>
        </p:spPr>
        <p:txBody>
          <a:bodyPr wrap="square" lIns="0" tIns="0" rIns="0" bIns="0" rtlCol="0" anchor="ctr"/>
          <a:lstStyle/>
          <a:p>
            <a:pPr indent="0" marL="0">
              <a:buNone/>
            </a:pPr>
            <a:r>
              <a:rPr lang="en-US" sz="1300" b="1" dirty="0">
                <a:solidFill>
                  <a:srgbClr val="0D1B2A"/>
                </a:solidFill>
              </a:rPr>
              <a:t>Flywheel Shooter</a:t>
            </a:r>
            <a:endParaRPr lang="en-US" sz="1300" dirty="0"/>
          </a:p>
        </p:txBody>
      </p:sp>
      <p:sp>
        <p:nvSpPr>
          <p:cNvPr id="11" name="Text 9"/>
          <p:cNvSpPr/>
          <p:nvPr/>
        </p:nvSpPr>
        <p:spPr>
          <a:xfrm>
            <a:off x="594360" y="1847088"/>
            <a:ext cx="8229600" cy="292608"/>
          </a:xfrm>
          <a:prstGeom prst="rect">
            <a:avLst/>
          </a:prstGeom>
          <a:noFill/>
          <a:ln/>
        </p:spPr>
        <p:txBody>
          <a:bodyPr wrap="square" lIns="0" tIns="0" rIns="0" bIns="0" rtlCol="0" anchor="ctr"/>
          <a:lstStyle/>
          <a:p>
            <a:pPr indent="0" marL="0">
              <a:buNone/>
            </a:pPr>
            <a:r>
              <a:rPr lang="en-US" sz="1100" dirty="0">
                <a:solidFill>
                  <a:srgbClr val="5B6B80"/>
                </a:solidFill>
              </a:rPr>
              <a:t>Used for: Balls, frisbees, or ring-shaped game pieces. Any game with long-distance goal shooting.</a:t>
            </a:r>
            <a:endParaRPr lang="en-US" sz="1100" dirty="0"/>
          </a:p>
        </p:txBody>
      </p:sp>
      <p:sp>
        <p:nvSpPr>
          <p:cNvPr id="12" name="Text 10"/>
          <p:cNvSpPr/>
          <p:nvPr/>
        </p:nvSpPr>
        <p:spPr>
          <a:xfrm>
            <a:off x="594360" y="2157984"/>
            <a:ext cx="8229600" cy="256032"/>
          </a:xfrm>
          <a:prstGeom prst="rect">
            <a:avLst/>
          </a:prstGeom>
          <a:noFill/>
          <a:ln/>
        </p:spPr>
        <p:txBody>
          <a:bodyPr wrap="square" lIns="0" tIns="0" rIns="0" bIns="0" rtlCol="0" anchor="ctr"/>
          <a:lstStyle/>
          <a:p>
            <a:pPr indent="0" marL="0">
              <a:buNone/>
            </a:pPr>
            <a:r>
              <a:rPr lang="en-US" sz="1100" dirty="0">
                <a:solidFill>
                  <a:srgbClr val="2E5E2E"/>
                </a:solidFill>
              </a:rPr>
              <a:t>✓ Continuous fire, tunable velocity, very fast   ✗ Wheel spin-up time, needs hood/angle control</a:t>
            </a:r>
            <a:endParaRPr lang="en-US" sz="1100" dirty="0"/>
          </a:p>
        </p:txBody>
      </p:sp>
      <p:sp>
        <p:nvSpPr>
          <p:cNvPr id="13" name="Shape 11"/>
          <p:cNvSpPr/>
          <p:nvPr/>
        </p:nvSpPr>
        <p:spPr>
          <a:xfrm>
            <a:off x="365760" y="2596896"/>
            <a:ext cx="841248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4" name="Shape 12"/>
          <p:cNvSpPr/>
          <p:nvPr/>
        </p:nvSpPr>
        <p:spPr>
          <a:xfrm>
            <a:off x="365760" y="2596896"/>
            <a:ext cx="73152" cy="1051560"/>
          </a:xfrm>
          <a:prstGeom prst="rect">
            <a:avLst/>
          </a:prstGeom>
          <a:solidFill>
            <a:srgbClr val="3A6BC4"/>
          </a:solidFill>
          <a:ln w="12700">
            <a:solidFill>
              <a:srgbClr val="3A6BC4"/>
            </a:solidFill>
            <a:prstDash val="solid"/>
          </a:ln>
        </p:spPr>
      </p:sp>
      <p:sp>
        <p:nvSpPr>
          <p:cNvPr id="15" name="Text 13"/>
          <p:cNvSpPr/>
          <p:nvPr/>
        </p:nvSpPr>
        <p:spPr>
          <a:xfrm>
            <a:off x="594360" y="2651760"/>
            <a:ext cx="2194560" cy="320040"/>
          </a:xfrm>
          <a:prstGeom prst="rect">
            <a:avLst/>
          </a:prstGeom>
          <a:noFill/>
          <a:ln/>
        </p:spPr>
        <p:txBody>
          <a:bodyPr wrap="square" lIns="0" tIns="0" rIns="0" bIns="0" rtlCol="0" anchor="ctr"/>
          <a:lstStyle/>
          <a:p>
            <a:pPr indent="0" marL="0">
              <a:buNone/>
            </a:pPr>
            <a:r>
              <a:rPr lang="en-US" sz="1300" b="1" dirty="0">
                <a:solidFill>
                  <a:srgbClr val="0D1B2A"/>
                </a:solidFill>
              </a:rPr>
              <a:t>Catapult / Spring Launcher</a:t>
            </a:r>
            <a:endParaRPr lang="en-US" sz="1300" dirty="0"/>
          </a:p>
        </p:txBody>
      </p:sp>
      <p:sp>
        <p:nvSpPr>
          <p:cNvPr id="16" name="Text 14"/>
          <p:cNvSpPr/>
          <p:nvPr/>
        </p:nvSpPr>
        <p:spPr>
          <a:xfrm>
            <a:off x="594360" y="2999232"/>
            <a:ext cx="8229600" cy="292608"/>
          </a:xfrm>
          <a:prstGeom prst="rect">
            <a:avLst/>
          </a:prstGeom>
          <a:noFill/>
          <a:ln/>
        </p:spPr>
        <p:txBody>
          <a:bodyPr wrap="square" lIns="0" tIns="0" rIns="0" bIns="0" rtlCol="0" anchor="ctr"/>
          <a:lstStyle/>
          <a:p>
            <a:pPr indent="0" marL="0">
              <a:buNone/>
            </a:pPr>
            <a:r>
              <a:rPr lang="en-US" sz="1100" dirty="0">
                <a:solidFill>
                  <a:srgbClr val="5B6B80"/>
                </a:solidFill>
              </a:rPr>
              <a:t>Used for: Large or irregularly shaped pieces where flywheel is impractical.</a:t>
            </a:r>
            <a:endParaRPr lang="en-US" sz="1100" dirty="0"/>
          </a:p>
        </p:txBody>
      </p:sp>
      <p:sp>
        <p:nvSpPr>
          <p:cNvPr id="17" name="Text 15"/>
          <p:cNvSpPr/>
          <p:nvPr/>
        </p:nvSpPr>
        <p:spPr>
          <a:xfrm>
            <a:off x="594360" y="3310128"/>
            <a:ext cx="8229600" cy="256032"/>
          </a:xfrm>
          <a:prstGeom prst="rect">
            <a:avLst/>
          </a:prstGeom>
          <a:noFill/>
          <a:ln/>
        </p:spPr>
        <p:txBody>
          <a:bodyPr wrap="square" lIns="0" tIns="0" rIns="0" bIns="0" rtlCol="0" anchor="ctr"/>
          <a:lstStyle/>
          <a:p>
            <a:pPr indent="0" marL="0">
              <a:buNone/>
            </a:pPr>
            <a:r>
              <a:rPr lang="en-US" sz="1100" dirty="0">
                <a:solidFill>
                  <a:srgbClr val="2E5E2E"/>
                </a:solidFill>
              </a:rPr>
              <a:t>✓ Simple, powerful, low motor count   ✗ Single shot per cycle, slow reset, inconsistent</a:t>
            </a:r>
            <a:endParaRPr lang="en-US" sz="1100" dirty="0"/>
          </a:p>
        </p:txBody>
      </p:sp>
      <p:sp>
        <p:nvSpPr>
          <p:cNvPr id="18" name="Shape 16"/>
          <p:cNvSpPr/>
          <p:nvPr/>
        </p:nvSpPr>
        <p:spPr>
          <a:xfrm>
            <a:off x="365760" y="3749040"/>
            <a:ext cx="8412480" cy="1051560"/>
          </a:xfrm>
          <a:prstGeom prst="rect">
            <a:avLst/>
          </a:prstGeom>
          <a:solidFill>
            <a:srgbClr val="FFFFFF"/>
          </a:solidFill>
          <a:ln w="12700">
            <a:solidFill>
              <a:srgbClr val="D8E4F0"/>
            </a:solidFill>
            <a:prstDash val="solid"/>
          </a:ln>
          <a:effectLst>
            <a:outerShdw sx="100000" sy="100000" kx="0" ky="0" algn="bl" rotWithShape="0" blurRad="50800" dist="25400" dir="8100000">
              <a:srgbClr val="000000">
                <a:alpha val="8000"/>
              </a:srgbClr>
            </a:outerShdw>
          </a:effectLst>
        </p:spPr>
      </p:sp>
      <p:sp>
        <p:nvSpPr>
          <p:cNvPr id="19" name="Shape 17"/>
          <p:cNvSpPr/>
          <p:nvPr/>
        </p:nvSpPr>
        <p:spPr>
          <a:xfrm>
            <a:off x="365760" y="3749040"/>
            <a:ext cx="73152" cy="1051560"/>
          </a:xfrm>
          <a:prstGeom prst="rect">
            <a:avLst/>
          </a:prstGeom>
          <a:solidFill>
            <a:srgbClr val="3A6BC4"/>
          </a:solidFill>
          <a:ln w="12700">
            <a:solidFill>
              <a:srgbClr val="3A6BC4"/>
            </a:solidFill>
            <a:prstDash val="solid"/>
          </a:ln>
        </p:spPr>
      </p:sp>
      <p:sp>
        <p:nvSpPr>
          <p:cNvPr id="20" name="Text 18"/>
          <p:cNvSpPr/>
          <p:nvPr/>
        </p:nvSpPr>
        <p:spPr>
          <a:xfrm>
            <a:off x="594360" y="3803904"/>
            <a:ext cx="2194560" cy="320040"/>
          </a:xfrm>
          <a:prstGeom prst="rect">
            <a:avLst/>
          </a:prstGeom>
          <a:noFill/>
          <a:ln/>
        </p:spPr>
        <p:txBody>
          <a:bodyPr wrap="square" lIns="0" tIns="0" rIns="0" bIns="0" rtlCol="0" anchor="ctr"/>
          <a:lstStyle/>
          <a:p>
            <a:pPr indent="0" marL="0">
              <a:buNone/>
            </a:pPr>
            <a:r>
              <a:rPr lang="en-US" sz="1300" b="1" dirty="0">
                <a:solidFill>
                  <a:srgbClr val="0D1B2A"/>
                </a:solidFill>
              </a:rPr>
              <a:t>Pneumatic Puncher</a:t>
            </a:r>
            <a:endParaRPr lang="en-US" sz="1300" dirty="0"/>
          </a:p>
        </p:txBody>
      </p:sp>
      <p:sp>
        <p:nvSpPr>
          <p:cNvPr id="21" name="Text 19"/>
          <p:cNvSpPr/>
          <p:nvPr/>
        </p:nvSpPr>
        <p:spPr>
          <a:xfrm>
            <a:off x="594360" y="4151376"/>
            <a:ext cx="8229600" cy="292608"/>
          </a:xfrm>
          <a:prstGeom prst="rect">
            <a:avLst/>
          </a:prstGeom>
          <a:noFill/>
          <a:ln/>
        </p:spPr>
        <p:txBody>
          <a:bodyPr wrap="square" lIns="0" tIns="0" rIns="0" bIns="0" rtlCol="0" anchor="ctr"/>
          <a:lstStyle/>
          <a:p>
            <a:pPr indent="0" marL="0">
              <a:buNone/>
            </a:pPr>
            <a:r>
              <a:rPr lang="en-US" sz="1100" dirty="0">
                <a:solidFill>
                  <a:srgbClr val="5B6B80"/>
                </a:solidFill>
              </a:rPr>
              <a:t>Used for: Small game pieces at short range — power cells, balls into low goals.</a:t>
            </a:r>
            <a:endParaRPr lang="en-US" sz="1100" dirty="0"/>
          </a:p>
        </p:txBody>
      </p:sp>
      <p:sp>
        <p:nvSpPr>
          <p:cNvPr id="22" name="Text 20"/>
          <p:cNvSpPr/>
          <p:nvPr/>
        </p:nvSpPr>
        <p:spPr>
          <a:xfrm>
            <a:off x="594360" y="4462272"/>
            <a:ext cx="8229600" cy="256032"/>
          </a:xfrm>
          <a:prstGeom prst="rect">
            <a:avLst/>
          </a:prstGeom>
          <a:noFill/>
          <a:ln/>
        </p:spPr>
        <p:txBody>
          <a:bodyPr wrap="square" lIns="0" tIns="0" rIns="0" bIns="0" rtlCol="0" anchor="ctr"/>
          <a:lstStyle/>
          <a:p>
            <a:pPr indent="0" marL="0">
              <a:buNone/>
            </a:pPr>
            <a:r>
              <a:rPr lang="en-US" sz="1100" dirty="0">
                <a:solidFill>
                  <a:srgbClr val="2E5E2E"/>
                </a:solidFill>
              </a:rPr>
              <a:t>✓ Very fast cycle, simple, reliable   ✗ Limited range, air supply management needed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Climber Mechanisms</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MECHANISM</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Text 5"/>
          <p:cNvSpPr/>
          <p:nvPr/>
        </p:nvSpPr>
        <p:spPr>
          <a:xfrm>
            <a:off x="457200" y="822960"/>
            <a:ext cx="8229600" cy="502920"/>
          </a:xfrm>
          <a:prstGeom prst="rect">
            <a:avLst/>
          </a:prstGeom>
          <a:noFill/>
          <a:ln/>
        </p:spPr>
        <p:txBody>
          <a:bodyPr wrap="square" lIns="0" tIns="0" rIns="0" bIns="0" rtlCol="0" anchor="ctr"/>
          <a:lstStyle/>
          <a:p>
            <a:pPr indent="0" marL="0">
              <a:buNone/>
            </a:pPr>
            <a:r>
              <a:rPr lang="en-US" sz="1300" dirty="0">
                <a:solidFill>
                  <a:srgbClr val="5B6B80"/>
                </a:solidFill>
              </a:rPr>
              <a:t>End-game climbers let robots hang from bars or platforms to earn bonus points. Design depends on the height, bar type, and how fast the robot needs to climb.</a:t>
            </a:r>
            <a:endParaRPr lang="en-US" sz="1300" dirty="0"/>
          </a:p>
        </p:txBody>
      </p:sp>
      <p:sp>
        <p:nvSpPr>
          <p:cNvPr id="8" name="Shape 6"/>
          <p:cNvSpPr/>
          <p:nvPr/>
        </p:nvSpPr>
        <p:spPr>
          <a:xfrm>
            <a:off x="365760" y="1444752"/>
            <a:ext cx="4023360" cy="1664208"/>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9" name="Shape 7"/>
          <p:cNvSpPr/>
          <p:nvPr/>
        </p:nvSpPr>
        <p:spPr>
          <a:xfrm>
            <a:off x="365760" y="1444752"/>
            <a:ext cx="4023360" cy="320040"/>
          </a:xfrm>
          <a:prstGeom prst="rect">
            <a:avLst/>
          </a:prstGeom>
          <a:solidFill>
            <a:srgbClr val="0D1B2A"/>
          </a:solidFill>
          <a:ln w="12700">
            <a:solidFill>
              <a:srgbClr val="0D1B2A"/>
            </a:solidFill>
            <a:prstDash val="solid"/>
          </a:ln>
        </p:spPr>
      </p:sp>
      <p:sp>
        <p:nvSpPr>
          <p:cNvPr id="10" name="Text 8"/>
          <p:cNvSpPr/>
          <p:nvPr/>
        </p:nvSpPr>
        <p:spPr>
          <a:xfrm>
            <a:off x="475488" y="1444752"/>
            <a:ext cx="3803904" cy="320040"/>
          </a:xfrm>
          <a:prstGeom prst="rect">
            <a:avLst/>
          </a:prstGeom>
          <a:noFill/>
          <a:ln/>
        </p:spPr>
        <p:txBody>
          <a:bodyPr wrap="square" lIns="0" tIns="0" rIns="0" bIns="0" rtlCol="0" anchor="ctr"/>
          <a:lstStyle/>
          <a:p>
            <a:pPr indent="0" marL="0">
              <a:buNone/>
            </a:pPr>
            <a:r>
              <a:rPr lang="en-US" sz="1200" b="1" dirty="0">
                <a:solidFill>
                  <a:srgbClr val="FFFFFF"/>
                </a:solidFill>
              </a:rPr>
              <a:t>Hook + Winch</a:t>
            </a:r>
            <a:endParaRPr lang="en-US" sz="1200" dirty="0"/>
          </a:p>
        </p:txBody>
      </p:sp>
      <p:sp>
        <p:nvSpPr>
          <p:cNvPr id="11" name="Text 9"/>
          <p:cNvSpPr/>
          <p:nvPr/>
        </p:nvSpPr>
        <p:spPr>
          <a:xfrm>
            <a:off x="475488" y="1828800"/>
            <a:ext cx="3803904" cy="685800"/>
          </a:xfrm>
          <a:prstGeom prst="rect">
            <a:avLst/>
          </a:prstGeom>
          <a:noFill/>
          <a:ln/>
        </p:spPr>
        <p:txBody>
          <a:bodyPr wrap="square" lIns="0" tIns="0" rIns="0" bIns="0" rtlCol="0" anchor="ctr"/>
          <a:lstStyle/>
          <a:p>
            <a:pPr indent="0" marL="0">
              <a:buNone/>
            </a:pPr>
            <a:r>
              <a:rPr lang="en-US" sz="1100" dirty="0">
                <a:solidFill>
                  <a:srgbClr val="5B6B80"/>
                </a:solidFill>
              </a:rPr>
              <a:t>A hook extends to catch the bar; a winch retracts a strap/rope to pull the robot up. Simple, high strength. Very common in FRC.</a:t>
            </a:r>
            <a:endParaRPr lang="en-US" sz="1100" dirty="0"/>
          </a:p>
        </p:txBody>
      </p:sp>
      <p:sp>
        <p:nvSpPr>
          <p:cNvPr id="12" name="Text 10"/>
          <p:cNvSpPr/>
          <p:nvPr/>
        </p:nvSpPr>
        <p:spPr>
          <a:xfrm>
            <a:off x="475488" y="2560320"/>
            <a:ext cx="3803904" cy="228600"/>
          </a:xfrm>
          <a:prstGeom prst="rect">
            <a:avLst/>
          </a:prstGeom>
          <a:noFill/>
          <a:ln/>
        </p:spPr>
        <p:txBody>
          <a:bodyPr wrap="square" lIns="0" tIns="0" rIns="0" bIns="0" rtlCol="0" anchor="ctr"/>
          <a:lstStyle/>
          <a:p>
            <a:pPr indent="0" marL="0">
              <a:buNone/>
            </a:pPr>
            <a:r>
              <a:rPr lang="en-US" sz="1000" dirty="0">
                <a:solidFill>
                  <a:srgbClr val="2E6E2E"/>
                </a:solidFill>
              </a:rPr>
              <a:t>✓ Simple, reliable, high force</a:t>
            </a:r>
            <a:endParaRPr lang="en-US" sz="1000" dirty="0"/>
          </a:p>
        </p:txBody>
      </p:sp>
      <p:sp>
        <p:nvSpPr>
          <p:cNvPr id="13" name="Text 11"/>
          <p:cNvSpPr/>
          <p:nvPr/>
        </p:nvSpPr>
        <p:spPr>
          <a:xfrm>
            <a:off x="475488" y="2798064"/>
            <a:ext cx="3803904" cy="228600"/>
          </a:xfrm>
          <a:prstGeom prst="rect">
            <a:avLst/>
          </a:prstGeom>
          <a:noFill/>
          <a:ln/>
        </p:spPr>
        <p:txBody>
          <a:bodyPr wrap="square" lIns="0" tIns="0" rIns="0" bIns="0" rtlCol="0" anchor="ctr"/>
          <a:lstStyle/>
          <a:p>
            <a:pPr indent="0" marL="0">
              <a:buNone/>
            </a:pPr>
            <a:r>
              <a:rPr lang="en-US" sz="1000" dirty="0">
                <a:solidFill>
                  <a:srgbClr val="8B1A1A"/>
                </a:solidFill>
              </a:rPr>
              <a:t>✗ Slow if winch is underpowered</a:t>
            </a:r>
            <a:endParaRPr lang="en-US" sz="1000" dirty="0"/>
          </a:p>
        </p:txBody>
      </p:sp>
      <p:sp>
        <p:nvSpPr>
          <p:cNvPr id="14" name="Shape 12"/>
          <p:cNvSpPr/>
          <p:nvPr/>
        </p:nvSpPr>
        <p:spPr>
          <a:xfrm>
            <a:off x="365760" y="3227832"/>
            <a:ext cx="4023360" cy="1664208"/>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15" name="Shape 13"/>
          <p:cNvSpPr/>
          <p:nvPr/>
        </p:nvSpPr>
        <p:spPr>
          <a:xfrm>
            <a:off x="365760" y="3227832"/>
            <a:ext cx="4023360" cy="320040"/>
          </a:xfrm>
          <a:prstGeom prst="rect">
            <a:avLst/>
          </a:prstGeom>
          <a:solidFill>
            <a:srgbClr val="0D1B2A"/>
          </a:solidFill>
          <a:ln w="12700">
            <a:solidFill>
              <a:srgbClr val="0D1B2A"/>
            </a:solidFill>
            <a:prstDash val="solid"/>
          </a:ln>
        </p:spPr>
      </p:sp>
      <p:sp>
        <p:nvSpPr>
          <p:cNvPr id="16" name="Text 14"/>
          <p:cNvSpPr/>
          <p:nvPr/>
        </p:nvSpPr>
        <p:spPr>
          <a:xfrm>
            <a:off x="475488" y="3227832"/>
            <a:ext cx="3803904" cy="320040"/>
          </a:xfrm>
          <a:prstGeom prst="rect">
            <a:avLst/>
          </a:prstGeom>
          <a:noFill/>
          <a:ln/>
        </p:spPr>
        <p:txBody>
          <a:bodyPr wrap="square" lIns="0" tIns="0" rIns="0" bIns="0" rtlCol="0" anchor="ctr"/>
          <a:lstStyle/>
          <a:p>
            <a:pPr indent="0" marL="0">
              <a:buNone/>
            </a:pPr>
            <a:r>
              <a:rPr lang="en-US" sz="1200" b="1" dirty="0">
                <a:solidFill>
                  <a:srgbClr val="FFFFFF"/>
                </a:solidFill>
              </a:rPr>
              <a:t>Elevator Climber</a:t>
            </a:r>
            <a:endParaRPr lang="en-US" sz="1200" dirty="0"/>
          </a:p>
        </p:txBody>
      </p:sp>
      <p:sp>
        <p:nvSpPr>
          <p:cNvPr id="17" name="Text 15"/>
          <p:cNvSpPr/>
          <p:nvPr/>
        </p:nvSpPr>
        <p:spPr>
          <a:xfrm>
            <a:off x="475488" y="3611880"/>
            <a:ext cx="3803904" cy="685800"/>
          </a:xfrm>
          <a:prstGeom prst="rect">
            <a:avLst/>
          </a:prstGeom>
          <a:noFill/>
          <a:ln/>
        </p:spPr>
        <p:txBody>
          <a:bodyPr wrap="square" lIns="0" tIns="0" rIns="0" bIns="0" rtlCol="0" anchor="ctr"/>
          <a:lstStyle/>
          <a:p>
            <a:pPr indent="0" marL="0">
              <a:buNone/>
            </a:pPr>
            <a:r>
              <a:rPr lang="en-US" sz="1100" dirty="0">
                <a:solidFill>
                  <a:srgbClr val="5B6B80"/>
                </a:solidFill>
              </a:rPr>
              <a:t>Repurposes the robot's elevator mechanism. Hooks at the top latch onto the bar, then the elevator retracts to lift the robot.</a:t>
            </a:r>
            <a:endParaRPr lang="en-US" sz="1100" dirty="0"/>
          </a:p>
        </p:txBody>
      </p:sp>
      <p:sp>
        <p:nvSpPr>
          <p:cNvPr id="18" name="Text 16"/>
          <p:cNvSpPr/>
          <p:nvPr/>
        </p:nvSpPr>
        <p:spPr>
          <a:xfrm>
            <a:off x="475488" y="4343400"/>
            <a:ext cx="3803904" cy="228600"/>
          </a:xfrm>
          <a:prstGeom prst="rect">
            <a:avLst/>
          </a:prstGeom>
          <a:noFill/>
          <a:ln/>
        </p:spPr>
        <p:txBody>
          <a:bodyPr wrap="square" lIns="0" tIns="0" rIns="0" bIns="0" rtlCol="0" anchor="ctr"/>
          <a:lstStyle/>
          <a:p>
            <a:pPr indent="0" marL="0">
              <a:buNone/>
            </a:pPr>
            <a:r>
              <a:rPr lang="en-US" sz="1000" dirty="0">
                <a:solidFill>
                  <a:srgbClr val="2E6E2E"/>
                </a:solidFill>
              </a:rPr>
              <a:t>✓ No extra mechanism needed</a:t>
            </a:r>
            <a:endParaRPr lang="en-US" sz="1000" dirty="0"/>
          </a:p>
        </p:txBody>
      </p:sp>
      <p:sp>
        <p:nvSpPr>
          <p:cNvPr id="19" name="Text 17"/>
          <p:cNvSpPr/>
          <p:nvPr/>
        </p:nvSpPr>
        <p:spPr>
          <a:xfrm>
            <a:off x="475488" y="4581144"/>
            <a:ext cx="3803904" cy="228600"/>
          </a:xfrm>
          <a:prstGeom prst="rect">
            <a:avLst/>
          </a:prstGeom>
          <a:noFill/>
          <a:ln/>
        </p:spPr>
        <p:txBody>
          <a:bodyPr wrap="square" lIns="0" tIns="0" rIns="0" bIns="0" rtlCol="0" anchor="ctr"/>
          <a:lstStyle/>
          <a:p>
            <a:pPr indent="0" marL="0">
              <a:buNone/>
            </a:pPr>
            <a:r>
              <a:rPr lang="en-US" sz="1000" dirty="0">
                <a:solidFill>
                  <a:srgbClr val="8B1A1A"/>
                </a:solidFill>
              </a:rPr>
              <a:t>✗ Depends on elevator strength</a:t>
            </a:r>
            <a:endParaRPr lang="en-US" sz="1000" dirty="0"/>
          </a:p>
        </p:txBody>
      </p:sp>
      <p:sp>
        <p:nvSpPr>
          <p:cNvPr id="20" name="Shape 18"/>
          <p:cNvSpPr/>
          <p:nvPr/>
        </p:nvSpPr>
        <p:spPr>
          <a:xfrm>
            <a:off x="4617720" y="1444752"/>
            <a:ext cx="4023360" cy="1664208"/>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21" name="Shape 19"/>
          <p:cNvSpPr/>
          <p:nvPr/>
        </p:nvSpPr>
        <p:spPr>
          <a:xfrm>
            <a:off x="4617720" y="1444752"/>
            <a:ext cx="4023360" cy="320040"/>
          </a:xfrm>
          <a:prstGeom prst="rect">
            <a:avLst/>
          </a:prstGeom>
          <a:solidFill>
            <a:srgbClr val="0D1B2A"/>
          </a:solidFill>
          <a:ln w="12700">
            <a:solidFill>
              <a:srgbClr val="0D1B2A"/>
            </a:solidFill>
            <a:prstDash val="solid"/>
          </a:ln>
        </p:spPr>
      </p:sp>
      <p:sp>
        <p:nvSpPr>
          <p:cNvPr id="22" name="Text 20"/>
          <p:cNvSpPr/>
          <p:nvPr/>
        </p:nvSpPr>
        <p:spPr>
          <a:xfrm>
            <a:off x="4727448" y="1444752"/>
            <a:ext cx="3803904" cy="320040"/>
          </a:xfrm>
          <a:prstGeom prst="rect">
            <a:avLst/>
          </a:prstGeom>
          <a:noFill/>
          <a:ln/>
        </p:spPr>
        <p:txBody>
          <a:bodyPr wrap="square" lIns="0" tIns="0" rIns="0" bIns="0" rtlCol="0" anchor="ctr"/>
          <a:lstStyle/>
          <a:p>
            <a:pPr indent="0" marL="0">
              <a:buNone/>
            </a:pPr>
            <a:r>
              <a:rPr lang="en-US" sz="1200" b="1" dirty="0">
                <a:solidFill>
                  <a:srgbClr val="FFFFFF"/>
                </a:solidFill>
              </a:rPr>
              <a:t>Telescoping Arm</a:t>
            </a:r>
            <a:endParaRPr lang="en-US" sz="1200" dirty="0"/>
          </a:p>
        </p:txBody>
      </p:sp>
      <p:sp>
        <p:nvSpPr>
          <p:cNvPr id="23" name="Text 21"/>
          <p:cNvSpPr/>
          <p:nvPr/>
        </p:nvSpPr>
        <p:spPr>
          <a:xfrm>
            <a:off x="4727448" y="1828800"/>
            <a:ext cx="3803904" cy="685800"/>
          </a:xfrm>
          <a:prstGeom prst="rect">
            <a:avLst/>
          </a:prstGeom>
          <a:noFill/>
          <a:ln/>
        </p:spPr>
        <p:txBody>
          <a:bodyPr wrap="square" lIns="0" tIns="0" rIns="0" bIns="0" rtlCol="0" anchor="ctr"/>
          <a:lstStyle/>
          <a:p>
            <a:pPr indent="0" marL="0">
              <a:buNone/>
            </a:pPr>
            <a:r>
              <a:rPr lang="en-US" sz="1100" dirty="0">
                <a:solidFill>
                  <a:srgbClr val="5B6B80"/>
                </a:solidFill>
              </a:rPr>
              <a:t>Extends to reach high bars, hooks on, then retracts. Can reach multiple bar heights in traverse challenges (e.g., 2022 Rapid React).</a:t>
            </a:r>
            <a:endParaRPr lang="en-US" sz="1100" dirty="0"/>
          </a:p>
        </p:txBody>
      </p:sp>
      <p:sp>
        <p:nvSpPr>
          <p:cNvPr id="24" name="Text 22"/>
          <p:cNvSpPr/>
          <p:nvPr/>
        </p:nvSpPr>
        <p:spPr>
          <a:xfrm>
            <a:off x="4727448" y="2560320"/>
            <a:ext cx="3803904" cy="228600"/>
          </a:xfrm>
          <a:prstGeom prst="rect">
            <a:avLst/>
          </a:prstGeom>
          <a:noFill/>
          <a:ln/>
        </p:spPr>
        <p:txBody>
          <a:bodyPr wrap="square" lIns="0" tIns="0" rIns="0" bIns="0" rtlCol="0" anchor="ctr"/>
          <a:lstStyle/>
          <a:p>
            <a:pPr indent="0" marL="0">
              <a:buNone/>
            </a:pPr>
            <a:r>
              <a:rPr lang="en-US" sz="1000" dirty="0">
                <a:solidFill>
                  <a:srgbClr val="2E6E2E"/>
                </a:solidFill>
              </a:rPr>
              <a:t>✓ Multi-height versatility</a:t>
            </a:r>
            <a:endParaRPr lang="en-US" sz="1000" dirty="0"/>
          </a:p>
        </p:txBody>
      </p:sp>
      <p:sp>
        <p:nvSpPr>
          <p:cNvPr id="25" name="Text 23"/>
          <p:cNvSpPr/>
          <p:nvPr/>
        </p:nvSpPr>
        <p:spPr>
          <a:xfrm>
            <a:off x="4727448" y="2798064"/>
            <a:ext cx="3803904" cy="228600"/>
          </a:xfrm>
          <a:prstGeom prst="rect">
            <a:avLst/>
          </a:prstGeom>
          <a:noFill/>
          <a:ln/>
        </p:spPr>
        <p:txBody>
          <a:bodyPr wrap="square" lIns="0" tIns="0" rIns="0" bIns="0" rtlCol="0" anchor="ctr"/>
          <a:lstStyle/>
          <a:p>
            <a:pPr indent="0" marL="0">
              <a:buNone/>
            </a:pPr>
            <a:r>
              <a:rPr lang="en-US" sz="1000" dirty="0">
                <a:solidFill>
                  <a:srgbClr val="8B1A1A"/>
                </a:solidFill>
              </a:rPr>
              <a:t>✗ Complex — heavy and slow</a:t>
            </a:r>
            <a:endParaRPr lang="en-US" sz="1000" dirty="0"/>
          </a:p>
        </p:txBody>
      </p:sp>
      <p:sp>
        <p:nvSpPr>
          <p:cNvPr id="26" name="Shape 24"/>
          <p:cNvSpPr/>
          <p:nvPr/>
        </p:nvSpPr>
        <p:spPr>
          <a:xfrm>
            <a:off x="4617720" y="3227832"/>
            <a:ext cx="4023360" cy="1664208"/>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27" name="Shape 25"/>
          <p:cNvSpPr/>
          <p:nvPr/>
        </p:nvSpPr>
        <p:spPr>
          <a:xfrm>
            <a:off x="4617720" y="3227832"/>
            <a:ext cx="4023360" cy="320040"/>
          </a:xfrm>
          <a:prstGeom prst="rect">
            <a:avLst/>
          </a:prstGeom>
          <a:solidFill>
            <a:srgbClr val="0D1B2A"/>
          </a:solidFill>
          <a:ln w="12700">
            <a:solidFill>
              <a:srgbClr val="0D1B2A"/>
            </a:solidFill>
            <a:prstDash val="solid"/>
          </a:ln>
        </p:spPr>
      </p:sp>
      <p:sp>
        <p:nvSpPr>
          <p:cNvPr id="28" name="Text 26"/>
          <p:cNvSpPr/>
          <p:nvPr/>
        </p:nvSpPr>
        <p:spPr>
          <a:xfrm>
            <a:off x="4727448" y="3227832"/>
            <a:ext cx="3803904" cy="320040"/>
          </a:xfrm>
          <a:prstGeom prst="rect">
            <a:avLst/>
          </a:prstGeom>
          <a:noFill/>
          <a:ln/>
        </p:spPr>
        <p:txBody>
          <a:bodyPr wrap="square" lIns="0" tIns="0" rIns="0" bIns="0" rtlCol="0" anchor="ctr"/>
          <a:lstStyle/>
          <a:p>
            <a:pPr indent="0" marL="0">
              <a:buNone/>
            </a:pPr>
            <a:r>
              <a:rPr lang="en-US" sz="1200" b="1" dirty="0">
                <a:solidFill>
                  <a:srgbClr val="FFFFFF"/>
                </a:solidFill>
              </a:rPr>
              <a:t>Pneumatic Pop-Out</a:t>
            </a:r>
            <a:endParaRPr lang="en-US" sz="1200" dirty="0"/>
          </a:p>
        </p:txBody>
      </p:sp>
      <p:sp>
        <p:nvSpPr>
          <p:cNvPr id="29" name="Text 27"/>
          <p:cNvSpPr/>
          <p:nvPr/>
        </p:nvSpPr>
        <p:spPr>
          <a:xfrm>
            <a:off x="4727448" y="3611880"/>
            <a:ext cx="3803904" cy="685800"/>
          </a:xfrm>
          <a:prstGeom prst="rect">
            <a:avLst/>
          </a:prstGeom>
          <a:noFill/>
          <a:ln/>
        </p:spPr>
        <p:txBody>
          <a:bodyPr wrap="square" lIns="0" tIns="0" rIns="0" bIns="0" rtlCol="0" anchor="ctr"/>
          <a:lstStyle/>
          <a:p>
            <a:pPr indent="0" marL="0">
              <a:buNone/>
            </a:pPr>
            <a:r>
              <a:rPr lang="en-US" sz="1100" dirty="0">
                <a:solidFill>
                  <a:srgbClr val="5B6B80"/>
                </a:solidFill>
              </a:rPr>
              <a:t>Pneumatic pistons quickly deploy hooks to latch on last-second. Used when speed matters most and air is available.</a:t>
            </a:r>
            <a:endParaRPr lang="en-US" sz="1100" dirty="0"/>
          </a:p>
        </p:txBody>
      </p:sp>
      <p:sp>
        <p:nvSpPr>
          <p:cNvPr id="30" name="Text 28"/>
          <p:cNvSpPr/>
          <p:nvPr/>
        </p:nvSpPr>
        <p:spPr>
          <a:xfrm>
            <a:off x="4727448" y="4343400"/>
            <a:ext cx="3803904" cy="228600"/>
          </a:xfrm>
          <a:prstGeom prst="rect">
            <a:avLst/>
          </a:prstGeom>
          <a:noFill/>
          <a:ln/>
        </p:spPr>
        <p:txBody>
          <a:bodyPr wrap="square" lIns="0" tIns="0" rIns="0" bIns="0" rtlCol="0" anchor="ctr"/>
          <a:lstStyle/>
          <a:p>
            <a:pPr indent="0" marL="0">
              <a:buNone/>
            </a:pPr>
            <a:r>
              <a:rPr lang="en-US" sz="1000" dirty="0">
                <a:solidFill>
                  <a:srgbClr val="2E6E2E"/>
                </a:solidFill>
              </a:rPr>
              <a:t>✓ Extremely fast deployment</a:t>
            </a:r>
            <a:endParaRPr lang="en-US" sz="1000" dirty="0"/>
          </a:p>
        </p:txBody>
      </p:sp>
      <p:sp>
        <p:nvSpPr>
          <p:cNvPr id="31" name="Text 29"/>
          <p:cNvSpPr/>
          <p:nvPr/>
        </p:nvSpPr>
        <p:spPr>
          <a:xfrm>
            <a:off x="4727448" y="4581144"/>
            <a:ext cx="3803904" cy="228600"/>
          </a:xfrm>
          <a:prstGeom prst="rect">
            <a:avLst/>
          </a:prstGeom>
          <a:noFill/>
          <a:ln/>
        </p:spPr>
        <p:txBody>
          <a:bodyPr wrap="square" lIns="0" tIns="0" rIns="0" bIns="0" rtlCol="0" anchor="ctr"/>
          <a:lstStyle/>
          <a:p>
            <a:pPr indent="0" marL="0">
              <a:buNone/>
            </a:pPr>
            <a:r>
              <a:rPr lang="en-US" sz="1000" dirty="0">
                <a:solidFill>
                  <a:srgbClr val="8B1A1A"/>
                </a:solidFill>
              </a:rPr>
              <a:t>✗ One-shot, air management needed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3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457200" y="73152"/>
            <a:ext cx="6400800" cy="548640"/>
          </a:xfrm>
          <a:prstGeom prst="rect">
            <a:avLst/>
          </a:prstGeom>
          <a:noFill/>
          <a:ln/>
        </p:spPr>
        <p:txBody>
          <a:bodyPr wrap="square" lIns="0" tIns="0" rIns="0" bIns="0" rtlCol="0" anchor="ctr"/>
          <a:lstStyle/>
          <a:p>
            <a:pPr algn="l" indent="0" marL="0">
              <a:buNone/>
            </a:pPr>
            <a:r>
              <a:rPr lang="en-US" sz="2200" b="1" dirty="0">
                <a:solidFill>
                  <a:srgbClr val="FFFFFF"/>
                </a:solidFill>
              </a:rPr>
              <a:t>Key Takeaways</a:t>
            </a:r>
            <a:endParaRPr lang="en-US" sz="2200" dirty="0"/>
          </a:p>
        </p:txBody>
      </p:sp>
      <p:sp>
        <p:nvSpPr>
          <p:cNvPr id="4" name="Shape 2"/>
          <p:cNvSpPr/>
          <p:nvPr/>
        </p:nvSpPr>
        <p:spPr>
          <a:xfrm>
            <a:off x="7132320" y="118872"/>
            <a:ext cx="1554480" cy="438912"/>
          </a:xfrm>
          <a:prstGeom prst="rect">
            <a:avLst/>
          </a:prstGeom>
          <a:solidFill>
            <a:srgbClr val="E87C0A"/>
          </a:solidFill>
          <a:ln w="12700">
            <a:solidFill>
              <a:srgbClr val="E87C0A"/>
            </a:solidFill>
            <a:prstDash val="solid"/>
          </a:ln>
        </p:spPr>
      </p:sp>
      <p:sp>
        <p:nvSpPr>
          <p:cNvPr id="5" name="Text 3"/>
          <p:cNvSpPr/>
          <p:nvPr/>
        </p:nvSpPr>
        <p:spPr>
          <a:xfrm>
            <a:off x="7132320" y="118872"/>
            <a:ext cx="1554480" cy="438912"/>
          </a:xfrm>
          <a:prstGeom prst="rect">
            <a:avLst/>
          </a:prstGeom>
          <a:noFill/>
          <a:ln/>
        </p:spPr>
        <p:txBody>
          <a:bodyPr wrap="square" lIns="0" tIns="0" rIns="0" bIns="0" rtlCol="0" anchor="ctr"/>
          <a:lstStyle/>
          <a:p>
            <a:pPr algn="ctr" indent="0" marL="0">
              <a:buNone/>
            </a:pPr>
            <a:r>
              <a:rPr lang="en-US" sz="1200" b="1" dirty="0">
                <a:solidFill>
                  <a:srgbClr val="FFFFFF"/>
                </a:solidFill>
              </a:rPr>
              <a:t>SUMMARY</a:t>
            </a:r>
            <a:endParaRPr lang="en-US" sz="1200" dirty="0"/>
          </a:p>
        </p:txBody>
      </p:sp>
      <p:sp>
        <p:nvSpPr>
          <p:cNvPr id="6" name="Shape 4"/>
          <p:cNvSpPr/>
          <p:nvPr/>
        </p:nvSpPr>
        <p:spPr>
          <a:xfrm>
            <a:off x="0" y="5070348"/>
            <a:ext cx="9144000" cy="73152"/>
          </a:xfrm>
          <a:prstGeom prst="rect">
            <a:avLst/>
          </a:prstGeom>
          <a:solidFill>
            <a:srgbClr val="E87C0A"/>
          </a:solidFill>
          <a:ln w="12700">
            <a:solidFill>
              <a:srgbClr val="E87C0A"/>
            </a:solidFill>
            <a:prstDash val="solid"/>
          </a:ln>
        </p:spPr>
      </p:sp>
      <p:sp>
        <p:nvSpPr>
          <p:cNvPr id="7" name="Shape 5"/>
          <p:cNvSpPr/>
          <p:nvPr/>
        </p:nvSpPr>
        <p:spPr>
          <a:xfrm>
            <a:off x="365760" y="804672"/>
            <a:ext cx="4114800" cy="187452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8" name="Shape 6"/>
          <p:cNvSpPr/>
          <p:nvPr/>
        </p:nvSpPr>
        <p:spPr>
          <a:xfrm>
            <a:off x="365760" y="804672"/>
            <a:ext cx="4114800" cy="64008"/>
          </a:xfrm>
          <a:prstGeom prst="rect">
            <a:avLst/>
          </a:prstGeom>
          <a:solidFill>
            <a:srgbClr val="E87C0A"/>
          </a:solidFill>
          <a:ln w="12700">
            <a:solidFill>
              <a:srgbClr val="E87C0A"/>
            </a:solidFill>
            <a:prstDash val="solid"/>
          </a:ln>
        </p:spPr>
      </p:sp>
      <p:sp>
        <p:nvSpPr>
          <p:cNvPr id="9" name="Shape 7"/>
          <p:cNvSpPr/>
          <p:nvPr/>
        </p:nvSpPr>
        <p:spPr>
          <a:xfrm>
            <a:off x="502920" y="987552"/>
            <a:ext cx="457200" cy="457200"/>
          </a:xfrm>
          <a:prstGeom prst="ellipse">
            <a:avLst/>
          </a:prstGeom>
          <a:solidFill>
            <a:srgbClr val="0D1B2A"/>
          </a:solidFill>
          <a:ln w="12700">
            <a:solidFill>
              <a:srgbClr val="0D1B2A"/>
            </a:solidFill>
            <a:prstDash val="solid"/>
          </a:ln>
        </p:spPr>
      </p:sp>
      <p:sp>
        <p:nvSpPr>
          <p:cNvPr id="10" name="Text 8"/>
          <p:cNvSpPr/>
          <p:nvPr/>
        </p:nvSpPr>
        <p:spPr>
          <a:xfrm>
            <a:off x="502920" y="987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p:nvPr/>
        </p:nvSpPr>
        <p:spPr>
          <a:xfrm>
            <a:off x="1078992" y="1005840"/>
            <a:ext cx="3246120" cy="384048"/>
          </a:xfrm>
          <a:prstGeom prst="rect">
            <a:avLst/>
          </a:prstGeom>
          <a:noFill/>
          <a:ln/>
        </p:spPr>
        <p:txBody>
          <a:bodyPr wrap="square" lIns="0" tIns="0" rIns="0" bIns="0" rtlCol="0" anchor="ctr"/>
          <a:lstStyle/>
          <a:p>
            <a:pPr indent="0" marL="0">
              <a:buNone/>
            </a:pPr>
            <a:r>
              <a:rPr lang="en-US" sz="1400" b="1" dirty="0">
                <a:solidFill>
                  <a:srgbClr val="0D1B2A"/>
                </a:solidFill>
              </a:rPr>
              <a:t>Read the game first</a:t>
            </a:r>
            <a:endParaRPr lang="en-US" sz="1400" dirty="0"/>
          </a:p>
        </p:txBody>
      </p:sp>
      <p:sp>
        <p:nvSpPr>
          <p:cNvPr id="12" name="Text 10"/>
          <p:cNvSpPr/>
          <p:nvPr/>
        </p:nvSpPr>
        <p:spPr>
          <a:xfrm>
            <a:off x="502920" y="1517904"/>
            <a:ext cx="3840480" cy="1051560"/>
          </a:xfrm>
          <a:prstGeom prst="rect">
            <a:avLst/>
          </a:prstGeom>
          <a:noFill/>
          <a:ln/>
        </p:spPr>
        <p:txBody>
          <a:bodyPr wrap="square" lIns="0" tIns="0" rIns="0" bIns="0" rtlCol="0" anchor="ctr"/>
          <a:lstStyle/>
          <a:p>
            <a:pPr indent="0" marL="0">
              <a:buNone/>
            </a:pPr>
            <a:r>
              <a:rPr lang="en-US" sz="1150" dirty="0">
                <a:solidFill>
                  <a:srgbClr val="5B6B80"/>
                </a:solidFill>
              </a:rPr>
              <a:t>No single drive base or mechanism is always best. Analyze the game's scoring, defense rules, and field layout before designing anything.</a:t>
            </a:r>
            <a:endParaRPr lang="en-US" sz="1150" dirty="0"/>
          </a:p>
        </p:txBody>
      </p:sp>
      <p:sp>
        <p:nvSpPr>
          <p:cNvPr id="13" name="Shape 11"/>
          <p:cNvSpPr/>
          <p:nvPr/>
        </p:nvSpPr>
        <p:spPr>
          <a:xfrm>
            <a:off x="4663440" y="804672"/>
            <a:ext cx="4114800" cy="187452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14" name="Shape 12"/>
          <p:cNvSpPr/>
          <p:nvPr/>
        </p:nvSpPr>
        <p:spPr>
          <a:xfrm>
            <a:off x="4663440" y="804672"/>
            <a:ext cx="4114800" cy="64008"/>
          </a:xfrm>
          <a:prstGeom prst="rect">
            <a:avLst/>
          </a:prstGeom>
          <a:solidFill>
            <a:srgbClr val="E87C0A"/>
          </a:solidFill>
          <a:ln w="12700">
            <a:solidFill>
              <a:srgbClr val="E87C0A"/>
            </a:solidFill>
            <a:prstDash val="solid"/>
          </a:ln>
        </p:spPr>
      </p:sp>
      <p:sp>
        <p:nvSpPr>
          <p:cNvPr id="15" name="Shape 13"/>
          <p:cNvSpPr/>
          <p:nvPr/>
        </p:nvSpPr>
        <p:spPr>
          <a:xfrm>
            <a:off x="4800600" y="987552"/>
            <a:ext cx="457200" cy="457200"/>
          </a:xfrm>
          <a:prstGeom prst="ellipse">
            <a:avLst/>
          </a:prstGeom>
          <a:solidFill>
            <a:srgbClr val="0D1B2A"/>
          </a:solidFill>
          <a:ln w="12700">
            <a:solidFill>
              <a:srgbClr val="0D1B2A"/>
            </a:solidFill>
            <a:prstDash val="solid"/>
          </a:ln>
        </p:spPr>
      </p:sp>
      <p:sp>
        <p:nvSpPr>
          <p:cNvPr id="16" name="Text 14"/>
          <p:cNvSpPr/>
          <p:nvPr/>
        </p:nvSpPr>
        <p:spPr>
          <a:xfrm>
            <a:off x="4800600" y="987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7" name="Text 15"/>
          <p:cNvSpPr/>
          <p:nvPr/>
        </p:nvSpPr>
        <p:spPr>
          <a:xfrm>
            <a:off x="5376672" y="1005840"/>
            <a:ext cx="3246120" cy="384048"/>
          </a:xfrm>
          <a:prstGeom prst="rect">
            <a:avLst/>
          </a:prstGeom>
          <a:noFill/>
          <a:ln/>
        </p:spPr>
        <p:txBody>
          <a:bodyPr wrap="square" lIns="0" tIns="0" rIns="0" bIns="0" rtlCol="0" anchor="ctr"/>
          <a:lstStyle/>
          <a:p>
            <a:pPr indent="0" marL="0">
              <a:buNone/>
            </a:pPr>
            <a:r>
              <a:rPr lang="en-US" sz="1400" b="1" dirty="0">
                <a:solidFill>
                  <a:srgbClr val="0D1B2A"/>
                </a:solidFill>
              </a:rPr>
              <a:t>Match complexity to skill</a:t>
            </a:r>
            <a:endParaRPr lang="en-US" sz="1400" dirty="0"/>
          </a:p>
        </p:txBody>
      </p:sp>
      <p:sp>
        <p:nvSpPr>
          <p:cNvPr id="18" name="Text 16"/>
          <p:cNvSpPr/>
          <p:nvPr/>
        </p:nvSpPr>
        <p:spPr>
          <a:xfrm>
            <a:off x="4800600" y="1517904"/>
            <a:ext cx="3840480" cy="1051560"/>
          </a:xfrm>
          <a:prstGeom prst="rect">
            <a:avLst/>
          </a:prstGeom>
          <a:noFill/>
          <a:ln/>
        </p:spPr>
        <p:txBody>
          <a:bodyPr wrap="square" lIns="0" tIns="0" rIns="0" bIns="0" rtlCol="0" anchor="ctr"/>
          <a:lstStyle/>
          <a:p>
            <a:pPr indent="0" marL="0">
              <a:buNone/>
            </a:pPr>
            <a:r>
              <a:rPr lang="en-US" sz="1150" dirty="0">
                <a:solidFill>
                  <a:srgbClr val="5B6B80"/>
                </a:solidFill>
              </a:rPr>
              <a:t>Swerve and multi-joint arms are powerful but demand advanced build and programming skills. A reliable simpler design beats a broken complex one.</a:t>
            </a:r>
            <a:endParaRPr lang="en-US" sz="1150" dirty="0"/>
          </a:p>
        </p:txBody>
      </p:sp>
      <p:sp>
        <p:nvSpPr>
          <p:cNvPr id="19" name="Shape 17"/>
          <p:cNvSpPr/>
          <p:nvPr/>
        </p:nvSpPr>
        <p:spPr>
          <a:xfrm>
            <a:off x="365760" y="2816352"/>
            <a:ext cx="4114800" cy="187452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20" name="Shape 18"/>
          <p:cNvSpPr/>
          <p:nvPr/>
        </p:nvSpPr>
        <p:spPr>
          <a:xfrm>
            <a:off x="365760" y="2816352"/>
            <a:ext cx="4114800" cy="64008"/>
          </a:xfrm>
          <a:prstGeom prst="rect">
            <a:avLst/>
          </a:prstGeom>
          <a:solidFill>
            <a:srgbClr val="E87C0A"/>
          </a:solidFill>
          <a:ln w="12700">
            <a:solidFill>
              <a:srgbClr val="E87C0A"/>
            </a:solidFill>
            <a:prstDash val="solid"/>
          </a:ln>
        </p:spPr>
      </p:sp>
      <p:sp>
        <p:nvSpPr>
          <p:cNvPr id="21" name="Shape 19"/>
          <p:cNvSpPr/>
          <p:nvPr/>
        </p:nvSpPr>
        <p:spPr>
          <a:xfrm>
            <a:off x="502920" y="2999232"/>
            <a:ext cx="457200" cy="457200"/>
          </a:xfrm>
          <a:prstGeom prst="ellipse">
            <a:avLst/>
          </a:prstGeom>
          <a:solidFill>
            <a:srgbClr val="0D1B2A"/>
          </a:solidFill>
          <a:ln w="12700">
            <a:solidFill>
              <a:srgbClr val="0D1B2A"/>
            </a:solidFill>
            <a:prstDash val="solid"/>
          </a:ln>
        </p:spPr>
      </p:sp>
      <p:sp>
        <p:nvSpPr>
          <p:cNvPr id="22" name="Text 20"/>
          <p:cNvSpPr/>
          <p:nvPr/>
        </p:nvSpPr>
        <p:spPr>
          <a:xfrm>
            <a:off x="502920" y="29992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3" name="Text 21"/>
          <p:cNvSpPr/>
          <p:nvPr/>
        </p:nvSpPr>
        <p:spPr>
          <a:xfrm>
            <a:off x="1078992" y="3017520"/>
            <a:ext cx="3246120" cy="384048"/>
          </a:xfrm>
          <a:prstGeom prst="rect">
            <a:avLst/>
          </a:prstGeom>
          <a:noFill/>
          <a:ln/>
        </p:spPr>
        <p:txBody>
          <a:bodyPr wrap="square" lIns="0" tIns="0" rIns="0" bIns="0" rtlCol="0" anchor="ctr"/>
          <a:lstStyle/>
          <a:p>
            <a:pPr indent="0" marL="0">
              <a:buNone/>
            </a:pPr>
            <a:r>
              <a:rPr lang="en-US" sz="1400" b="1" dirty="0">
                <a:solidFill>
                  <a:srgbClr val="0D1B2A"/>
                </a:solidFill>
              </a:rPr>
              <a:t>Prototype early</a:t>
            </a:r>
            <a:endParaRPr lang="en-US" sz="1400" dirty="0"/>
          </a:p>
        </p:txBody>
      </p:sp>
      <p:sp>
        <p:nvSpPr>
          <p:cNvPr id="24" name="Text 22"/>
          <p:cNvSpPr/>
          <p:nvPr/>
        </p:nvSpPr>
        <p:spPr>
          <a:xfrm>
            <a:off x="502920" y="3529584"/>
            <a:ext cx="3840480" cy="1051560"/>
          </a:xfrm>
          <a:prstGeom prst="rect">
            <a:avLst/>
          </a:prstGeom>
          <a:noFill/>
          <a:ln/>
        </p:spPr>
        <p:txBody>
          <a:bodyPr wrap="square" lIns="0" tIns="0" rIns="0" bIns="0" rtlCol="0" anchor="ctr"/>
          <a:lstStyle/>
          <a:p>
            <a:pPr indent="0" marL="0">
              <a:buNone/>
            </a:pPr>
            <a:r>
              <a:rPr lang="en-US" sz="1150" dirty="0">
                <a:solidFill>
                  <a:srgbClr val="5B6B80"/>
                </a:solidFill>
              </a:rPr>
              <a:t>Mechanisms that sound good in CAD often fail in reality. Build quick cardboard/wood prototypes before committing to metal.</a:t>
            </a:r>
            <a:endParaRPr lang="en-US" sz="1150" dirty="0"/>
          </a:p>
        </p:txBody>
      </p:sp>
      <p:sp>
        <p:nvSpPr>
          <p:cNvPr id="25" name="Shape 23"/>
          <p:cNvSpPr/>
          <p:nvPr/>
        </p:nvSpPr>
        <p:spPr>
          <a:xfrm>
            <a:off x="4663440" y="2816352"/>
            <a:ext cx="4114800" cy="1874520"/>
          </a:xfrm>
          <a:prstGeom prst="rect">
            <a:avLst/>
          </a:prstGeom>
          <a:solidFill>
            <a:srgbClr val="FFFFFF"/>
          </a:solidFill>
          <a:ln w="12700">
            <a:solidFill>
              <a:srgbClr val="D8E4F0"/>
            </a:solidFill>
            <a:prstDash val="solid"/>
          </a:ln>
          <a:effectLst>
            <a:outerShdw sx="100000" sy="100000" kx="0" ky="0" algn="bl" rotWithShape="0" blurRad="63500" dist="25400" dir="8100000">
              <a:srgbClr val="000000">
                <a:alpha val="9000"/>
              </a:srgbClr>
            </a:outerShdw>
          </a:effectLst>
        </p:spPr>
      </p:sp>
      <p:sp>
        <p:nvSpPr>
          <p:cNvPr id="26" name="Shape 24"/>
          <p:cNvSpPr/>
          <p:nvPr/>
        </p:nvSpPr>
        <p:spPr>
          <a:xfrm>
            <a:off x="4663440" y="2816352"/>
            <a:ext cx="4114800" cy="64008"/>
          </a:xfrm>
          <a:prstGeom prst="rect">
            <a:avLst/>
          </a:prstGeom>
          <a:solidFill>
            <a:srgbClr val="E87C0A"/>
          </a:solidFill>
          <a:ln w="12700">
            <a:solidFill>
              <a:srgbClr val="E87C0A"/>
            </a:solidFill>
            <a:prstDash val="solid"/>
          </a:ln>
        </p:spPr>
      </p:sp>
      <p:sp>
        <p:nvSpPr>
          <p:cNvPr id="27" name="Shape 25"/>
          <p:cNvSpPr/>
          <p:nvPr/>
        </p:nvSpPr>
        <p:spPr>
          <a:xfrm>
            <a:off x="4800600" y="2999232"/>
            <a:ext cx="457200" cy="457200"/>
          </a:xfrm>
          <a:prstGeom prst="ellipse">
            <a:avLst/>
          </a:prstGeom>
          <a:solidFill>
            <a:srgbClr val="0D1B2A"/>
          </a:solidFill>
          <a:ln w="12700">
            <a:solidFill>
              <a:srgbClr val="0D1B2A"/>
            </a:solidFill>
            <a:prstDash val="solid"/>
          </a:ln>
        </p:spPr>
      </p:sp>
      <p:sp>
        <p:nvSpPr>
          <p:cNvPr id="28" name="Text 26"/>
          <p:cNvSpPr/>
          <p:nvPr/>
        </p:nvSpPr>
        <p:spPr>
          <a:xfrm>
            <a:off x="4800600" y="29992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9" name="Text 27"/>
          <p:cNvSpPr/>
          <p:nvPr/>
        </p:nvSpPr>
        <p:spPr>
          <a:xfrm>
            <a:off x="5376672" y="3017520"/>
            <a:ext cx="3246120" cy="384048"/>
          </a:xfrm>
          <a:prstGeom prst="rect">
            <a:avLst/>
          </a:prstGeom>
          <a:noFill/>
          <a:ln/>
        </p:spPr>
        <p:txBody>
          <a:bodyPr wrap="square" lIns="0" tIns="0" rIns="0" bIns="0" rtlCol="0" anchor="ctr"/>
          <a:lstStyle/>
          <a:p>
            <a:pPr indent="0" marL="0">
              <a:buNone/>
            </a:pPr>
            <a:r>
              <a:rPr lang="en-US" sz="1400" b="1" dirty="0">
                <a:solidFill>
                  <a:srgbClr val="0D1B2A"/>
                </a:solidFill>
              </a:rPr>
              <a:t>Design for repairability</a:t>
            </a:r>
            <a:endParaRPr lang="en-US" sz="1400" dirty="0"/>
          </a:p>
        </p:txBody>
      </p:sp>
      <p:sp>
        <p:nvSpPr>
          <p:cNvPr id="30" name="Text 28"/>
          <p:cNvSpPr/>
          <p:nvPr/>
        </p:nvSpPr>
        <p:spPr>
          <a:xfrm>
            <a:off x="4800600" y="3529584"/>
            <a:ext cx="3840480" cy="1051560"/>
          </a:xfrm>
          <a:prstGeom prst="rect">
            <a:avLst/>
          </a:prstGeom>
          <a:noFill/>
          <a:ln/>
        </p:spPr>
        <p:txBody>
          <a:bodyPr wrap="square" lIns="0" tIns="0" rIns="0" bIns="0" rtlCol="0" anchor="ctr"/>
          <a:lstStyle/>
          <a:p>
            <a:pPr indent="0" marL="0">
              <a:buNone/>
            </a:pPr>
            <a:r>
              <a:rPr lang="en-US" sz="1150" dirty="0">
                <a:solidFill>
                  <a:srgbClr val="5B6B80"/>
                </a:solidFill>
              </a:rPr>
              <a:t>FRC competition is brutal. Design with spare parts in mind, easy access for repairs, and robust fasteners that survive repeated impacts.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C0A"/>
          </a:solidFill>
          <a:ln w="12700">
            <a:solidFill>
              <a:srgbClr val="E87C0A"/>
            </a:solidFill>
            <a:prstDash val="solid"/>
          </a:ln>
        </p:spPr>
      </p:sp>
      <p:sp>
        <p:nvSpPr>
          <p:cNvPr id="3" name="Shape 1"/>
          <p:cNvSpPr/>
          <p:nvPr/>
        </p:nvSpPr>
        <p:spPr>
          <a:xfrm>
            <a:off x="0" y="5070348"/>
            <a:ext cx="9144000" cy="73152"/>
          </a:xfrm>
          <a:prstGeom prst="rect">
            <a:avLst/>
          </a:prstGeom>
          <a:solidFill>
            <a:srgbClr val="E87C0A"/>
          </a:solidFill>
          <a:ln w="12700">
            <a:solidFill>
              <a:srgbClr val="E87C0A"/>
            </a:solidFill>
            <a:prstDash val="solid"/>
          </a:ln>
        </p:spPr>
      </p:sp>
      <p:sp>
        <p:nvSpPr>
          <p:cNvPr id="4" name="Text 2"/>
          <p:cNvSpPr/>
          <p:nvPr/>
        </p:nvSpPr>
        <p:spPr>
          <a:xfrm>
            <a:off x="914400" y="822960"/>
            <a:ext cx="7315200" cy="2194560"/>
          </a:xfrm>
          <a:prstGeom prst="rect">
            <a:avLst/>
          </a:prstGeom>
          <a:noFill/>
          <a:ln/>
        </p:spPr>
        <p:txBody>
          <a:bodyPr wrap="square" lIns="0" tIns="0" rIns="0" bIns="0" rtlCol="0" anchor="ctr"/>
          <a:lstStyle/>
          <a:p>
            <a:pPr algn="ctr" indent="0" marL="0">
              <a:buNone/>
            </a:pPr>
            <a:r>
              <a:rPr lang="en-US" sz="3600" b="1" dirty="0">
                <a:solidFill>
                  <a:srgbClr val="FFFFFF"/>
                </a:solidFill>
              </a:rPr>
              <a:t>Build Thoughtfully.</a:t>
            </a:r>
            <a:endParaRPr lang="en-US" sz="3600" dirty="0"/>
          </a:p>
          <a:p>
            <a:pPr algn="ctr" indent="0" marL="0">
              <a:buNone/>
            </a:pPr>
            <a:r>
              <a:rPr lang="en-US" sz="3600" b="1" dirty="0">
                <a:solidFill>
                  <a:srgbClr val="FFFFFF"/>
                </a:solidFill>
              </a:rPr>
              <a:t>Iterate Relentlessly.</a:t>
            </a:r>
            <a:endParaRPr lang="en-US" sz="3600" dirty="0"/>
          </a:p>
          <a:p>
            <a:pPr algn="ctr" indent="0" marL="0">
              <a:buNone/>
            </a:pPr>
            <a:r>
              <a:rPr lang="en-US" sz="3600" b="1" dirty="0">
                <a:solidFill>
                  <a:srgbClr val="FFFFFF"/>
                </a:solidFill>
              </a:rPr>
              <a:t>Compete Hard.</a:t>
            </a:r>
            <a:endParaRPr lang="en-US" sz="3600" dirty="0"/>
          </a:p>
        </p:txBody>
      </p:sp>
      <p:sp>
        <p:nvSpPr>
          <p:cNvPr id="5" name="Text 3"/>
          <p:cNvSpPr/>
          <p:nvPr/>
        </p:nvSpPr>
        <p:spPr>
          <a:xfrm>
            <a:off x="1097280" y="3200400"/>
            <a:ext cx="6949440" cy="914400"/>
          </a:xfrm>
          <a:prstGeom prst="rect">
            <a:avLst/>
          </a:prstGeom>
          <a:noFill/>
          <a:ln/>
        </p:spPr>
        <p:txBody>
          <a:bodyPr wrap="square" lIns="0" tIns="0" rIns="0" bIns="0" rtlCol="0" anchor="ctr"/>
          <a:lstStyle/>
          <a:p>
            <a:pPr algn="ctr" indent="0" marL="0">
              <a:buNone/>
            </a:pPr>
            <a:r>
              <a:rPr lang="en-US" sz="1400" i="1" dirty="0">
                <a:solidFill>
                  <a:srgbClr val="D8E4F0"/>
                </a:solidFill>
              </a:rPr>
              <a:t>The best robot is not the most complex — it's the one that does its job reliably, match after match, from qualification rounds all the way to the championship.</a:t>
            </a:r>
            <a:endParaRPr lang="en-US" sz="1400" dirty="0"/>
          </a:p>
        </p:txBody>
      </p:sp>
      <p:sp>
        <p:nvSpPr>
          <p:cNvPr id="6" name="Shape 4"/>
          <p:cNvSpPr/>
          <p:nvPr/>
        </p:nvSpPr>
        <p:spPr>
          <a:xfrm>
            <a:off x="3200400" y="4297680"/>
            <a:ext cx="2743200" cy="502920"/>
          </a:xfrm>
          <a:prstGeom prst="rect">
            <a:avLst/>
          </a:prstGeom>
          <a:solidFill>
            <a:srgbClr val="E87C0A"/>
          </a:solidFill>
          <a:ln w="12700">
            <a:solidFill>
              <a:srgbClr val="E87C0A"/>
            </a:solidFill>
            <a:prstDash val="solid"/>
          </a:ln>
        </p:spPr>
      </p:sp>
      <p:sp>
        <p:nvSpPr>
          <p:cNvPr id="7" name="Text 5"/>
          <p:cNvSpPr/>
          <p:nvPr/>
        </p:nvSpPr>
        <p:spPr>
          <a:xfrm>
            <a:off x="3200400" y="4297680"/>
            <a:ext cx="2743200" cy="502920"/>
          </a:xfrm>
          <a:prstGeom prst="rect">
            <a:avLst/>
          </a:prstGeom>
          <a:noFill/>
          <a:ln/>
        </p:spPr>
        <p:txBody>
          <a:bodyPr wrap="square" lIns="0" tIns="0" rIns="0" bIns="0" rtlCol="0" anchor="ctr"/>
          <a:lstStyle/>
          <a:p>
            <a:pPr algn="ctr" indent="0" marL="0">
              <a:buNone/>
            </a:pPr>
            <a:r>
              <a:rPr lang="en-US" sz="1300" b="1" dirty="0">
                <a:solidFill>
                  <a:srgbClr val="FFFFFF"/>
                </a:solidFill>
              </a:rPr>
              <a:t>FIRST Robotics Competition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FRC Drive Bases &amp; Mechanisms</dc:title>
  <dc:subject>PptxGenJS Presentation</dc:subject>
  <dc:creator>PptxGenJS</dc:creator>
  <cp:lastModifiedBy>PptxGenJS</cp:lastModifiedBy>
  <cp:revision>1</cp:revision>
  <dcterms:created xsi:type="dcterms:W3CDTF">2026-05-13T08:42:03Z</dcterms:created>
  <dcterms:modified xsi:type="dcterms:W3CDTF">2026-05-13T08:42:03Z</dcterms:modified>
</cp:coreProperties>
</file>