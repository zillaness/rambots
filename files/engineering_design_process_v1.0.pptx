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ENGINEERING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6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PROCESS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Define. Brainstorm. Build. Test. Repeat.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E8527A"/>
          </a:solidFill>
          <a:ln w="12700">
            <a:solidFill>
              <a:srgbClr val="E852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09928" y="3081528"/>
            <a:ext cx="64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92224" y="30632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30632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53512" y="3081528"/>
            <a:ext cx="64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35808" y="30632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30632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97096" y="3081528"/>
            <a:ext cx="64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79392" y="30632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30632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40680" y="3081528"/>
            <a:ext cx="64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22976" y="30632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30632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84264" y="3081528"/>
            <a:ext cx="64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30632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30632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27848" y="3081528"/>
            <a:ext cx="64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10144" y="30632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E8527A"/>
          </a:solidFill>
          <a:ln w="12700">
            <a:solidFill>
              <a:srgbClr val="E852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0144" y="30632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FRC Engineering Lecture  |  Companion to Punk Rock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Engineering Design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960120"/>
            <a:ext cx="2103120" cy="475488"/>
          </a:xfrm>
          <a:prstGeom prst="roundRect">
            <a:avLst>
              <a:gd name="adj" fmla="val 23077"/>
            </a:avLst>
          </a:prstGeom>
          <a:solidFill>
            <a:srgbClr val="E8527A"/>
          </a:solidFill>
          <a:ln w="12700">
            <a:solidFill>
              <a:srgbClr val="E852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601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Define the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57400" y="1435608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47672" y="16184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1636776"/>
            <a:ext cx="2103120" cy="475488"/>
          </a:xfrm>
          <a:prstGeom prst="roundRect">
            <a:avLst>
              <a:gd name="adj" fmla="val 2307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3677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Do Background Research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2112264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229514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2313432"/>
            <a:ext cx="2103120" cy="475488"/>
          </a:xfrm>
          <a:prstGeom prst="roundRect">
            <a:avLst>
              <a:gd name="adj" fmla="val 23077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31343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Specify Requirements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2788920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7672" y="2971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2990088"/>
            <a:ext cx="2103120" cy="475488"/>
          </a:xfrm>
          <a:prstGeom prst="roundRect">
            <a:avLst>
              <a:gd name="adj" fmla="val 23077"/>
            </a:avLst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900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Brainstorm &amp; Choose Solution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57400" y="3465576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47672" y="36484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05840" y="3666744"/>
            <a:ext cx="2103120" cy="475488"/>
          </a:xfrm>
          <a:prstGeom prst="roundRect">
            <a:avLst>
              <a:gd name="adj" fmla="val 23077"/>
            </a:avLst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66674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Develop &amp; Prototype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57400" y="4142232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47672" y="43251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5840" y="4343400"/>
            <a:ext cx="2103120" cy="475488"/>
          </a:xfrm>
          <a:prstGeom prst="roundRect">
            <a:avLst>
              <a:gd name="adj" fmla="val 23077"/>
            </a:avLst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3434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Test Solution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57400" y="4818888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47672" y="50017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5840" y="5020056"/>
            <a:ext cx="2103120" cy="475488"/>
          </a:xfrm>
          <a:prstGeom prst="roundRect">
            <a:avLst>
              <a:gd name="adj" fmla="val 23077"/>
            </a:avLst>
          </a:prstGeom>
          <a:solidFill>
            <a:srgbClr val="E8527A"/>
          </a:solidFill>
          <a:ln w="12700">
            <a:solidFill>
              <a:srgbClr val="E852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02005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 Communicate Results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2103120"/>
            <a:ext cx="5029200" cy="237744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2103120"/>
            <a:ext cx="502920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1031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🔁  The Iteration Loop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94760" y="2359152"/>
            <a:ext cx="47548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three key stages — Brainstorm, Prototype, and Test — the process can loop back. When results and data show your solution isn't working, you don't give up: you re-evaluate, make design changes, prototype again, and test again.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is not failure. It is the process.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127248" y="3227832"/>
            <a:ext cx="5029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127248" y="3904488"/>
            <a:ext cx="5029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127248" y="4581144"/>
            <a:ext cx="5029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3127248" y="3099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A623"/>
                </a:solidFill>
              </a:rPr>
              <a:t>← loop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127248" y="37764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A623"/>
                </a:solidFill>
              </a:rPr>
              <a:t>← loop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27248" y="44531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A623"/>
                </a:solidFill>
              </a:rPr>
              <a:t>← loop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Understand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502920"/>
          </a:xfrm>
          <a:prstGeom prst="rect">
            <a:avLst/>
          </a:prstGeom>
          <a:solidFill>
            <a:srgbClr val="E8527A"/>
          </a:solidFill>
          <a:ln w="12700">
            <a:solidFill>
              <a:srgbClr val="E852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— Define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are you trying to solve?
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a clear problem statement
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constraints exist? (weight, size, cost, rules)
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are you designing for?
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does success look like?
</a:t>
            </a:r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FRC example: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robot must pick up 3" diameter game pieces from the floor and score them in a 2ft high goal within 15 seconds."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393192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— Do Background Research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already exists? What can you learn?
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Watch reveal videos from past seasons
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FRC game manual and rules carefully
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Look at Chief Delphi / other team designs
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did your team try last year?
</a:t>
            </a:r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reinvent the wheel. But understand the wheel so you can improve it."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Skipping these steps is the #1 cause of teams building the wrong thing entirely.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Specify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the rules your solution MUST follow. Without them, you can't know if your design succeeds.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77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977640" cy="41148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Must Have (Non-Negotiable)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703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 — your design FAILS if it doesn't meet these: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Fits inside the sizing box at inspection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Doesn't exceed weight limit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Doesn't break game rules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Mechanism is repairable at competition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Operable by drive team in time limit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3977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71600"/>
            <a:ext cx="3977640" cy="411480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716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Nice to Have (Targets)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703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goals — your solution is better if it meets these: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Scores in under 3 seconds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Tolerates misaligned game pieces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operated by new drivers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Compatible with future game changes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minimal adjustment between matches
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your scorecard — you'll come back to them during every test phase.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4: Brainstorm, Evaluate &amp; Choose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77640" cy="411480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Brainstorm &amp; Choose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03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many ideas, then converge: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Sketch multiple concepts (aim for 5+)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judging during ideation phase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each against your requirements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or vote to pick the best direction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 hybrid approaches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choose ONE direction to prototype first.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🔁  Loop Point #1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you loop back from Brainstorm?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938528"/>
            <a:ext cx="6858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3852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596128" y="1938528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data shows your chosen concept is fundamentally flawed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560320"/>
            <a:ext cx="6858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5603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[RULES]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96128" y="256032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changed (new game rule, different strategy)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3182112"/>
            <a:ext cx="6858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821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[FIND]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96128" y="3182112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reveals an approach you hadn't considered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803904"/>
            <a:ext cx="6858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803904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[PARTS]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596128" y="380390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chosen solution can't be built with available tools/parts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41148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back to brainstorm is not defeat — it means your testing is working.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5: Develop and Prototype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77640" cy="411480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 &amp; Prototype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03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chosen idea into something real: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simple — cardboard, wood, basic hardware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 the concept before adding complexity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what you build and why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what you're trying to LEARN from this prototype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 measurements — don't just eyeball it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prototype is a question, not an answer.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asks: "Does this concept work?"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🔁  Loop Point #2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you loop back from Prototype?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938528"/>
            <a:ext cx="685800" cy="457200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3852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96128" y="1938528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reveals the core concept doesn't work (e.g., game piece slips through every time)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596896"/>
            <a:ext cx="685800" cy="457200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596896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96128" y="2596896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interactions or geometry create problems that can't be patched — a rethink is needed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3255264"/>
            <a:ext cx="685800" cy="457200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5526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96128" y="3255264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taught you something that changes what you actually want to build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913632"/>
            <a:ext cx="685800" cy="457200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91363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96128" y="3913632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meets zero requirements — not even partially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41148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"I'd rather just build something and see what happens, even knowing I might have to build it twice."  — SuperfastMatt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6: Test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77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77640" cy="411480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Against Requirements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without a standard is just playing around: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your prototype against the requirements from Step 3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— success rate, cycle time, failure modes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 everything: what worked, what didn't, by how much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repeatedly, not just once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at the edges: what breaks it?
</a:t>
            </a:r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possible results: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657600"/>
            <a:ext cx="1691640" cy="64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68503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Meets Requirements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3840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Communicate Results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343400"/>
            <a:ext cx="169164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36168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Fails or Partially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4462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Loop 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🔁  Loop Point #3 — The Main 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"Based on results and data, make design changes, prototype, test again, and review new data."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loop to depends on WHY it failed: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2542032"/>
            <a:ext cx="1463040" cy="475488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5420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 &amp; Re-Prototype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5420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design flaw, wrong dimension, fixable geometry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163824"/>
            <a:ext cx="146304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1638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 to Brainstorm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316382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is broken, requirements can't be met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85616"/>
            <a:ext cx="1463040" cy="47548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8561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Revisit Requirements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37856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were wrong or unrealistic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1148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a test is the process working exactly as designed.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Three Iteration Gates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later stages always flows back to earlier ones.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1069848" cy="658368"/>
          </a:xfrm>
          <a:prstGeom prst="roundRect">
            <a:avLst>
              <a:gd name="adj" fmla="val 13889"/>
            </a:avLst>
          </a:prstGeom>
          <a:solidFill>
            <a:srgbClr val="E8527A"/>
          </a:solidFill>
          <a:ln w="12700">
            <a:solidFill>
              <a:srgbClr val="E852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325880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98448" y="1655064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1325880"/>
            <a:ext cx="1069848" cy="658368"/>
          </a:xfrm>
          <a:prstGeom prst="roundRect">
            <a:avLst>
              <a:gd name="adj" fmla="val 1388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6464" y="1325880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655064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4328" y="1325880"/>
            <a:ext cx="1069848" cy="658368"/>
          </a:xfrm>
          <a:prstGeom prst="roundRect">
            <a:avLst>
              <a:gd name="adj" fmla="val 13889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325880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94176" y="1655064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1325880"/>
            <a:ext cx="1069848" cy="658368"/>
          </a:xfrm>
          <a:prstGeom prst="roundRect">
            <a:avLst>
              <a:gd name="adj" fmla="val 13889"/>
            </a:avLst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1325880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Choose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1655064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0056" y="1325880"/>
            <a:ext cx="1069848" cy="658368"/>
          </a:xfrm>
          <a:prstGeom prst="roundRect">
            <a:avLst>
              <a:gd name="adj" fmla="val 13889"/>
            </a:avLst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0056" y="1325880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9904" y="1655064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325880"/>
            <a:ext cx="1069848" cy="658368"/>
          </a:xfrm>
          <a:prstGeom prst="roundRect">
            <a:avLst>
              <a:gd name="adj" fmla="val 13889"/>
            </a:avLst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325880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87768" y="1655064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15784" y="1325880"/>
            <a:ext cx="1069848" cy="658368"/>
          </a:xfrm>
          <a:prstGeom prst="roundRect">
            <a:avLst>
              <a:gd name="adj" fmla="val 13889"/>
            </a:avLst>
          </a:prstGeom>
          <a:solidFill>
            <a:srgbClr val="E8527A"/>
          </a:solidFill>
          <a:ln w="12700">
            <a:solidFill>
              <a:srgbClr val="E852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15784" y="1325880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19956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9135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17820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892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15684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8708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63240" y="2240280"/>
            <a:ext cx="3246120" cy="64008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63240" y="2240280"/>
            <a:ext cx="3246120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224028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🔁 Test → Back to Brainstorm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54680" y="24871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fails. Requirements can't be met. Start concept over.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063240" y="3017520"/>
            <a:ext cx="3246120" cy="64008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063240" y="3017520"/>
            <a:ext cx="3246120" cy="201168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63240" y="301752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🔁 Test → Revise &amp; Re-Prototype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54680" y="326440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flaw found. Fix the dimensions, geometry, or mechanism. Rebuild and test again.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063240" y="3794760"/>
            <a:ext cx="3246120" cy="640080"/>
          </a:xfrm>
          <a:prstGeom prst="rect">
            <a:avLst/>
          </a:prstGeom>
          <a:solidFill>
            <a:srgbClr val="1A1A0A"/>
          </a:solidFill>
          <a:ln w="12700">
            <a:solidFill>
              <a:srgbClr val="1A1A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063240" y="3794760"/>
            <a:ext cx="32461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3240" y="379476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🔁 Prototype → New Concept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154680" y="40416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revealed the approach won't work. Go back and brainstorm a different direction.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28600" y="2194560"/>
            <a:ext cx="2743200" cy="224028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200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Three Gates?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0040" y="26974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loop-back point catches failures at different levels of cost: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Brainstorm loop = cheap (just ideas)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Prototype loop = moderate (parts + time)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loop = most expensive but most certain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failures early saves time and materials.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Loops Are Features, Not Bugs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77640" cy="3749040"/>
          </a:xfrm>
          <a:prstGeom prst="rect">
            <a:avLst/>
          </a:prstGeom>
          <a:solidFill>
            <a:srgbClr val="2A0D0D"/>
          </a:solidFill>
          <a:ln w="12700">
            <a:solidFill>
              <a:srgbClr val="2A0D0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397764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The Wrong Mindset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81912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""We failed — we had to go back to brainstorm.""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""Going backwards means we wasted time.""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98648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""A good engineer doesn't need to prototype twice.""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557016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""Iteration means we didn't plan well enough.""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005840"/>
            <a:ext cx="3977640" cy="3749040"/>
          </a:xfrm>
          <a:prstGeom prst="rect">
            <a:avLst/>
          </a:prstGeom>
          <a:solidFill>
            <a:srgbClr val="0A1A0A"/>
          </a:solidFill>
          <a:ln w="12700">
            <a:solidFill>
              <a:srgbClr val="0A1A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005840"/>
            <a:ext cx="3977640" cy="438912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00584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The Right Mindset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581912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E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test worked — it gave us data to improve the design."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24028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E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learned something. That iteration bought us certainty."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898648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E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real engineer prototypes multiple times."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557016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E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"Iteration IS the plan. The plan is to learn and improve."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iterates. SpaceX iterates. Boeing iterates. The only difference is how fast.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FRC: What Each Loop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417320" cy="1234440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33272"/>
            <a:ext cx="13258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Brainstorm Loop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01498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01498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votes to build a catapult shooter. You start sketching the prototype and realize the trajectory required by the field geometry makes a catapult physically impossible to aim reliably.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138074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138074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brainstorm. Re-evaluate the flywheel vs. catapult vs. pneumatic options with this new constraint explicitly on the table.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1801368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Brainstorm loops are cheap. This one cost you a day of sketching, not weeks of building.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1417320" cy="1234440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59152"/>
            <a:ext cx="13258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Prototype Loop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34086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34086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a roller intake prototype. Testing shows the rollers spin fine but the game pieces rotate and eject sideways instead of feeding into the conveyor.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27066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270662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geometry — wider roller spacing, angled guide rails. Rebuild and test. Don't abandon rollers entirely until you understand WHY they're failing.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3127248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Prototype loops require parts and time, but you now know the failure mode precisely.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1417320" cy="1234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85032"/>
            <a:ext cx="13258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Loop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366674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366674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prototype iterations your shooter consistently hits 8/10 shots in isolation. But when you mount it to the full robot and run 5-note autonomous, it hits 3/10.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403250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14600" y="403250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interaction — is it vibration, power draw, timing? Add data logging. This is exactly what the test phase is for. Loop back and fix the specific failure.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28800" y="4453128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Test loops are expensive but decisive. A robot that fails here at home is better than one that fails at competition.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7: Communicate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step isn't submission — it's the start of someone else's next iteration.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64592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14813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 what you built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files, measurements, materials, assembly notes. Future-you six months from now will thank present-you.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32004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30358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 what you learned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what worked — what failed, what you tried, and why you made each decision. This is the real value.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4608" y="164592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32120" y="14813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 with your 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18745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or informal. A 5-minute debrief beats nothing. Write it on the whiteboard. Add it to the shared drive.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32004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32120" y="30358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 with the community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4290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Delphi, FIRST forums, local scrimmages. The FRC community runs on shared knowledge. Give back what you can.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knowledge that dies in one team's shop is wasted engineering.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Summary: Data Drives the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" cy="475488"/>
          </a:xfrm>
          <a:prstGeom prst="rect">
            <a:avLst/>
          </a:prstGeom>
          <a:solidFill>
            <a:srgbClr val="E8527A"/>
          </a:solidFill>
          <a:ln w="12700">
            <a:solidFill>
              <a:srgbClr val="E852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868680"/>
            <a:ext cx="7955280" cy="475488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8686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 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86868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are we solving?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453896"/>
            <a:ext cx="41148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5389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1453896"/>
            <a:ext cx="7955280" cy="475488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45389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 Research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45389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already exists? What can we learn?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039112"/>
            <a:ext cx="411480" cy="475488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3911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2039112"/>
            <a:ext cx="7955280" cy="475488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0391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Specify Requirements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039112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we know if we succeeded?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624328"/>
            <a:ext cx="411480" cy="475488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2432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2624328"/>
            <a:ext cx="7955280" cy="475488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7552" y="26243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Brainstorm &amp; Choose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262432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GATE 1 — May loop back here from prototype or test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209544"/>
            <a:ext cx="411480" cy="475488"/>
          </a:xfrm>
          <a:prstGeom prst="rect">
            <a:avLst/>
          </a:prstGeom>
          <a:solidFill>
            <a:srgbClr val="1B6FD8"/>
          </a:solidFill>
          <a:ln w="12700">
            <a:solidFill>
              <a:srgbClr val="1B6F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09544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" y="3209544"/>
            <a:ext cx="7955280" cy="475488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7552" y="320954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 &amp; Prototype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209544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GATE 2 — May loop back here from test results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411480" cy="475488"/>
          </a:xfrm>
          <a:prstGeom prst="rect">
            <a:avLst/>
          </a:prstGeom>
          <a:solidFill>
            <a:srgbClr val="1463C0"/>
          </a:solidFill>
          <a:ln w="12700">
            <a:solidFill>
              <a:srgbClr val="1463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9476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8680" y="3794760"/>
            <a:ext cx="7955280" cy="475488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87552" y="37947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Solution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379476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GATE 3 — Loop back until requirements are met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4379976"/>
            <a:ext cx="411480" cy="475488"/>
          </a:xfrm>
          <a:prstGeom prst="rect">
            <a:avLst/>
          </a:prstGeom>
          <a:solidFill>
            <a:srgbClr val="E8527A"/>
          </a:solidFill>
          <a:ln w="12700">
            <a:solidFill>
              <a:srgbClr val="E852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7997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68680" y="4379976"/>
            <a:ext cx="7955280" cy="475488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43799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Communicate Results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83280" y="437997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Document, share, and feed forward.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loops aren't detours. They ARE the engineering.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Engineering Design Process</dc:title>
  <dc:subject>PptxGenJS Presentation</dc:subject>
  <dc:creator>PptxGenJS</dc:creator>
  <cp:lastModifiedBy>PptxGenJS</cp:lastModifiedBy>
  <cp:revision>1</cp:revision>
  <dcterms:created xsi:type="dcterms:W3CDTF">2026-05-12T09:01:28Z</dcterms:created>
  <dcterms:modified xsi:type="dcterms:W3CDTF">2026-05-12T09:01:28Z</dcterms:modified>
</cp:coreProperties>
</file>