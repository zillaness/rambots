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Cell voltage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0%</c:v>
                  </c:pt>
                  <c:pt idx="1">
                    <c:v>5%</c:v>
                  </c:pt>
                  <c:pt idx="2">
                    <c:v>10%</c:v>
                  </c:pt>
                  <c:pt idx="3">
                    <c:v>20%</c:v>
                  </c:pt>
                  <c:pt idx="4">
                    <c:v>40%</c:v>
                  </c:pt>
                  <c:pt idx="5">
                    <c:v>60%</c:v>
                  </c:pt>
                  <c:pt idx="6">
                    <c:v>80%</c:v>
                  </c:pt>
                  <c:pt idx="7">
                    <c:v>90%</c:v>
                  </c:pt>
                  <c:pt idx="8">
                    <c:v>95%</c:v>
                  </c:pt>
                  <c:pt idx="9">
                    <c:v>100%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4.2</c:v>
                </c:pt>
                <c:pt idx="1">
                  <c:v>4</c:v>
                </c:pt>
                <c:pt idx="2">
                  <c:v>3.85</c:v>
                </c:pt>
                <c:pt idx="3">
                  <c:v>3.75</c:v>
                </c:pt>
                <c:pt idx="4">
                  <c:v>3.7</c:v>
                </c:pt>
                <c:pt idx="5">
                  <c:v>3.65</c:v>
                </c:pt>
                <c:pt idx="6">
                  <c:v>3.55</c:v>
                </c:pt>
                <c:pt idx="7">
                  <c:v>3.4</c:v>
                </c:pt>
                <c:pt idx="8">
                  <c:v>3.2</c:v>
                </c:pt>
                <c:pt idx="9">
                  <c:v>2.9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F5E5A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F5E5A"/>
                    </a:solidFill>
                    <a:latin typeface="Arial"/>
                  </a:rPr>
                  <a:t>State of charge (discharging →)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87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4"/>
          <c:min val="2.5"/>
        </c:scaling>
        <c:delete val="0"/>
        <c:axPos val="l"/>
        <c:majorGridlines>
          <c:spPr>
            <a:ln w="6350" cap="flat">
              <a:solidFill>
                <a:srgbClr val="E8E6D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F5E5A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F5E5A"/>
                    </a:solidFill>
                    <a:latin typeface="Arial"/>
                  </a:rPr>
                  <a:t>Cell voltage (V)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87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89B1A"/>
          </a:solidFill>
          <a:ln w="12700">
            <a:solidFill>
              <a:srgbClr val="E89B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1887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Batteries &amp;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9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Electronics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robotics class review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batteries · FIRST robotics · transformers · rectifiers · buck converters · USB PD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18650 cell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workhorse cylindrical lithium-ion cell — and where its name comes from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0" y="1828800"/>
            <a:ext cx="4572000" cy="1188720"/>
          </a:xfrm>
          <a:prstGeom prst="roundRect">
            <a:avLst>
              <a:gd name="adj" fmla="val 6154"/>
            </a:avLst>
          </a:prstGeom>
          <a:solidFill>
            <a:srgbClr val="E8E6DD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148840"/>
            <a:ext cx="164592" cy="548640"/>
          </a:xfrm>
          <a:prstGeom prst="rect">
            <a:avLst/>
          </a:prstGeom>
          <a:solidFill>
            <a:srgbClr val="888780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04088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0" y="2194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18650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286000" y="3291840"/>
            <a:ext cx="4572000" cy="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headEnd type="triangl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28600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mm long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0" y="1828800"/>
            <a:ext cx="0" cy="118872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headEnd type="triangl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005840" y="2286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F8F6EF"/>
          </a:solidFill>
          <a:ln w="6350">
            <a:solidFill>
              <a:srgbClr val="F4D89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9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"18" </a:t>
            </a:r>
            <a:pPr algn="ctr"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diameter (mm)     </a:t>
            </a:r>
            <a:pPr algn="ctr" indent="0" marL="0">
              <a:buNone/>
            </a:pPr>
            <a:r>
              <a:rPr lang="en-US" sz="1400" b="1" dirty="0">
                <a:solidFill>
                  <a:srgbClr val="E89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"65" </a:t>
            </a:r>
            <a:pPr algn="ctr"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length (mm)     </a:t>
            </a:r>
            <a:pPr algn="ctr" indent="0" marL="0">
              <a:buNone/>
            </a:pPr>
            <a:r>
              <a:rPr lang="en-US" sz="1400" b="1" dirty="0">
                <a:solidFill>
                  <a:srgbClr val="E89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"0" </a:t>
            </a:r>
            <a:pPr algn="ctr"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cylindrical shape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Review · Batteries &amp; Power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Cylindrical cell sizes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EVs are moving to bigger cells — more energy per cell, fewer welds per pack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2468880"/>
            <a:ext cx="320040" cy="914400"/>
          </a:xfrm>
          <a:prstGeom prst="roundRect">
            <a:avLst>
              <a:gd name="adj" fmla="val 14286"/>
            </a:avLst>
          </a:prstGeom>
          <a:solidFill>
            <a:srgbClr val="E8E6DD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4290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463040" y="2194560"/>
            <a:ext cx="411480" cy="1188720"/>
          </a:xfrm>
          <a:prstGeom prst="roundRect">
            <a:avLst>
              <a:gd name="adj" fmla="val 11111"/>
            </a:avLst>
          </a:prstGeom>
          <a:solidFill>
            <a:srgbClr val="B8E3D2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34290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18650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03120" y="2103120"/>
            <a:ext cx="475488" cy="1280160"/>
          </a:xfrm>
          <a:prstGeom prst="roundRect">
            <a:avLst>
              <a:gd name="adj" fmla="val 9615"/>
            </a:avLst>
          </a:prstGeom>
          <a:solidFill>
            <a:srgbClr val="F4D898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342900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07208" y="2194560"/>
            <a:ext cx="594360" cy="1188720"/>
          </a:xfrm>
          <a:prstGeom prst="roundRect">
            <a:avLst>
              <a:gd name="adj" fmla="val 7692"/>
            </a:avLst>
          </a:prstGeom>
          <a:solidFill>
            <a:srgbClr val="E8B8B8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0048" y="34290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26650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30168" y="1920240"/>
            <a:ext cx="1051560" cy="1463040"/>
          </a:xfrm>
          <a:prstGeom prst="roundRect">
            <a:avLst>
              <a:gd name="adj" fmla="val 4348"/>
            </a:avLst>
          </a:prstGeom>
          <a:solidFill>
            <a:srgbClr val="E89B1A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93008" y="3429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4680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383280"/>
            <a:ext cx="3840480" cy="0"/>
          </a:xfrm>
          <a:prstGeom prst="line">
            <a:avLst/>
          </a:prstGeom>
          <a:noFill/>
          <a:ln w="6350">
            <a:solidFill>
              <a:srgbClr val="88878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731520" y="4023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size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371600"/>
          <a:ext cx="39319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0175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you'll find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AA-sized lithium · vapes, small flashlights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18650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laptops, flashlights, original Tesla Roadster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 tool packs, Tesla Model 3/Y, Rivian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26650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High-current flashlights, e-bikes, industrial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9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Tesla Model Y (new), Cybertruck, BMW Neue Klasse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Review · Batteries &amp; Power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voltage vs peak charge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lithium cell doesn't have just one voltage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5943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371600"/>
            <a:ext cx="2194560" cy="914400"/>
          </a:xfrm>
          <a:prstGeom prst="rect">
            <a:avLst/>
          </a:prstGeom>
          <a:solidFill>
            <a:srgbClr val="E8B8B8"/>
          </a:solidFill>
          <a:ln w="6350">
            <a:solidFill>
              <a:srgbClr val="A32D2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675120" y="1417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V peak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67512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after charging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67512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 cells × 4.2 = 21 V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675120" y="2468880"/>
            <a:ext cx="2194560" cy="914400"/>
          </a:xfrm>
          <a:prstGeom prst="rect">
            <a:avLst/>
          </a:prstGeom>
          <a:solidFill>
            <a:srgbClr val="B8E3D2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75120" y="2514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V nominal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675120" y="2880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during use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675120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 cells × 3.6 = 18 V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675120" y="3566160"/>
            <a:ext cx="2194560" cy="777240"/>
          </a:xfrm>
          <a:prstGeom prst="rect">
            <a:avLst/>
          </a:prstGeom>
          <a:solidFill>
            <a:srgbClr val="E8E6DD"/>
          </a:solidFill>
          <a:ln w="6350">
            <a:solidFill>
              <a:srgbClr val="88878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75120" y="3611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 V cutoff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675120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BMS shuts off discharge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Review · Batteries &amp; Power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18V / 20V mystery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five cells. Same chemistry. Just different numbers on the label.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657600" cy="2651760"/>
          </a:xfrm>
          <a:prstGeom prst="rect">
            <a:avLst/>
          </a:prstGeom>
          <a:solidFill>
            <a:srgbClr val="B8E3D2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as NOMINAL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18V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cells × 3.6V = 18V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Milwaukee M18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 18V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Makita LXT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9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4846320" y="1280160"/>
            <a:ext cx="3657600" cy="2651760"/>
          </a:xfrm>
          <a:prstGeom prst="rect">
            <a:avLst/>
          </a:prstGeom>
          <a:solidFill>
            <a:srgbClr val="E8B8B8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as PEAK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6916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20V Max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484632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9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cells × 4.2V ≈ 21V (rounded)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30175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DeWalt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&amp; Decker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Porter-Cable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solidFill>
            <a:srgbClr val="F8F6EF"/>
          </a:solidFill>
          <a:ln w="6350">
            <a:solidFill>
              <a:srgbClr val="E89B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Marketing, not engineering — both labels point to the same physical pack at different points on the discharge curve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Review · Batteries &amp; Power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vs parallel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of every battery pack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7280" cy="914400"/>
          </a:xfrm>
          <a:prstGeom prst="roundRect">
            <a:avLst>
              <a:gd name="adj" fmla="val 4000"/>
            </a:avLst>
          </a:prstGeom>
          <a:solidFill>
            <a:srgbClr val="B8E3D2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65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3.6V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37360" y="2286000"/>
            <a:ext cx="182880" cy="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20240" y="1828800"/>
            <a:ext cx="1097280" cy="914400"/>
          </a:xfrm>
          <a:prstGeom prst="roundRect">
            <a:avLst>
              <a:gd name="adj" fmla="val 4000"/>
            </a:avLst>
          </a:prstGeom>
          <a:solidFill>
            <a:srgbClr val="B8E3D2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1965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3.6V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20240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17520" y="2286000"/>
            <a:ext cx="182880" cy="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828800"/>
            <a:ext cx="1097280" cy="914400"/>
          </a:xfrm>
          <a:prstGeom prst="roundRect">
            <a:avLst>
              <a:gd name="adj" fmla="val 4000"/>
            </a:avLst>
          </a:prstGeom>
          <a:solidFill>
            <a:srgbClr val="B8E3D2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965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3.6V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971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3.6V = 10.8 V total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3337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adds · capacity stays at 3 Ah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1188720"/>
            <a:ext cx="0" cy="2743200"/>
          </a:xfrm>
          <a:prstGeom prst="line">
            <a:avLst/>
          </a:prstGeom>
          <a:noFill/>
          <a:ln w="6350">
            <a:solidFill>
              <a:srgbClr val="E8E6DD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572000" y="1188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937760" y="1828800"/>
            <a:ext cx="1097280" cy="914400"/>
          </a:xfrm>
          <a:prstGeom prst="roundRect">
            <a:avLst>
              <a:gd name="adj" fmla="val 4000"/>
            </a:avLst>
          </a:prstGeom>
          <a:solidFill>
            <a:srgbClr val="F4D898"/>
          </a:solidFill>
          <a:ln w="9525">
            <a:solidFill>
              <a:srgbClr val="E89B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965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3.6V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1828800"/>
            <a:ext cx="1097280" cy="914400"/>
          </a:xfrm>
          <a:prstGeom prst="roundRect">
            <a:avLst>
              <a:gd name="adj" fmla="val 4000"/>
            </a:avLst>
          </a:prstGeom>
          <a:solidFill>
            <a:srgbClr val="F4D898"/>
          </a:solidFill>
          <a:ln w="9525">
            <a:solidFill>
              <a:srgbClr val="E89B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1965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3.6V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0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98080" y="1828800"/>
            <a:ext cx="1097280" cy="914400"/>
          </a:xfrm>
          <a:prstGeom prst="roundRect">
            <a:avLst>
              <a:gd name="adj" fmla="val 4000"/>
            </a:avLst>
          </a:prstGeom>
          <a:solidFill>
            <a:srgbClr val="F4D898"/>
          </a:solidFill>
          <a:ln w="9525">
            <a:solidFill>
              <a:srgbClr val="E89B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1965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3.6V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98080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0" y="1828800"/>
            <a:ext cx="2560320" cy="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0" y="2743200"/>
            <a:ext cx="2560320" cy="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2971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V × 9 Ah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72000" y="3337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adds · voltage stays at 3.6 V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F8F6EF"/>
          </a:solidFill>
          <a:ln w="6350">
            <a:solidFill>
              <a:srgbClr val="E89B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"5S2P" = 5 series + 2 parallel = 10 cells total. Combines both to get the voltage AND capacity you need.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Review · Batteries &amp; Power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batteries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brushless tool packs have extra contacts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PACK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645920"/>
            <a:ext cx="3017520" cy="1463040"/>
          </a:xfrm>
          <a:prstGeom prst="roundRect">
            <a:avLst>
              <a:gd name="adj" fmla="val 5000"/>
            </a:avLst>
          </a:prstGeom>
          <a:solidFill>
            <a:srgbClr val="E8E6DD"/>
          </a:solidFill>
          <a:ln w="9525">
            <a:solidFill>
              <a:srgbClr val="5F5E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94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cells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3200400"/>
            <a:ext cx="365760" cy="18288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3200400"/>
            <a:ext cx="365760" cy="1828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4290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34290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contacts · power only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280160"/>
            <a:ext cx="0" cy="2743200"/>
          </a:xfrm>
          <a:prstGeom prst="line">
            <a:avLst/>
          </a:prstGeom>
          <a:noFill/>
          <a:ln w="6350">
            <a:solidFill>
              <a:srgbClr val="E8E6DD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75488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9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PACK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0" y="164592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4D898"/>
          </a:solidFill>
          <a:ln w="9525">
            <a:solidFill>
              <a:srgbClr val="E89B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194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cells + thermistor + comms IC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12080" y="3200400"/>
            <a:ext cx="320040" cy="18288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0" y="3200400"/>
            <a:ext cx="320040" cy="1828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60720" y="3200400"/>
            <a:ext cx="201168" cy="182880"/>
          </a:xfrm>
          <a:prstGeom prst="rect">
            <a:avLst/>
          </a:prstGeom>
          <a:solidFill>
            <a:srgbClr val="888780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3200400"/>
            <a:ext cx="201168" cy="182880"/>
          </a:xfrm>
          <a:prstGeom prst="rect">
            <a:avLst/>
          </a:prstGeom>
          <a:solidFill>
            <a:srgbClr val="888780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3200400"/>
            <a:ext cx="201168" cy="182880"/>
          </a:xfrm>
          <a:prstGeom prst="rect">
            <a:avLst/>
          </a:prstGeom>
          <a:solidFill>
            <a:srgbClr val="888780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0" y="3200400"/>
            <a:ext cx="201168" cy="182880"/>
          </a:xfrm>
          <a:prstGeom prst="rect">
            <a:avLst/>
          </a:prstGeom>
          <a:solidFill>
            <a:srgbClr val="888780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23760" y="3200400"/>
            <a:ext cx="201168" cy="182880"/>
          </a:xfrm>
          <a:prstGeom prst="rect">
            <a:avLst/>
          </a:prstGeom>
          <a:solidFill>
            <a:srgbClr val="888780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34290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0" y="34290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temp · ID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0" y="34290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3749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89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contacts · pack and tool talk to each other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solidFill>
            <a:srgbClr val="F8F6EF"/>
          </a:solidFill>
          <a:ln w="6350">
            <a:solidFill>
              <a:srgbClr val="E89B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reads pack temp, state of charge, cell health, and pack ID — throttles or refuses to fire if anything's wrong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Review · Batteries &amp; Power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Lithium cell chemistries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cathode material changes everything — energy, current, safety, cost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914400"/>
                <a:gridCol w="1463040"/>
                <a:gridCol w="1097280"/>
                <a:gridCol w="3474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Chemistry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Nominal 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(Wh/kg)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C44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150–220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1k–2k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 EVs, quality tool packs · balanced everything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50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LFP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90–160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2k–6k+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Safest · solar storage, Tesla SR · long life, no cobalt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338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LMO / IMR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100–150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300–700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Tools, vapes · high current bursts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C34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LCO / ICR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150–200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500–1k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Phones, laptops · high capacity, low current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2B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200–260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500–1.5k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Tesla Model S/X, aerospace · highest energy density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850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10k–30k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 storage, fast-charge buses · ultra-long life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rgbClr val="F8F6EF"/>
          </a:solidFill>
          <a:ln w="6350">
            <a:solidFill>
              <a:srgbClr val="E89B1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tag decode: </a:t>
            </a:r>
            <a:pPr algn="ctr" indent="0" marL="0">
              <a:buNone/>
            </a:pPr>
            <a:r>
              <a:rPr lang="en-US" sz="1100" b="1" i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IMR </a:t>
            </a:r>
            <a:pPr algn="ctr" indent="0" marL="0">
              <a:buNone/>
            </a:pPr>
            <a:r>
              <a:rPr lang="en-US" sz="11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high current (manganese), used in tools and vapes.   </a:t>
            </a:r>
            <a:pPr algn="ctr" indent="0" marL="0">
              <a:buNone/>
            </a:pPr>
            <a:r>
              <a:rPr lang="en-US" sz="1100" b="1" i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 </a:t>
            </a:r>
            <a:pPr algn="ctr" indent="0" marL="0">
              <a:buNone/>
            </a:pPr>
            <a:r>
              <a:rPr lang="en-US" sz="11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high capacity (cobalt), used in laptops.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Review · Batteries &amp; Power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Pouch cells vs cylindrical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rigid metal for a flexible foil envelope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1691640"/>
            <a:ext cx="2103120" cy="365760"/>
          </a:xfrm>
          <a:prstGeom prst="rect">
            <a:avLst/>
          </a:prstGeom>
          <a:solidFill>
            <a:srgbClr val="B8E3D2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0" y="1554480"/>
            <a:ext cx="228600" cy="164592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1554480"/>
            <a:ext cx="228600" cy="164592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031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· flexible foil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587752"/>
            <a:ext cx="91440" cy="91440"/>
          </a:xfrm>
          <a:prstGeom prst="ellipse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5146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energy density per volume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91440" cy="91440"/>
          </a:xfrm>
          <a:prstGeom prst="ellipse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7614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Shape-flexible — fits any device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081528"/>
            <a:ext cx="91440" cy="91440"/>
          </a:xfrm>
          <a:prstGeom prst="ellipse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0083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Lighter — no steel shell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374136"/>
            <a:ext cx="91440" cy="91440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3009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puncture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621024"/>
            <a:ext cx="91440" cy="91440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5478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Swells with age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867912"/>
            <a:ext cx="91440" cy="91440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7947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per product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1188720"/>
            <a:ext cx="0" cy="3291840"/>
          </a:xfrm>
          <a:prstGeom prst="line">
            <a:avLst/>
          </a:prstGeom>
          <a:noFill/>
          <a:ln w="6350">
            <a:solidFill>
              <a:srgbClr val="E8E6DD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475488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CYLINDRICAL (18650 / 21700)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852160" y="1627632"/>
            <a:ext cx="1737360" cy="502920"/>
          </a:xfrm>
          <a:prstGeom prst="roundRect">
            <a:avLst>
              <a:gd name="adj" fmla="val 9091"/>
            </a:avLst>
          </a:prstGeom>
          <a:solidFill>
            <a:srgbClr val="B5D4F4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9520" y="1737360"/>
            <a:ext cx="91440" cy="274320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1945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· steel can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37760" y="2587752"/>
            <a:ext cx="91440" cy="91440"/>
          </a:xfrm>
          <a:prstGeom prst="ellipse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25146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· universally available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2834640"/>
            <a:ext cx="91440" cy="91440"/>
          </a:xfrm>
          <a:prstGeom prst="ellipse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27614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Self-supporting · survives drops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3081528"/>
            <a:ext cx="91440" cy="91440"/>
          </a:xfrm>
          <a:prstGeom prst="ellipse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30083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thermal management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37760" y="3374136"/>
            <a:ext cx="91440" cy="91440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33009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gaps waste pack space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37760" y="3621024"/>
            <a:ext cx="91440" cy="91440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0" y="35478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 per Wh (steel)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37760" y="3867912"/>
            <a:ext cx="91440" cy="91440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0" y="37947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sizes only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Review · Batteries &amp; Power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Management System (BMS)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every cell individually · balances during charge · cuts off if unsafe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71600" y="1554480"/>
            <a:ext cx="1097280" cy="1280160"/>
          </a:xfrm>
          <a:prstGeom prst="roundRect">
            <a:avLst>
              <a:gd name="adj" fmla="val 4167"/>
            </a:avLst>
          </a:prstGeom>
          <a:solidFill>
            <a:srgbClr val="B8E3D2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920240" y="1188720"/>
            <a:ext cx="0" cy="365760"/>
          </a:xfrm>
          <a:prstGeom prst="line">
            <a:avLst/>
          </a:prstGeom>
          <a:noFill/>
          <a:ln w="12700">
            <a:solidFill>
              <a:srgbClr val="A32D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2834640"/>
            <a:ext cx="0" cy="36576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51760" y="1554480"/>
            <a:ext cx="1097280" cy="1280160"/>
          </a:xfrm>
          <a:prstGeom prst="roundRect">
            <a:avLst>
              <a:gd name="adj" fmla="val 4167"/>
            </a:avLst>
          </a:prstGeom>
          <a:solidFill>
            <a:srgbClr val="B8E3D2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0" cy="365760"/>
          </a:xfrm>
          <a:prstGeom prst="line">
            <a:avLst/>
          </a:prstGeom>
          <a:noFill/>
          <a:ln w="12700">
            <a:solidFill>
              <a:srgbClr val="A32D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2834640"/>
            <a:ext cx="0" cy="36576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1920" y="1554480"/>
            <a:ext cx="1097280" cy="1280160"/>
          </a:xfrm>
          <a:prstGeom prst="roundRect">
            <a:avLst>
              <a:gd name="adj" fmla="val 4167"/>
            </a:avLst>
          </a:prstGeom>
          <a:solidFill>
            <a:srgbClr val="B8E3D2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80560" y="1188720"/>
            <a:ext cx="0" cy="365760"/>
          </a:xfrm>
          <a:prstGeom prst="line">
            <a:avLst/>
          </a:prstGeom>
          <a:noFill/>
          <a:ln w="12700">
            <a:solidFill>
              <a:srgbClr val="A32D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0560" y="2834640"/>
            <a:ext cx="0" cy="36576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12080" y="1554480"/>
            <a:ext cx="1097280" cy="1280160"/>
          </a:xfrm>
          <a:prstGeom prst="roundRect">
            <a:avLst>
              <a:gd name="adj" fmla="val 4167"/>
            </a:avLst>
          </a:prstGeom>
          <a:solidFill>
            <a:srgbClr val="B8E3D2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60720" y="1188720"/>
            <a:ext cx="0" cy="365760"/>
          </a:xfrm>
          <a:prstGeom prst="line">
            <a:avLst/>
          </a:prstGeom>
          <a:noFill/>
          <a:ln w="12700">
            <a:solidFill>
              <a:srgbClr val="A32D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0" y="2834640"/>
            <a:ext cx="0" cy="36576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1554480"/>
            <a:ext cx="1097280" cy="1280160"/>
          </a:xfrm>
          <a:prstGeom prst="roundRect">
            <a:avLst>
              <a:gd name="adj" fmla="val 4167"/>
            </a:avLst>
          </a:prstGeom>
          <a:solidFill>
            <a:srgbClr val="B8E3D2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040880" y="1188720"/>
            <a:ext cx="0" cy="365760"/>
          </a:xfrm>
          <a:prstGeom prst="line">
            <a:avLst/>
          </a:prstGeom>
          <a:noFill/>
          <a:ln w="12700">
            <a:solidFill>
              <a:srgbClr val="A32D2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40880" y="2834640"/>
            <a:ext cx="0" cy="365760"/>
          </a:xfrm>
          <a:prstGeom prst="line">
            <a:avLst/>
          </a:prstGeom>
          <a:noFill/>
          <a:ln w="9525">
            <a:solidFill>
              <a:srgbClr val="8887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20240" y="1188720"/>
            <a:ext cx="5120640" cy="0"/>
          </a:xfrm>
          <a:prstGeom prst="line">
            <a:avLst/>
          </a:prstGeom>
          <a:noFill/>
          <a:ln w="12700">
            <a:solidFill>
              <a:srgbClr val="A32D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10972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taps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828800" y="3291840"/>
            <a:ext cx="5486400" cy="64008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0" y="33101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Management System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828800" y="3611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V · I · T   |   shuts off if unsafe   |   balances cells during charge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solidFill>
            <a:srgbClr val="F8F6EF"/>
          </a:solidFill>
          <a:ln w="6350">
            <a:solidFill>
              <a:srgbClr val="E89B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build a multi-cell lithium pack without a BMS. One cell drifting low or high is a fire risk.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Review · Batteries &amp; Power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Robotics uses AGM, not lithium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Lead-Acid (SLA) family — and why AGM is the right pick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family tree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931920" cy="640080"/>
          </a:xfrm>
          <a:prstGeom prst="rect">
            <a:avLst/>
          </a:prstGeom>
          <a:solidFill>
            <a:srgbClr val="E8E6DD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Flooded Lead-Acid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Original. Liquid electrolyte. Spills, vents hydrogen.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3931920" cy="640080"/>
          </a:xfrm>
          <a:prstGeom prst="rect">
            <a:avLst/>
          </a:prstGeom>
          <a:solidFill>
            <a:srgbClr val="F4D898"/>
          </a:solidFill>
          <a:ln w="6350">
            <a:solidFill>
              <a:srgbClr val="E89B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 Cell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Silica-thickened. Spill-proof but slow charge only.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3931920" cy="1097280"/>
          </a:xfrm>
          <a:prstGeom prst="rect">
            <a:avLst/>
          </a:prstGeom>
          <a:solidFill>
            <a:srgbClr val="B8E3D2"/>
          </a:solidFill>
          <a:ln w="25400">
            <a:solidFill>
              <a:srgbClr val="1D9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AGM — Absorbed Glass Mat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Electrolyte soaked into a fiberglass mat between plates.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surge current · spill-proof · any orientation · what FRC uses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specs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1691640"/>
            <a:ext cx="3931920" cy="411480"/>
          </a:xfrm>
          <a:prstGeom prst="rect">
            <a:avLst/>
          </a:prstGeom>
          <a:solidFill>
            <a:srgbClr val="F8F6EF"/>
          </a:solidFill>
          <a:ln w="6350">
            <a:solidFill>
              <a:srgbClr val="E8E6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764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voltage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66560" y="1764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 V / cell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148840"/>
            <a:ext cx="3931920" cy="411480"/>
          </a:xfrm>
          <a:prstGeom prst="rect">
            <a:avLst/>
          </a:prstGeom>
          <a:solidFill>
            <a:srgbClr val="F8F6EF"/>
          </a:solidFill>
          <a:ln w="6350">
            <a:solidFill>
              <a:srgbClr val="E8E6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221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charge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0" y="2221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2.25–2.30 V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2606040"/>
            <a:ext cx="3931920" cy="411480"/>
          </a:xfrm>
          <a:prstGeom prst="rect">
            <a:avLst/>
          </a:prstGeom>
          <a:solidFill>
            <a:srgbClr val="F8F6EF"/>
          </a:solidFill>
          <a:ln w="6350">
            <a:solidFill>
              <a:srgbClr val="E8E6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679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Cutoff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0" y="2679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1.75 V / cell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3063240"/>
            <a:ext cx="3931920" cy="411480"/>
          </a:xfrm>
          <a:prstGeom prst="rect">
            <a:avLst/>
          </a:prstGeom>
          <a:solidFill>
            <a:srgbClr val="F8F6EF"/>
          </a:solidFill>
          <a:ln w="6350">
            <a:solidFill>
              <a:srgbClr val="E8E6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136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density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6560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 Wh/kg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3520440"/>
            <a:ext cx="3931920" cy="411480"/>
          </a:xfrm>
          <a:prstGeom prst="rect">
            <a:avLst/>
          </a:prstGeom>
          <a:solidFill>
            <a:srgbClr val="F8F6EF"/>
          </a:solidFill>
          <a:ln w="6350">
            <a:solidFill>
              <a:srgbClr val="E8E6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3593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life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66560" y="3593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200–500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54880" y="3977640"/>
            <a:ext cx="3931920" cy="411480"/>
          </a:xfrm>
          <a:prstGeom prst="rect">
            <a:avLst/>
          </a:prstGeom>
          <a:solidFill>
            <a:srgbClr val="F8F6EF"/>
          </a:solidFill>
          <a:ln w="6350">
            <a:solidFill>
              <a:srgbClr val="E8E6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4050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Self-discharge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66560" y="4050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3–5% / mo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Review · Batteries &amp; Power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AGM is right for FIRST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Specifically suited to competition robots and student teams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1417320"/>
          </a:xfrm>
          <a:prstGeom prst="rect">
            <a:avLst/>
          </a:prstGeom>
          <a:solidFill>
            <a:srgbClr val="F8F6EF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365760" cy="36576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Brutal surge current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Drivetrain motors pull 100+ amps in a stall. AGM handles this without complaint.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280160"/>
            <a:ext cx="2606040" cy="1417320"/>
          </a:xfrm>
          <a:prstGeom prst="rect">
            <a:avLst/>
          </a:prstGeom>
          <a:solidFill>
            <a:srgbClr val="F8F6EF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417320"/>
            <a:ext cx="365760" cy="36576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4048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for student use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874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fire risk, no spill risk. Survives charging mistakes that would destroy lithium.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280160"/>
            <a:ext cx="2606040" cy="1417320"/>
          </a:xfrm>
          <a:prstGeom prst="rect">
            <a:avLst/>
          </a:prstGeom>
          <a:solidFill>
            <a:srgbClr val="F8F6EF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17320"/>
            <a:ext cx="365760" cy="36576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2940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orientation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1874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 flip and roll. AGM is sealed — mounts upside-down, sideways, anywhere.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2606040" cy="1417320"/>
          </a:xfrm>
          <a:prstGeom prst="rect">
            <a:avLst/>
          </a:prstGeom>
          <a:solidFill>
            <a:srgbClr val="F8F6EF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017520"/>
            <a:ext cx="365760" cy="36576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BMS required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4747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cells, two terminals, done. Much simpler electrical system than lithium.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46120" y="2880360"/>
            <a:ext cx="2606040" cy="1417320"/>
          </a:xfrm>
          <a:prstGeom prst="rect">
            <a:avLst/>
          </a:prstGeom>
          <a:solidFill>
            <a:srgbClr val="F8F6EF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0" y="3017520"/>
            <a:ext cx="365760" cy="36576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84048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and standardized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0" y="34747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uses the same model. Easy to source, easy to replace.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35040" y="2880360"/>
            <a:ext cx="2606040" cy="1417320"/>
          </a:xfrm>
          <a:prstGeom prst="rect">
            <a:avLst/>
          </a:prstGeom>
          <a:solidFill>
            <a:srgbClr val="F8F6EF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2200" y="3017520"/>
            <a:ext cx="365760" cy="36576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294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sag = current limit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72200" y="34747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drop under heavy load inherently protects the system — lithium has no such grace.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Review · Batteries &amp; Power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/ AGM vs Lithium-Ion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across the metrics that matter for robots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188720"/>
          <a:ext cx="73152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514600"/>
                <a:gridCol w="25146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/ AGM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Lithium-Ion (LFP)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density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30–50 Wh/kg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50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90–160 Wh/kg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 life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200–500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50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2,000–6,000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Usable capacity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(DoD limit)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50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80–100%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kWh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50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$50–$150 (cheapest)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$200–$400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(12V / 100Ah)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 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50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 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BMS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50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 performance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50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(LFP)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Voltage sag under 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until cutoff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solidFill>
            <a:srgbClr val="F8F6EF"/>
          </a:solidFill>
          <a:ln w="6350">
            <a:solidFill>
              <a:srgbClr val="E89B1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wins on cost, safety, and forgiveness — exactly why FRC uses it. Lithium wins on weight and runtime — exactly why EVs use it.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Review · Batteries &amp; Power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vs DC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 before we get to transformers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— Direct Current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0" cy="1645920"/>
          </a:xfrm>
          <a:prstGeom prst="line">
            <a:avLst/>
          </a:prstGeom>
          <a:noFill/>
          <a:ln w="6350">
            <a:solidFill>
              <a:srgbClr val="5F5E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3474720"/>
            <a:ext cx="3474720" cy="0"/>
          </a:xfrm>
          <a:prstGeom prst="line">
            <a:avLst/>
          </a:prstGeom>
          <a:noFill/>
          <a:ln w="6350">
            <a:solidFill>
              <a:srgbClr val="5F5E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651760"/>
            <a:ext cx="3474720" cy="0"/>
          </a:xfrm>
          <a:prstGeom prst="line">
            <a:avLst/>
          </a:prstGeom>
          <a:noFill/>
          <a:ln w="6350">
            <a:solidFill>
              <a:srgbClr val="E8E6DD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40080" y="2194560"/>
            <a:ext cx="347472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5420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0V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→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886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Flat. One direction. One voltage.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160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Batteries · Solar panels · USB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188720"/>
            <a:ext cx="0" cy="3291840"/>
          </a:xfrm>
          <a:prstGeom prst="line">
            <a:avLst/>
          </a:prstGeom>
          <a:noFill/>
          <a:ln w="6350">
            <a:solidFill>
              <a:srgbClr val="E8E6DD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75488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— Alternating Current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1828800"/>
            <a:ext cx="0" cy="1645920"/>
          </a:xfrm>
          <a:prstGeom prst="line">
            <a:avLst/>
          </a:prstGeom>
          <a:noFill/>
          <a:ln w="6350">
            <a:solidFill>
              <a:srgbClr val="5F5E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3474720"/>
            <a:ext cx="3474720" cy="0"/>
          </a:xfrm>
          <a:prstGeom prst="line">
            <a:avLst/>
          </a:prstGeom>
          <a:noFill/>
          <a:ln w="6350">
            <a:solidFill>
              <a:srgbClr val="5F5E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0" y="2651760"/>
            <a:ext cx="3474720" cy="0"/>
          </a:xfrm>
          <a:prstGeom prst="line">
            <a:avLst/>
          </a:prstGeom>
          <a:noFill/>
          <a:ln w="6350">
            <a:solidFill>
              <a:srgbClr val="E8E6DD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937760" y="2651760"/>
            <a:ext cx="57912" cy="-104563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95672" y="2547197"/>
            <a:ext cx="57912" cy="-99993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53584" y="2447204"/>
            <a:ext cx="57912" cy="-91053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11496" y="2356151"/>
            <a:ext cx="57912" cy="-78133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69408" y="2278018"/>
            <a:ext cx="57912" cy="-61799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27320" y="2216219"/>
            <a:ext cx="57912" cy="-42764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85232" y="2173455"/>
            <a:ext cx="57912" cy="-21860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43144" y="2151595"/>
            <a:ext cx="57912" cy="0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01056" y="2151595"/>
            <a:ext cx="57912" cy="21860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58968" y="2173455"/>
            <a:ext cx="57912" cy="42764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16880" y="2216219"/>
            <a:ext cx="57912" cy="61799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74792" y="2278018"/>
            <a:ext cx="57912" cy="78133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32704" y="2356151"/>
            <a:ext cx="57912" cy="91053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90616" y="2447204"/>
            <a:ext cx="57912" cy="99993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48528" y="2547197"/>
            <a:ext cx="57912" cy="104563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06440" y="2651760"/>
            <a:ext cx="57912" cy="104563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64352" y="2756323"/>
            <a:ext cx="57912" cy="99993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22264" y="2856316"/>
            <a:ext cx="57912" cy="91053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80176" y="2947369"/>
            <a:ext cx="57912" cy="78133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38088" y="3025502"/>
            <a:ext cx="57912" cy="61799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96000" y="3087301"/>
            <a:ext cx="57912" cy="42764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53912" y="3130065"/>
            <a:ext cx="57912" cy="21860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11824" y="3151925"/>
            <a:ext cx="57912" cy="0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69736" y="3151925"/>
            <a:ext cx="57912" cy="-21860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27648" y="3130065"/>
            <a:ext cx="57912" cy="-42764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85560" y="3087301"/>
            <a:ext cx="57912" cy="-61799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43472" y="3025502"/>
            <a:ext cx="57912" cy="-78133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01384" y="2947369"/>
            <a:ext cx="57912" cy="-91053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59296" y="2856316"/>
            <a:ext cx="57912" cy="-99993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617208" y="2756323"/>
            <a:ext cx="57912" cy="-104563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675120" y="2651760"/>
            <a:ext cx="57912" cy="-104563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33032" y="2547197"/>
            <a:ext cx="57912" cy="-99993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90944" y="2447204"/>
            <a:ext cx="57912" cy="-91053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48856" y="2356151"/>
            <a:ext cx="57912" cy="-78133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906768" y="2278018"/>
            <a:ext cx="57912" cy="-61799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964680" y="2216219"/>
            <a:ext cx="57912" cy="-42764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022592" y="2173455"/>
            <a:ext cx="57912" cy="-21860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080504" y="2151595"/>
            <a:ext cx="57912" cy="0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138416" y="2151595"/>
            <a:ext cx="57912" cy="21860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196328" y="2173455"/>
            <a:ext cx="57912" cy="42764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254240" y="2216219"/>
            <a:ext cx="57912" cy="61799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312152" y="2278018"/>
            <a:ext cx="57912" cy="78133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370064" y="2356151"/>
            <a:ext cx="57912" cy="91053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427976" y="2447204"/>
            <a:ext cx="57912" cy="99993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485888" y="2547197"/>
            <a:ext cx="57912" cy="104563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543800" y="2651760"/>
            <a:ext cx="57912" cy="104563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601712" y="2756323"/>
            <a:ext cx="57912" cy="99993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659624" y="2856316"/>
            <a:ext cx="57912" cy="91053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717536" y="2947369"/>
            <a:ext cx="57912" cy="78133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775448" y="3025502"/>
            <a:ext cx="57912" cy="61799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833360" y="3087301"/>
            <a:ext cx="57912" cy="42764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891272" y="3130065"/>
            <a:ext cx="57912" cy="21860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949184" y="3151925"/>
            <a:ext cx="57912" cy="0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007096" y="3151925"/>
            <a:ext cx="57912" cy="-21860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065008" y="3130065"/>
            <a:ext cx="57912" cy="-42764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122920" y="3087301"/>
            <a:ext cx="57912" cy="-61799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180832" y="3025502"/>
            <a:ext cx="57912" cy="-78133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238744" y="2947369"/>
            <a:ext cx="57912" cy="-91053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296656" y="2856316"/>
            <a:ext cx="57912" cy="-99993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354568" y="2756323"/>
            <a:ext cx="57912" cy="-104563"/>
          </a:xfrm>
          <a:prstGeom prst="line">
            <a:avLst/>
          </a:prstGeom>
          <a:noFill/>
          <a:ln w="25400">
            <a:solidFill>
              <a:srgbClr val="A32D2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617720" y="25420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0V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937760" y="35204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→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4754880" y="3886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Reverses 60× per second (US wall power).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4754880" y="4160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outlets · Generators · Transformers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Review · Batteries &amp; Power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coils on a shared iron core — voltage ratio = turns ratio · only works with AC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017520" y="1645920"/>
            <a:ext cx="3108960" cy="2194560"/>
          </a:xfrm>
          <a:prstGeom prst="rect">
            <a:avLst/>
          </a:prstGeom>
          <a:solidFill>
            <a:srgbClr val="FFFFFF"/>
          </a:solidFill>
          <a:ln w="50800">
            <a:solidFill>
              <a:srgbClr val="5F5E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1920240"/>
            <a:ext cx="2560320" cy="1645920"/>
          </a:xfrm>
          <a:prstGeom prst="rect">
            <a:avLst/>
          </a:prstGeom>
          <a:solidFill>
            <a:srgbClr val="FFFFFF"/>
          </a:solidFill>
          <a:ln w="50800">
            <a:solidFill>
              <a:srgbClr val="5F5E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0" y="38862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core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880360" y="2011680"/>
            <a:ext cx="274320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80360" y="2304288"/>
            <a:ext cx="274320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80360" y="2596896"/>
            <a:ext cx="274320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80360" y="2889504"/>
            <a:ext cx="274320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3182112"/>
            <a:ext cx="274320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371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3794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turns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52160" y="1965960"/>
            <a:ext cx="274320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32D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2139696"/>
            <a:ext cx="274320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32D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52160" y="2313432"/>
            <a:ext cx="274320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32D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487168"/>
            <a:ext cx="274320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32D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52160" y="2660904"/>
            <a:ext cx="274320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32D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2834640"/>
            <a:ext cx="274320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32D2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52160" y="3008376"/>
            <a:ext cx="274320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32D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52160" y="3182112"/>
            <a:ext cx="274320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32D2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2160" y="3355848"/>
            <a:ext cx="274320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32D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0" y="1371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0" y="37947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turns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371600" y="2194560"/>
            <a:ext cx="150876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1600" y="3200400"/>
            <a:ext cx="150876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2606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in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" y="2880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63640" y="2194560"/>
            <a:ext cx="1508760" cy="0"/>
          </a:xfrm>
          <a:prstGeom prst="line">
            <a:avLst/>
          </a:prstGeom>
          <a:noFill/>
          <a:ln w="12700">
            <a:solidFill>
              <a:srgbClr val="A32D2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3200400"/>
            <a:ext cx="1508760" cy="0"/>
          </a:xfrm>
          <a:prstGeom prst="line">
            <a:avLst/>
          </a:prstGeom>
          <a:noFill/>
          <a:ln w="12700">
            <a:solidFill>
              <a:srgbClr val="A32D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0" y="2606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out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72400" y="28803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solidFill>
            <a:srgbClr val="F8F6EF"/>
          </a:solidFill>
          <a:ln w="6350">
            <a:solidFill>
              <a:srgbClr val="E89B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5 ratio = step-up by 1.8×.   Step-down = fewer secondary turns.   DC won't work — needs a CHANGING magnetic field.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Review · Batteries &amp; Power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Full-bridge rectifier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AC to DC using four diodes in a diamond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46888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2788920"/>
            <a:ext cx="914400" cy="-77724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2788920"/>
            <a:ext cx="914400" cy="77724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2468880" y="1783080"/>
            <a:ext cx="457200" cy="457200"/>
          </a:xfrm>
          <a:prstGeom prst="rtTriangle">
            <a:avLst/>
          </a:prstGeom>
          <a:solidFill>
            <a:srgbClr val="B8E3D2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0" y="1691640"/>
            <a:ext cx="0" cy="640080"/>
          </a:xfrm>
          <a:prstGeom prst="line">
            <a:avLst/>
          </a:prstGeom>
          <a:noFill/>
          <a:ln w="2540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1463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 flipH="1">
            <a:off x="2468880" y="3337560"/>
            <a:ext cx="457200" cy="457200"/>
          </a:xfrm>
          <a:prstGeom prst="rtTriangle">
            <a:avLst/>
          </a:prstGeom>
          <a:solidFill>
            <a:srgbClr val="B8E3D2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3246120"/>
            <a:ext cx="0" cy="640080"/>
          </a:xfrm>
          <a:prstGeom prst="line">
            <a:avLst/>
          </a:prstGeom>
          <a:noFill/>
          <a:ln w="25400">
            <a:solidFill>
              <a:srgbClr val="1D9E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37947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0" y="2011680"/>
            <a:ext cx="1280160" cy="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0" y="3566160"/>
            <a:ext cx="1280160" cy="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>
            <a:off x="4206240" y="1783080"/>
            <a:ext cx="457200" cy="457200"/>
          </a:xfrm>
          <a:prstGeom prst="rtTriangle">
            <a:avLst/>
          </a:prstGeom>
          <a:solidFill>
            <a:srgbClr val="B8E3D2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691640"/>
            <a:ext cx="0" cy="640080"/>
          </a:xfrm>
          <a:prstGeom prst="line">
            <a:avLst/>
          </a:prstGeom>
          <a:noFill/>
          <a:ln w="25400">
            <a:solidFill>
              <a:srgbClr val="1D9E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463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 flipH="1">
            <a:off x="4206240" y="3337560"/>
            <a:ext cx="457200" cy="457200"/>
          </a:xfrm>
          <a:prstGeom prst="rtTriangle">
            <a:avLst/>
          </a:prstGeom>
          <a:solidFill>
            <a:srgbClr val="B8E3D2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3246120"/>
            <a:ext cx="0" cy="640080"/>
          </a:xfrm>
          <a:prstGeom prst="line">
            <a:avLst/>
          </a:prstGeom>
          <a:noFill/>
          <a:ln w="25400">
            <a:solidFill>
              <a:srgbClr val="1D9E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37947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2011680"/>
            <a:ext cx="1188720" cy="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3566160"/>
            <a:ext cx="1188720" cy="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1920240"/>
            <a:ext cx="0" cy="640080"/>
          </a:xfrm>
          <a:prstGeom prst="line">
            <a:avLst/>
          </a:prstGeom>
          <a:noFill/>
          <a:ln w="38100">
            <a:solidFill>
              <a:srgbClr val="5F5E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0760" y="1965960"/>
            <a:ext cx="0" cy="548640"/>
          </a:xfrm>
          <a:prstGeom prst="line">
            <a:avLst/>
          </a:prstGeom>
          <a:noFill/>
          <a:ln w="38100">
            <a:solidFill>
              <a:srgbClr val="5F5E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0" y="2542032"/>
            <a:ext cx="0" cy="1024128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26974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675120" y="2560320"/>
            <a:ext cx="365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86600" y="2697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0" y="2011680"/>
            <a:ext cx="914400" cy="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0" y="2011680"/>
            <a:ext cx="0" cy="54864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0" y="3017520"/>
            <a:ext cx="0" cy="54864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0" y="3566160"/>
            <a:ext cx="914400" cy="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0" y="21031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DC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498080" y="32461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DC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solidFill>
            <a:srgbClr val="F8F6EF"/>
          </a:solidFill>
          <a:ln w="6350">
            <a:solidFill>
              <a:srgbClr val="E89B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Whichever way AC swings, the output stays + on top, – on bottom.   Capacitor smooths the result into steady DC.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Review · Batteries &amp; Power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 converter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DC-to-DC step-down · 85–95% efficient instead of dissipating heat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2468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12V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27889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0" y="2606040"/>
            <a:ext cx="914400" cy="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2377440"/>
            <a:ext cx="640080" cy="502920"/>
          </a:xfrm>
          <a:prstGeom prst="rect">
            <a:avLst/>
          </a:prstGeom>
          <a:solidFill>
            <a:srgbClr val="F4D898"/>
          </a:solidFill>
          <a:ln w="12700">
            <a:solidFill>
              <a:srgbClr val="E89B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2423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83080" y="21031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MOSFET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48840" y="2880360"/>
            <a:ext cx="0" cy="365760"/>
          </a:xfrm>
          <a:prstGeom prst="line">
            <a:avLst/>
          </a:prstGeom>
          <a:noFill/>
          <a:ln w="9525">
            <a:solidFill>
              <a:srgbClr val="E89B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32461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68880" y="2606040"/>
            <a:ext cx="731520" cy="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2487168"/>
            <a:ext cx="320040" cy="228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F5E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2487168"/>
            <a:ext cx="320040" cy="228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F5E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0" y="2487168"/>
            <a:ext cx="320040" cy="228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F5E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60520" y="2487168"/>
            <a:ext cx="320040" cy="228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F5E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21945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(inductor)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80560" y="2606040"/>
            <a:ext cx="1280160" cy="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2606040"/>
            <a:ext cx="0" cy="64008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5400000">
            <a:off x="2990088" y="3246120"/>
            <a:ext cx="411480" cy="365760"/>
          </a:xfrm>
          <a:prstGeom prst="rtTriangle">
            <a:avLst/>
          </a:prstGeom>
          <a:solidFill>
            <a:srgbClr val="B8E3D2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17520" y="3611880"/>
            <a:ext cx="365760" cy="0"/>
          </a:xfrm>
          <a:prstGeom prst="line">
            <a:avLst/>
          </a:prstGeom>
          <a:noFill/>
          <a:ln w="25400">
            <a:solidFill>
              <a:srgbClr val="1D9E7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3611880"/>
            <a:ext cx="0" cy="41148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88920" y="333756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760720" y="2606040"/>
            <a:ext cx="0" cy="45720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23560" y="3063240"/>
            <a:ext cx="274320" cy="0"/>
          </a:xfrm>
          <a:prstGeom prst="line">
            <a:avLst/>
          </a:prstGeom>
          <a:noFill/>
          <a:ln w="38100">
            <a:solidFill>
              <a:srgbClr val="5F5E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50992" y="3154680"/>
            <a:ext cx="219456" cy="0"/>
          </a:xfrm>
          <a:prstGeom prst="line">
            <a:avLst/>
          </a:prstGeom>
          <a:noFill/>
          <a:ln w="38100">
            <a:solidFill>
              <a:srgbClr val="5F5E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60720" y="3154680"/>
            <a:ext cx="0" cy="86868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303580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4023360"/>
            <a:ext cx="2560320" cy="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60720" y="2606040"/>
            <a:ext cx="2103120" cy="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0" y="24688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772400" y="27889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(stable)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solidFill>
            <a:srgbClr val="F8F6EF"/>
          </a:solidFill>
          <a:ln w="6350">
            <a:solidFill>
              <a:srgbClr val="E89B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chops the input · inductor smooths the current · cap smooths the voltage.   Buck = down · Boost = up · Buck-boost = either.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Review · Batteries &amp; Power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NPN vs PNP transistors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complementary flavors of BJT (and same split for N-channel / P-channel MOSFET)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Pointing iN"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23160" y="2103120"/>
            <a:ext cx="0" cy="1005840"/>
          </a:xfrm>
          <a:prstGeom prst="line">
            <a:avLst/>
          </a:prstGeom>
          <a:noFill/>
          <a:ln w="38100">
            <a:solidFill>
              <a:srgbClr val="5F5E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83080" y="2606040"/>
            <a:ext cx="640080" cy="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514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23160" y="2240280"/>
            <a:ext cx="548640" cy="-45720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16916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23160" y="2971800"/>
            <a:ext cx="548640" cy="45720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017520" y="33375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Emitter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3931920" cy="731520"/>
          </a:xfrm>
          <a:prstGeom prst="rect">
            <a:avLst/>
          </a:prstGeom>
          <a:solidFill>
            <a:srgbClr val="F8F6EF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886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when base &gt; emitter (high signal)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206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a LOW-SIDE switch (between load and ground)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1188720"/>
            <a:ext cx="0" cy="3291840"/>
          </a:xfrm>
          <a:prstGeom prst="line">
            <a:avLst/>
          </a:prstGeom>
          <a:noFill/>
          <a:ln w="6350">
            <a:solidFill>
              <a:srgbClr val="E8E6DD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54880" y="1554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"Points iN to Pin (base)"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2103120"/>
            <a:ext cx="0" cy="1005840"/>
          </a:xfrm>
          <a:prstGeom prst="line">
            <a:avLst/>
          </a:prstGeom>
          <a:noFill/>
          <a:ln w="38100">
            <a:solidFill>
              <a:srgbClr val="5F5E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2606040"/>
            <a:ext cx="640080" cy="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2514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69480" y="1783080"/>
            <a:ext cx="-548640" cy="45720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7315200" y="16916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Emitter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20840" y="2971800"/>
            <a:ext cx="548640" cy="457200"/>
          </a:xfrm>
          <a:prstGeom prst="line">
            <a:avLst/>
          </a:prstGeom>
          <a:noFill/>
          <a:ln w="12700">
            <a:solidFill>
              <a:srgbClr val="5F5E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333756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840480"/>
            <a:ext cx="3931920" cy="731520"/>
          </a:xfrm>
          <a:prstGeom prst="rect">
            <a:avLst/>
          </a:prstGeom>
          <a:solidFill>
            <a:srgbClr val="F8F6EF"/>
          </a:solidFill>
          <a:ln w="6350">
            <a:solidFill>
              <a:srgbClr val="A32D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886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when base &lt; emitter (low signal)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4206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a HIGH-SIDE switch (between supply and load)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Review · Batteries &amp; Power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charging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transformer with an air gap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0" y="1280160"/>
            <a:ext cx="3657600" cy="457200"/>
          </a:xfrm>
          <a:prstGeom prst="rect">
            <a:avLst/>
          </a:prstGeom>
          <a:solidFill>
            <a:srgbClr val="E8E6DD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0" y="1280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(phone)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0" y="1783080"/>
            <a:ext cx="2194560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1819656"/>
            <a:ext cx="1828800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0" y="1856232"/>
            <a:ext cx="1463040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23360" y="1892808"/>
            <a:ext cx="1097280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2103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coil (rectifies to DC)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71600" y="2468880"/>
            <a:ext cx="0" cy="1097280"/>
          </a:xfrm>
          <a:prstGeom prst="line">
            <a:avLst/>
          </a:prstGeom>
          <a:noFill/>
          <a:ln w="6350">
            <a:solidFill>
              <a:srgbClr val="8887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80160" y="2468880"/>
            <a:ext cx="182880" cy="0"/>
          </a:xfrm>
          <a:prstGeom prst="line">
            <a:avLst/>
          </a:prstGeom>
          <a:noFill/>
          <a:ln w="6350">
            <a:solidFill>
              <a:srgbClr val="8887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0160" y="3566160"/>
            <a:ext cx="182880" cy="0"/>
          </a:xfrm>
          <a:prstGeom prst="line">
            <a:avLst/>
          </a:prstGeom>
          <a:noFill/>
          <a:ln w="6350">
            <a:solidFill>
              <a:srgbClr val="8887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9077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gap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0" y="3520440"/>
            <a:ext cx="914400" cy="-1005840"/>
          </a:xfrm>
          <a:prstGeom prst="line">
            <a:avLst/>
          </a:prstGeom>
          <a:noFill/>
          <a:ln w="12700">
            <a:solidFill>
              <a:srgbClr val="E89B1A"/>
            </a:solidFill>
            <a:prstDash val="dash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0" y="3520440"/>
            <a:ext cx="0" cy="-1005840"/>
          </a:xfrm>
          <a:prstGeom prst="line">
            <a:avLst/>
          </a:prstGeom>
          <a:noFill/>
          <a:ln w="12700">
            <a:solidFill>
              <a:srgbClr val="E89B1A"/>
            </a:solidFill>
            <a:prstDash val="dash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86400" y="3520440"/>
            <a:ext cx="-914400" cy="-1005840"/>
          </a:xfrm>
          <a:prstGeom prst="line">
            <a:avLst/>
          </a:prstGeom>
          <a:noFill/>
          <a:ln w="12700">
            <a:solidFill>
              <a:srgbClr val="E89B1A"/>
            </a:solidFill>
            <a:prstDash val="dash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669280" y="2788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magnetic field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0" y="3474720"/>
            <a:ext cx="2194560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0" y="3438144"/>
            <a:ext cx="1828800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0" y="3401568"/>
            <a:ext cx="1463040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23360" y="3364992"/>
            <a:ext cx="1097280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3657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coil (driven with AC)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0" y="3931920"/>
            <a:ext cx="3657600" cy="457200"/>
          </a:xfrm>
          <a:prstGeom prst="rect">
            <a:avLst/>
          </a:prstGeom>
          <a:solidFill>
            <a:srgbClr val="E8E6DD"/>
          </a:solidFill>
          <a:ln w="6350">
            <a:solidFill>
              <a:srgbClr val="5F5E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3931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pad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526280"/>
            <a:ext cx="822960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Review · Batteries &amp; Power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Power Delivery (USB PD)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and device negotiate the right voltage in real time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multiple profiles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· 9V · 15V · 20V · 28V · 48V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28016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126480" y="1783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C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what it needs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· laptop · Switch...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1600200"/>
            <a:ext cx="2926080" cy="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108960" y="13258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can do 5/9/15/20V"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2057400"/>
            <a:ext cx="-2926080" cy="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108960" y="2148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"give me 9V/3A please"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08960" y="24231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CC pins in USB-C cable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8229600" cy="594360"/>
          </a:xfrm>
          <a:prstGeom prst="rect">
            <a:avLst/>
          </a:prstGeom>
          <a:solidFill>
            <a:srgbClr val="F4D898"/>
          </a:solidFill>
          <a:ln w="12700">
            <a:solidFill>
              <a:srgbClr val="E89B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26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reconfigures its internal buck converter to deliver the requested voltage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3657600"/>
          <a:ext cx="64008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097280"/>
                <a:gridCol w="25603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power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 2.0 default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 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accessories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 PD 2.0/3.0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20V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 charging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 PD 3.1 EPR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48V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 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Gaming laptops, workstations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Review · Batteries &amp; Power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battery system you'll meet uses the same stages — in some order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645920"/>
            <a:ext cx="1371600" cy="914400"/>
          </a:xfrm>
          <a:prstGeom prst="rect">
            <a:avLst/>
          </a:prstGeom>
          <a:solidFill>
            <a:srgbClr val="E8B8B8"/>
          </a:solidFill>
          <a:ln w="9525">
            <a:solidFill>
              <a:srgbClr val="A32D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737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AC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120V, 60Hz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55648" y="2103120"/>
            <a:ext cx="237744" cy="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011680" y="1645920"/>
            <a:ext cx="1371600" cy="914400"/>
          </a:xfrm>
          <a:prstGeom prst="rect">
            <a:avLst/>
          </a:prstGeom>
          <a:solidFill>
            <a:srgbClr val="B5D4F4"/>
          </a:solidFill>
          <a:ln w="9525">
            <a:solidFill>
              <a:srgbClr val="185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737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11680" y="2103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down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01568" y="2103120"/>
            <a:ext cx="237744" cy="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657600" y="1645920"/>
            <a:ext cx="1371600" cy="914400"/>
          </a:xfrm>
          <a:prstGeom prst="rect">
            <a:avLst/>
          </a:prstGeom>
          <a:solidFill>
            <a:srgbClr val="B8E3D2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1737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Rectifier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2103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→ DC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47488" y="2103120"/>
            <a:ext cx="237744" cy="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303520" y="1645920"/>
            <a:ext cx="1371600" cy="914400"/>
          </a:xfrm>
          <a:prstGeom prst="rect">
            <a:avLst/>
          </a:prstGeom>
          <a:solidFill>
            <a:srgbClr val="F4D898"/>
          </a:solidFill>
          <a:ln w="9525">
            <a:solidFill>
              <a:srgbClr val="854F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1737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 conv.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0" y="2103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 V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93408" y="2103120"/>
            <a:ext cx="237744" cy="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949440" y="1645920"/>
            <a:ext cx="1371600" cy="914400"/>
          </a:xfrm>
          <a:prstGeom prst="rect">
            <a:avLst/>
          </a:prstGeom>
          <a:solidFill>
            <a:srgbClr val="E8E6DD"/>
          </a:solidFill>
          <a:ln w="9525">
            <a:solidFill>
              <a:srgbClr val="5F5E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1737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49440" y="2103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BMS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Powering the robot: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383280"/>
            <a:ext cx="2468880" cy="822960"/>
          </a:xfrm>
          <a:prstGeom prst="rect">
            <a:avLst/>
          </a:prstGeom>
          <a:solidFill>
            <a:srgbClr val="E8E6DD"/>
          </a:solidFill>
          <a:ln w="9525">
            <a:solidFill>
              <a:srgbClr val="5F5E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74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38221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12V or 18V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834640" y="3794760"/>
            <a:ext cx="228600" cy="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063240" y="3383280"/>
            <a:ext cx="2468880" cy="822960"/>
          </a:xfrm>
          <a:prstGeom prst="rect">
            <a:avLst/>
          </a:prstGeom>
          <a:solidFill>
            <a:srgbClr val="F4D898"/>
          </a:solidFill>
          <a:ln w="9525">
            <a:solidFill>
              <a:srgbClr val="854F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63240" y="3474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 converters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063240" y="38221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12V → 5V, 3.3V, etc.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532120" y="3794760"/>
            <a:ext cx="228600" cy="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760720" y="3383280"/>
            <a:ext cx="2468880" cy="822960"/>
          </a:xfrm>
          <a:prstGeom prst="rect">
            <a:avLst/>
          </a:prstGeom>
          <a:solidFill>
            <a:srgbClr val="B8E3D2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0" y="3474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 · MCU · Sensors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760720" y="38221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robot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solidFill>
            <a:srgbClr val="F8F6EF"/>
          </a:solidFill>
          <a:ln w="6350">
            <a:solidFill>
              <a:srgbClr val="E89B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electrons into chemistry that stores them, protect them, and convert to whatever voltage the load needs.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Review · Batteries &amp; Power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89B1A"/>
          </a:solidFill>
          <a:ln w="12700">
            <a:solidFill>
              <a:srgbClr val="E89B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1887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whole thing.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057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store energy. BMS protects them.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Transformers, rectifiers, and buck converters reshape voltage.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89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is just packaging.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Ask the student who took this lesson.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Batteries &amp; Power Electronics — Robotics Review</dc:title>
  <dc:subject>PptxGenJS Presentation</dc:subject>
  <dc:creator>Robotics Class</dc:creator>
  <cp:lastModifiedBy>Robotics Class</cp:lastModifiedBy>
  <cp:revision>1</cp:revision>
  <dcterms:created xsi:type="dcterms:W3CDTF">2026-05-14T09:17:21Z</dcterms:created>
  <dcterms:modified xsi:type="dcterms:W3CDTF">2026-05-14T09:17:21Z</dcterms:modified>
</cp:coreProperties>
</file>