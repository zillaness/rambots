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F5A623"/>
          </a:solidFill>
          <a:ln w="12700">
            <a:solidFill>
              <a:srgbClr val="F5A623"/>
            </a:solidFill>
            <a:prstDash val="solid"/>
          </a:ln>
        </p:spPr>
      </p:sp>
      <p:sp>
        <p:nvSpPr>
          <p:cNvPr id="3" name="Text 1"/>
          <p:cNvSpPr/>
          <p:nvPr/>
        </p:nvSpPr>
        <p:spPr>
          <a:xfrm>
            <a:off x="548640" y="640080"/>
            <a:ext cx="8046720" cy="1280160"/>
          </a:xfrm>
          <a:prstGeom prst="rect">
            <a:avLst/>
          </a:prstGeom>
          <a:noFill/>
          <a:ln/>
        </p:spPr>
        <p:txBody>
          <a:bodyPr wrap="square" rtlCol="0" anchor="ctr"/>
          <a:lstStyle/>
          <a:p>
            <a:pPr indent="0" marL="0">
              <a:buNone/>
            </a:pPr>
            <a:r>
              <a:rPr lang="en-US" sz="7200" b="1" dirty="0">
                <a:solidFill>
                  <a:srgbClr val="F5A623"/>
                </a:solidFill>
                <a:latin typeface="Arial Black" pitchFamily="34" charset="0"/>
                <a:ea typeface="Arial Black" pitchFamily="34" charset="-122"/>
                <a:cs typeface="Arial Black" pitchFamily="34" charset="-120"/>
              </a:rPr>
              <a:t>PUNK ROCK</a:t>
            </a:r>
            <a:endParaRPr lang="en-US" sz="7200" dirty="0"/>
          </a:p>
        </p:txBody>
      </p:sp>
      <p:sp>
        <p:nvSpPr>
          <p:cNvPr id="4" name="Text 2"/>
          <p:cNvSpPr/>
          <p:nvPr/>
        </p:nvSpPr>
        <p:spPr>
          <a:xfrm>
            <a:off x="548640" y="1828800"/>
            <a:ext cx="8046720" cy="1097280"/>
          </a:xfrm>
          <a:prstGeom prst="rect">
            <a:avLst/>
          </a:prstGeom>
          <a:noFill/>
          <a:ln/>
        </p:spPr>
        <p:txBody>
          <a:bodyPr wrap="square" rtlCol="0" anchor="ctr"/>
          <a:lstStyle/>
          <a:p>
            <a:pPr indent="0" marL="0">
              <a:buNone/>
            </a:pPr>
            <a:r>
              <a:rPr lang="en-US" sz="7200" b="1" dirty="0">
                <a:solidFill>
                  <a:srgbClr val="FFFFFF"/>
                </a:solidFill>
                <a:latin typeface="Arial Black" pitchFamily="34" charset="0"/>
                <a:ea typeface="Arial Black" pitchFamily="34" charset="-122"/>
                <a:cs typeface="Arial Black" pitchFamily="34" charset="-120"/>
              </a:rPr>
              <a:t>ENGINEERING</a:t>
            </a:r>
            <a:endParaRPr lang="en-US" sz="7200" dirty="0"/>
          </a:p>
        </p:txBody>
      </p:sp>
      <p:sp>
        <p:nvSpPr>
          <p:cNvPr id="5" name="Text 3"/>
          <p:cNvSpPr/>
          <p:nvPr/>
        </p:nvSpPr>
        <p:spPr>
          <a:xfrm>
            <a:off x="548640" y="3017520"/>
            <a:ext cx="7315200" cy="457200"/>
          </a:xfrm>
          <a:prstGeom prst="rect">
            <a:avLst/>
          </a:prstGeom>
          <a:noFill/>
          <a:ln/>
        </p:spPr>
        <p:txBody>
          <a:bodyPr wrap="square" rtlCol="0" anchor="ctr"/>
          <a:lstStyle/>
          <a:p>
            <a:pPr indent="0" marL="0">
              <a:buNone/>
            </a:pPr>
            <a:r>
              <a:rPr lang="en-US" sz="1800" i="1" dirty="0">
                <a:solidFill>
                  <a:srgbClr val="F5A623"/>
                </a:solidFill>
                <a:latin typeface="Calibri" pitchFamily="34" charset="0"/>
                <a:ea typeface="Calibri" pitchFamily="34" charset="-122"/>
                <a:cs typeface="Calibri" pitchFamily="34" charset="-120"/>
              </a:rPr>
              <a:t>Build Fast. Break Things. Learn Everything.</a:t>
            </a:r>
            <a:endParaRPr lang="en-US" sz="1800" dirty="0"/>
          </a:p>
        </p:txBody>
      </p:sp>
      <p:sp>
        <p:nvSpPr>
          <p:cNvPr id="6" name="Text 4"/>
          <p:cNvSpPr/>
          <p:nvPr/>
        </p:nvSpPr>
        <p:spPr>
          <a:xfrm>
            <a:off x="548640" y="4480560"/>
            <a:ext cx="8229600" cy="36576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An FRC Engineering Lecture  |  Inspired by SuperfastMatt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5A623"/>
          </a:solidFill>
          <a:ln w="12700">
            <a:solidFill>
              <a:srgbClr val="F5A623"/>
            </a:solidFill>
            <a:prstDash val="solid"/>
          </a:ln>
        </p:spPr>
      </p:sp>
      <p:sp>
        <p:nvSpPr>
          <p:cNvPr id="3" name="Text 1"/>
          <p:cNvSpPr/>
          <p:nvPr/>
        </p:nvSpPr>
        <p:spPr>
          <a:xfrm>
            <a:off x="457200" y="274320"/>
            <a:ext cx="8229600" cy="731520"/>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Two Ways to Build Rockets</a:t>
            </a:r>
            <a:endParaRPr lang="en-US" sz="3000" dirty="0"/>
          </a:p>
        </p:txBody>
      </p:sp>
      <p:sp>
        <p:nvSpPr>
          <p:cNvPr id="4" name="Shape 2"/>
          <p:cNvSpPr/>
          <p:nvPr/>
        </p:nvSpPr>
        <p:spPr>
          <a:xfrm>
            <a:off x="274320" y="1005840"/>
            <a:ext cx="3749040" cy="3474720"/>
          </a:xfrm>
          <a:prstGeom prst="rect">
            <a:avLst/>
          </a:prstGeom>
          <a:solidFill>
            <a:srgbClr val="1B3A57"/>
          </a:solidFill>
          <a:ln w="12700">
            <a:solidFill>
              <a:srgbClr val="1B3A57"/>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365760" y="1097280"/>
            <a:ext cx="3566160" cy="502920"/>
          </a:xfrm>
          <a:prstGeom prst="rect">
            <a:avLst/>
          </a:prstGeom>
          <a:noFill/>
          <a:ln/>
        </p:spPr>
        <p:txBody>
          <a:bodyPr wrap="square"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NASA</a:t>
            </a:r>
            <a:endParaRPr lang="en-US" sz="2600" dirty="0"/>
          </a:p>
        </p:txBody>
      </p:sp>
      <p:sp>
        <p:nvSpPr>
          <p:cNvPr id="6" name="Text 4"/>
          <p:cNvSpPr/>
          <p:nvPr/>
        </p:nvSpPr>
        <p:spPr>
          <a:xfrm>
            <a:off x="365760" y="1600200"/>
            <a:ext cx="3566160" cy="365760"/>
          </a:xfrm>
          <a:prstGeom prst="rect">
            <a:avLst/>
          </a:prstGeom>
          <a:noFill/>
          <a:ln/>
        </p:spPr>
        <p:txBody>
          <a:bodyPr wrap="square" rtlCol="0" anchor="ctr"/>
          <a:lstStyle/>
          <a:p>
            <a:pPr algn="ctr" indent="0" marL="0">
              <a:buNone/>
            </a:pPr>
            <a:r>
              <a:rPr lang="en-US" sz="1400" i="1" dirty="0">
                <a:solidFill>
                  <a:srgbClr val="F5A623"/>
                </a:solidFill>
                <a:latin typeface="Calibri" pitchFamily="34" charset="0"/>
                <a:ea typeface="Calibri" pitchFamily="34" charset="-122"/>
                <a:cs typeface="Calibri" pitchFamily="34" charset="-120"/>
              </a:rPr>
              <a:t>"Don't Fail"</a:t>
            </a:r>
            <a:endParaRPr lang="en-US" sz="1400" dirty="0"/>
          </a:p>
        </p:txBody>
      </p:sp>
      <p:sp>
        <p:nvSpPr>
          <p:cNvPr id="7" name="Text 5"/>
          <p:cNvSpPr/>
          <p:nvPr/>
        </p:nvSpPr>
        <p:spPr>
          <a:xfrm>
            <a:off x="457200" y="2057400"/>
            <a:ext cx="3383280" cy="210312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  Define every requirement
</a:t>
            </a:r>
            <a:pPr indent="0" marL="0">
              <a:buNone/>
            </a:pPr>
            <a:r>
              <a:rPr lang="en-US" sz="1400" dirty="0">
                <a:solidFill>
                  <a:srgbClr val="FFFFFF"/>
                </a:solidFill>
                <a:latin typeface="Calibri" pitchFamily="34" charset="0"/>
                <a:ea typeface="Calibri" pitchFamily="34" charset="-122"/>
                <a:cs typeface="Calibri" pitchFamily="34" charset="-120"/>
              </a:rPr>
              <a:t>✔  Check every box
</a:t>
            </a:r>
            <a:pPr indent="0" marL="0">
              <a:buNone/>
            </a:pPr>
            <a:r>
              <a:rPr lang="en-US" sz="1400" dirty="0">
                <a:solidFill>
                  <a:srgbClr val="FFFFFF"/>
                </a:solidFill>
                <a:latin typeface="Calibri" pitchFamily="34" charset="0"/>
                <a:ea typeface="Calibri" pitchFamily="34" charset="-122"/>
                <a:cs typeface="Calibri" pitchFamily="34" charset="-120"/>
              </a:rPr>
              <a:t>✔  Simulate before building
</a:t>
            </a:r>
            <a:pPr indent="0" marL="0">
              <a:buNone/>
            </a:pPr>
            <a:r>
              <a:rPr lang="en-US" sz="1400" dirty="0">
                <a:solidFill>
                  <a:srgbClr val="FFFFFF"/>
                </a:solidFill>
                <a:latin typeface="Calibri" pitchFamily="34" charset="0"/>
                <a:ea typeface="Calibri" pitchFamily="34" charset="-122"/>
                <a:cs typeface="Calibri" pitchFamily="34" charset="-120"/>
              </a:rPr>
              <a:t>✔  Multiple review gates
</a:t>
            </a:r>
            <a:pPr indent="0" marL="0">
              <a:buNone/>
            </a:pPr>
            <a:r>
              <a:rPr lang="en-US" sz="1400" dirty="0">
                <a:solidFill>
                  <a:srgbClr val="FFFFFF"/>
                </a:solidFill>
                <a:latin typeface="Calibri" pitchFamily="34" charset="0"/>
                <a:ea typeface="Calibri" pitchFamily="34" charset="-122"/>
                <a:cs typeface="Calibri" pitchFamily="34" charset="-120"/>
              </a:rPr>
              <a:t>✔  Methodical iteration</a:t>
            </a:r>
            <a:endParaRPr lang="en-US" sz="1400" dirty="0"/>
          </a:p>
        </p:txBody>
      </p:sp>
      <p:sp>
        <p:nvSpPr>
          <p:cNvPr id="8" name="Shape 6"/>
          <p:cNvSpPr/>
          <p:nvPr/>
        </p:nvSpPr>
        <p:spPr>
          <a:xfrm>
            <a:off x="5120640" y="1005840"/>
            <a:ext cx="3749040" cy="3474720"/>
          </a:xfrm>
          <a:prstGeom prst="rect">
            <a:avLst/>
          </a:prstGeom>
          <a:solidFill>
            <a:srgbClr val="1B3A57"/>
          </a:solidFill>
          <a:ln w="12700">
            <a:solidFill>
              <a:srgbClr val="1B3A57"/>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5212080" y="1097280"/>
            <a:ext cx="3566160" cy="502920"/>
          </a:xfrm>
          <a:prstGeom prst="rect">
            <a:avLst/>
          </a:prstGeom>
          <a:noFill/>
          <a:ln/>
        </p:spPr>
        <p:txBody>
          <a:bodyPr wrap="square"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SpaceX</a:t>
            </a:r>
            <a:endParaRPr lang="en-US" sz="2600" dirty="0"/>
          </a:p>
        </p:txBody>
      </p:sp>
      <p:sp>
        <p:nvSpPr>
          <p:cNvPr id="10" name="Text 8"/>
          <p:cNvSpPr/>
          <p:nvPr/>
        </p:nvSpPr>
        <p:spPr>
          <a:xfrm>
            <a:off x="5212080" y="1600200"/>
            <a:ext cx="3566160" cy="365760"/>
          </a:xfrm>
          <a:prstGeom prst="rect">
            <a:avLst/>
          </a:prstGeom>
          <a:noFill/>
          <a:ln/>
        </p:spPr>
        <p:txBody>
          <a:bodyPr wrap="square" rtlCol="0" anchor="ctr"/>
          <a:lstStyle/>
          <a:p>
            <a:pPr algn="ctr" indent="0" marL="0">
              <a:buNone/>
            </a:pPr>
            <a:r>
              <a:rPr lang="en-US" sz="1400" i="1" dirty="0">
                <a:solidFill>
                  <a:srgbClr val="F5A623"/>
                </a:solidFill>
                <a:latin typeface="Calibri" pitchFamily="34" charset="0"/>
                <a:ea typeface="Calibri" pitchFamily="34" charset="-122"/>
                <a:cs typeface="Calibri" pitchFamily="34" charset="-120"/>
              </a:rPr>
              <a:t>"Fail Fast, Fail Often"</a:t>
            </a:r>
            <a:endParaRPr lang="en-US" sz="1400" dirty="0"/>
          </a:p>
        </p:txBody>
      </p:sp>
      <p:sp>
        <p:nvSpPr>
          <p:cNvPr id="11" name="Text 9"/>
          <p:cNvSpPr/>
          <p:nvPr/>
        </p:nvSpPr>
        <p:spPr>
          <a:xfrm>
            <a:off x="5303520" y="2057400"/>
            <a:ext cx="3383280" cy="210312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  Take an educated guess
</a:t>
            </a:r>
            <a:pPr indent="0" marL="0">
              <a:buNone/>
            </a:pPr>
            <a:r>
              <a:rPr lang="en-US" sz="1400" dirty="0">
                <a:solidFill>
                  <a:srgbClr val="FFFFFF"/>
                </a:solidFill>
                <a:latin typeface="Calibri" pitchFamily="34" charset="0"/>
                <a:ea typeface="Calibri" pitchFamily="34" charset="-122"/>
                <a:cs typeface="Calibri" pitchFamily="34" charset="-120"/>
              </a:rPr>
              <a:t>⚡  Build it quickly
</a:t>
            </a:r>
            <a:pPr indent="0" marL="0">
              <a:buNone/>
            </a:pPr>
            <a:r>
              <a:rPr lang="en-US" sz="1400" dirty="0">
                <a:solidFill>
                  <a:srgbClr val="FFFFFF"/>
                </a:solidFill>
                <a:latin typeface="Calibri" pitchFamily="34" charset="0"/>
                <a:ea typeface="Calibri" pitchFamily="34" charset="-122"/>
                <a:cs typeface="Calibri" pitchFamily="34" charset="-120"/>
              </a:rPr>
              <a:t>⚡  Strap on sensors
</a:t>
            </a:r>
            <a:pPr indent="0" marL="0">
              <a:buNone/>
            </a:pPr>
            <a:r>
              <a:rPr lang="en-US" sz="1400" dirty="0">
                <a:solidFill>
                  <a:srgbClr val="FFFFFF"/>
                </a:solidFill>
                <a:latin typeface="Calibri" pitchFamily="34" charset="0"/>
                <a:ea typeface="Calibri" pitchFamily="34" charset="-122"/>
                <a:cs typeface="Calibri" pitchFamily="34" charset="-120"/>
              </a:rPr>
              <a:t>⚡  Light it up and see
</a:t>
            </a:r>
            <a:pPr indent="0" marL="0">
              <a:buNone/>
            </a:pPr>
            <a:r>
              <a:rPr lang="en-US" sz="1400" dirty="0">
                <a:solidFill>
                  <a:srgbClr val="FFFFFF"/>
                </a:solidFill>
                <a:latin typeface="Calibri" pitchFamily="34" charset="0"/>
                <a:ea typeface="Calibri" pitchFamily="34" charset="-122"/>
                <a:cs typeface="Calibri" pitchFamily="34" charset="-120"/>
              </a:rPr>
              <a:t>⚡  Learn at warp speed</a:t>
            </a:r>
            <a:endParaRPr lang="en-US" sz="1400" dirty="0"/>
          </a:p>
        </p:txBody>
      </p:sp>
      <p:sp>
        <p:nvSpPr>
          <p:cNvPr id="12" name="Shape 10"/>
          <p:cNvSpPr/>
          <p:nvPr/>
        </p:nvSpPr>
        <p:spPr>
          <a:xfrm>
            <a:off x="4206240" y="2103120"/>
            <a:ext cx="777240" cy="777240"/>
          </a:xfrm>
          <a:prstGeom prst="ellipse">
            <a:avLst/>
          </a:prstGeom>
          <a:solidFill>
            <a:srgbClr val="F5A623"/>
          </a:solidFill>
          <a:ln w="12700">
            <a:solidFill>
              <a:srgbClr val="F5A623"/>
            </a:solidFill>
            <a:prstDash val="solid"/>
          </a:ln>
        </p:spPr>
      </p:sp>
      <p:sp>
        <p:nvSpPr>
          <p:cNvPr id="13" name="Text 11"/>
          <p:cNvSpPr/>
          <p:nvPr/>
        </p:nvSpPr>
        <p:spPr>
          <a:xfrm>
            <a:off x="4206240" y="2148840"/>
            <a:ext cx="777240" cy="685800"/>
          </a:xfrm>
          <a:prstGeom prst="rect">
            <a:avLst/>
          </a:prstGeom>
          <a:noFill/>
          <a:ln/>
        </p:spPr>
        <p:txBody>
          <a:bodyPr wrap="square" rtlCol="0" anchor="ctr"/>
          <a:lstStyle/>
          <a:p>
            <a:pPr algn="ctr" indent="0" marL="0">
              <a:buNone/>
            </a:pPr>
            <a:r>
              <a:rPr lang="en-US" sz="1600" b="1" dirty="0">
                <a:solidFill>
                  <a:srgbClr val="0D1B2A"/>
                </a:solidFill>
                <a:latin typeface="Arial Black" pitchFamily="34" charset="0"/>
                <a:ea typeface="Arial Black" pitchFamily="34" charset="-122"/>
                <a:cs typeface="Arial Black" pitchFamily="34" charset="-120"/>
              </a:rPr>
              <a:t>VS</a:t>
            </a:r>
            <a:endParaRPr lang="en-US" sz="1600" dirty="0"/>
          </a:p>
        </p:txBody>
      </p:sp>
      <p:sp>
        <p:nvSpPr>
          <p:cNvPr id="14" name="Text 12"/>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5A623"/>
          </a:solidFill>
          <a:ln w="12700">
            <a:solidFill>
              <a:srgbClr val="F5A623"/>
            </a:solidFill>
            <a:prstDash val="solid"/>
          </a:ln>
        </p:spPr>
      </p:sp>
      <p:sp>
        <p:nvSpPr>
          <p:cNvPr id="3" name="Text 1"/>
          <p:cNvSpPr/>
          <p:nvPr/>
        </p:nvSpPr>
        <p:spPr>
          <a:xfrm>
            <a:off x="457200" y="228600"/>
            <a:ext cx="8229600" cy="731520"/>
          </a:xfrm>
          <a:prstGeom prst="rect">
            <a:avLst/>
          </a:prstGeom>
          <a:noFill/>
          <a:ln/>
        </p:spPr>
        <p:txBody>
          <a:bodyPr wrap="square" rtlCol="0" anchor="ctr"/>
          <a:lstStyle/>
          <a:p>
            <a:pPr indent="0" marL="0">
              <a:buNone/>
            </a:pPr>
            <a:r>
              <a:rPr lang="en-US" sz="3000" b="1" dirty="0">
                <a:solidFill>
                  <a:srgbClr val="0D1B2A"/>
                </a:solidFill>
                <a:latin typeface="Arial Black" pitchFamily="34" charset="0"/>
                <a:ea typeface="Arial Black" pitchFamily="34" charset="-122"/>
                <a:cs typeface="Arial Black" pitchFamily="34" charset="-120"/>
              </a:rPr>
              <a:t>What Is Punk Rock Engineering?</a:t>
            </a:r>
            <a:endParaRPr lang="en-US" sz="3000" dirty="0"/>
          </a:p>
        </p:txBody>
      </p:sp>
      <p:sp>
        <p:nvSpPr>
          <p:cNvPr id="4" name="Shape 2"/>
          <p:cNvSpPr/>
          <p:nvPr/>
        </p:nvSpPr>
        <p:spPr>
          <a:xfrm>
            <a:off x="457200" y="960120"/>
            <a:ext cx="8229600" cy="2606040"/>
          </a:xfrm>
          <a:prstGeom prst="rect">
            <a:avLst/>
          </a:prstGeom>
          <a:solidFill>
            <a:srgbClr val="FFF8E1"/>
          </a:solidFill>
          <a:ln w="12700">
            <a:solidFill>
              <a:srgbClr val="FFF8E1"/>
            </a:solidFill>
            <a:prstDash val="solid"/>
          </a:ln>
          <a:effectLst>
            <a:outerShdw sx="100000" sy="100000" kx="0" ky="0" algn="bl" rotWithShape="0" blurRad="101600" dist="25400" dir="8100000">
              <a:srgbClr val="000000">
                <a:alpha val="10000"/>
              </a:srgbClr>
            </a:outerShdw>
          </a:effectLst>
        </p:spPr>
      </p:sp>
      <p:sp>
        <p:nvSpPr>
          <p:cNvPr id="5" name="Shape 3"/>
          <p:cNvSpPr/>
          <p:nvPr/>
        </p:nvSpPr>
        <p:spPr>
          <a:xfrm>
            <a:off x="457200" y="960120"/>
            <a:ext cx="137160" cy="2606040"/>
          </a:xfrm>
          <a:prstGeom prst="rect">
            <a:avLst/>
          </a:prstGeom>
          <a:solidFill>
            <a:srgbClr val="F5A623"/>
          </a:solidFill>
          <a:ln w="12700">
            <a:solidFill>
              <a:srgbClr val="F5A623"/>
            </a:solidFill>
            <a:prstDash val="solid"/>
          </a:ln>
        </p:spPr>
      </p:sp>
      <p:sp>
        <p:nvSpPr>
          <p:cNvPr id="6" name="Text 4"/>
          <p:cNvSpPr/>
          <p:nvPr/>
        </p:nvSpPr>
        <p:spPr>
          <a:xfrm>
            <a:off x="731520" y="1097280"/>
            <a:ext cx="7772400" cy="2103120"/>
          </a:xfrm>
          <a:prstGeom prst="rect">
            <a:avLst/>
          </a:prstGeom>
          <a:noFill/>
          <a:ln/>
        </p:spPr>
        <p:txBody>
          <a:bodyPr wrap="square" rtlCol="0" anchor="ctr"/>
          <a:lstStyle/>
          <a:p>
            <a:pPr indent="0" marL="0">
              <a:buNone/>
            </a:pPr>
            <a:r>
              <a:rPr lang="en-US" sz="1700" i="1" dirty="0">
                <a:solidFill>
                  <a:srgbClr val="0D1B2A"/>
                </a:solidFill>
                <a:latin typeface="Georgia" pitchFamily="34" charset="0"/>
                <a:ea typeface="Georgia" pitchFamily="34" charset="-122"/>
                <a:cs typeface="Georgia" pitchFamily="34" charset="-120"/>
              </a:rPr>
              <a:t>"Skip all the boring parts and just sort of guess what the final design will look like, then build it and test it. After which it should be pretty obvious why your design sucks. So you remake it. Then you're done."</a:t>
            </a:r>
            <a:endParaRPr lang="en-US" sz="1700" dirty="0"/>
          </a:p>
        </p:txBody>
      </p:sp>
      <p:sp>
        <p:nvSpPr>
          <p:cNvPr id="7" name="Text 5"/>
          <p:cNvSpPr/>
          <p:nvPr/>
        </p:nvSpPr>
        <p:spPr>
          <a:xfrm>
            <a:off x="731520" y="3520440"/>
            <a:ext cx="7772400" cy="32004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 SuperfastMatt</a:t>
            </a:r>
            <a:endParaRPr lang="en-US" sz="1300" dirty="0"/>
          </a:p>
        </p:txBody>
      </p:sp>
      <p:sp>
        <p:nvSpPr>
          <p:cNvPr id="8" name="Text 6"/>
          <p:cNvSpPr/>
          <p:nvPr/>
        </p:nvSpPr>
        <p:spPr>
          <a:xfrm>
            <a:off x="457200" y="3977640"/>
            <a:ext cx="8229600" cy="640080"/>
          </a:xfrm>
          <a:prstGeom prst="rect">
            <a:avLst/>
          </a:prstGeom>
          <a:noFill/>
          <a:ln/>
        </p:spPr>
        <p:txBody>
          <a:bodyPr wrap="square"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The punk rock ethos applied to engineering: skip the process, trust your gut, build it, find out it sucks, fix it.</a:t>
            </a:r>
            <a:endParaRPr lang="en-US" sz="1400" dirty="0"/>
          </a:p>
        </p:txBody>
      </p:sp>
      <p:sp>
        <p:nvSpPr>
          <p:cNvPr id="9" name="Text 7"/>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5A623"/>
          </a:solidFill>
          <a:ln w="12700">
            <a:solidFill>
              <a:srgbClr val="F5A623"/>
            </a:solidFill>
            <a:prstDash val="solid"/>
          </a:ln>
        </p:spPr>
      </p:sp>
      <p:sp>
        <p:nvSpPr>
          <p:cNvPr id="3" name="Text 1"/>
          <p:cNvSpPr/>
          <p:nvPr/>
        </p:nvSpPr>
        <p:spPr>
          <a:xfrm>
            <a:off x="457200" y="228600"/>
            <a:ext cx="8229600" cy="731520"/>
          </a:xfrm>
          <a:prstGeom prst="rect">
            <a:avLst/>
          </a:prstGeom>
          <a:noFill/>
          <a:ln/>
        </p:spPr>
        <p:txBody>
          <a:bodyPr wrap="square" rtlCol="0" anchor="ctr"/>
          <a:lstStyle/>
          <a:p>
            <a:pPr indent="0" marL="0">
              <a:buNone/>
            </a:pPr>
            <a:r>
              <a:rPr lang="en-US" sz="3000" b="1" dirty="0">
                <a:solidFill>
                  <a:srgbClr val="0D1B2A"/>
                </a:solidFill>
                <a:latin typeface="Arial Black" pitchFamily="34" charset="0"/>
                <a:ea typeface="Arial Black" pitchFamily="34" charset="-122"/>
                <a:cs typeface="Arial Black" pitchFamily="34" charset="-120"/>
              </a:rPr>
              <a:t>The Traditional Engineering Design Cycle</a:t>
            </a:r>
            <a:endParaRPr lang="en-US" sz="3000" dirty="0"/>
          </a:p>
        </p:txBody>
      </p:sp>
      <p:sp>
        <p:nvSpPr>
          <p:cNvPr id="4" name="Shape 2"/>
          <p:cNvSpPr/>
          <p:nvPr/>
        </p:nvSpPr>
        <p:spPr>
          <a:xfrm>
            <a:off x="274320" y="960120"/>
            <a:ext cx="1463040" cy="594360"/>
          </a:xfrm>
          <a:prstGeom prst="rect">
            <a:avLst/>
          </a:prstGeom>
          <a:solidFill>
            <a:srgbClr val="1B6FD8"/>
          </a:solidFill>
          <a:ln w="12700">
            <a:solidFill>
              <a:srgbClr val="1B6FD8"/>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274320" y="960120"/>
            <a:ext cx="14630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Define Goals</a:t>
            </a:r>
            <a:endParaRPr lang="en-US" sz="1050" dirty="0"/>
          </a:p>
        </p:txBody>
      </p:sp>
      <p:sp>
        <p:nvSpPr>
          <p:cNvPr id="6" name="Shape 4"/>
          <p:cNvSpPr/>
          <p:nvPr/>
        </p:nvSpPr>
        <p:spPr>
          <a:xfrm>
            <a:off x="1737360" y="1257300"/>
            <a:ext cx="228600" cy="0"/>
          </a:xfrm>
          <a:prstGeom prst="line">
            <a:avLst/>
          </a:prstGeom>
          <a:noFill/>
          <a:ln w="25400">
            <a:solidFill>
              <a:srgbClr val="1B6FD8"/>
            </a:solidFill>
            <a:prstDash val="solid"/>
          </a:ln>
        </p:spPr>
      </p:sp>
      <p:sp>
        <p:nvSpPr>
          <p:cNvPr id="7" name="Shape 5"/>
          <p:cNvSpPr/>
          <p:nvPr/>
        </p:nvSpPr>
        <p:spPr>
          <a:xfrm>
            <a:off x="2039112" y="960120"/>
            <a:ext cx="1463040" cy="594360"/>
          </a:xfrm>
          <a:prstGeom prst="rect">
            <a:avLst/>
          </a:prstGeom>
          <a:solidFill>
            <a:srgbClr val="1B6FD8"/>
          </a:solidFill>
          <a:ln w="12700">
            <a:solidFill>
              <a:srgbClr val="1B6FD8"/>
            </a:solidFill>
            <a:prstDash val="solid"/>
          </a:ln>
          <a:effectLst>
            <a:outerShdw sx="100000" sy="100000" kx="0" ky="0" algn="bl" rotWithShape="0" blurRad="101600" dist="25400" dir="8100000">
              <a:srgbClr val="000000">
                <a:alpha val="10000"/>
              </a:srgbClr>
            </a:outerShdw>
          </a:effectLst>
        </p:spPr>
      </p:sp>
      <p:sp>
        <p:nvSpPr>
          <p:cNvPr id="8" name="Text 6"/>
          <p:cNvSpPr/>
          <p:nvPr/>
        </p:nvSpPr>
        <p:spPr>
          <a:xfrm>
            <a:off x="2039112" y="960120"/>
            <a:ext cx="14630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Basic Designs</a:t>
            </a:r>
            <a:endParaRPr lang="en-US" sz="1050" dirty="0"/>
          </a:p>
        </p:txBody>
      </p:sp>
      <p:sp>
        <p:nvSpPr>
          <p:cNvPr id="9" name="Shape 7"/>
          <p:cNvSpPr/>
          <p:nvPr/>
        </p:nvSpPr>
        <p:spPr>
          <a:xfrm>
            <a:off x="3502152" y="1257300"/>
            <a:ext cx="228600" cy="0"/>
          </a:xfrm>
          <a:prstGeom prst="line">
            <a:avLst/>
          </a:prstGeom>
          <a:noFill/>
          <a:ln w="25400">
            <a:solidFill>
              <a:srgbClr val="1B6FD8"/>
            </a:solidFill>
            <a:prstDash val="solid"/>
          </a:ln>
        </p:spPr>
      </p:sp>
      <p:sp>
        <p:nvSpPr>
          <p:cNvPr id="10" name="Shape 8"/>
          <p:cNvSpPr/>
          <p:nvPr/>
        </p:nvSpPr>
        <p:spPr>
          <a:xfrm>
            <a:off x="3803904" y="960120"/>
            <a:ext cx="1463040" cy="594360"/>
          </a:xfrm>
          <a:prstGeom prst="rect">
            <a:avLst/>
          </a:prstGeom>
          <a:solidFill>
            <a:srgbClr val="1B6FD8"/>
          </a:solidFill>
          <a:ln w="12700">
            <a:solidFill>
              <a:srgbClr val="1B6FD8"/>
            </a:solidFill>
            <a:prstDash val="solid"/>
          </a:ln>
          <a:effectLst>
            <a:outerShdw sx="100000" sy="100000" kx="0" ky="0" algn="bl" rotWithShape="0" blurRad="101600" dist="25400" dir="8100000">
              <a:srgbClr val="000000">
                <a:alpha val="10000"/>
              </a:srgbClr>
            </a:outerShdw>
          </a:effectLst>
        </p:spPr>
      </p:sp>
      <p:sp>
        <p:nvSpPr>
          <p:cNvPr id="11" name="Text 9"/>
          <p:cNvSpPr/>
          <p:nvPr/>
        </p:nvSpPr>
        <p:spPr>
          <a:xfrm>
            <a:off x="3803904" y="960120"/>
            <a:ext cx="14630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Hand Calculations</a:t>
            </a:r>
            <a:endParaRPr lang="en-US" sz="1050" dirty="0"/>
          </a:p>
        </p:txBody>
      </p:sp>
      <p:sp>
        <p:nvSpPr>
          <p:cNvPr id="12" name="Shape 10"/>
          <p:cNvSpPr/>
          <p:nvPr/>
        </p:nvSpPr>
        <p:spPr>
          <a:xfrm>
            <a:off x="5266944" y="1257300"/>
            <a:ext cx="228600" cy="0"/>
          </a:xfrm>
          <a:prstGeom prst="line">
            <a:avLst/>
          </a:prstGeom>
          <a:noFill/>
          <a:ln w="25400">
            <a:solidFill>
              <a:srgbClr val="1B6FD8"/>
            </a:solidFill>
            <a:prstDash val="solid"/>
          </a:ln>
        </p:spPr>
      </p:sp>
      <p:sp>
        <p:nvSpPr>
          <p:cNvPr id="13" name="Shape 11"/>
          <p:cNvSpPr/>
          <p:nvPr/>
        </p:nvSpPr>
        <p:spPr>
          <a:xfrm>
            <a:off x="5568696" y="960120"/>
            <a:ext cx="1463040" cy="594360"/>
          </a:xfrm>
          <a:prstGeom prst="rect">
            <a:avLst/>
          </a:prstGeom>
          <a:solidFill>
            <a:srgbClr val="1B6FD8"/>
          </a:solidFill>
          <a:ln w="12700">
            <a:solidFill>
              <a:srgbClr val="1B6FD8"/>
            </a:solidFill>
            <a:prstDash val="solid"/>
          </a:ln>
          <a:effectLst>
            <a:outerShdw sx="100000" sy="100000" kx="0" ky="0" algn="bl" rotWithShape="0" blurRad="101600" dist="25400" dir="8100000">
              <a:srgbClr val="000000">
                <a:alpha val="10000"/>
              </a:srgbClr>
            </a:outerShdw>
          </a:effectLst>
        </p:spPr>
      </p:sp>
      <p:sp>
        <p:nvSpPr>
          <p:cNvPr id="14" name="Text 12"/>
          <p:cNvSpPr/>
          <p:nvPr/>
        </p:nvSpPr>
        <p:spPr>
          <a:xfrm>
            <a:off x="5568696" y="960120"/>
            <a:ext cx="14630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 Iterate Designs</a:t>
            </a:r>
            <a:endParaRPr lang="en-US" sz="1050" dirty="0"/>
          </a:p>
        </p:txBody>
      </p:sp>
      <p:sp>
        <p:nvSpPr>
          <p:cNvPr id="15" name="Shape 13"/>
          <p:cNvSpPr/>
          <p:nvPr/>
        </p:nvSpPr>
        <p:spPr>
          <a:xfrm>
            <a:off x="7031736" y="1257300"/>
            <a:ext cx="228600" cy="0"/>
          </a:xfrm>
          <a:prstGeom prst="line">
            <a:avLst/>
          </a:prstGeom>
          <a:noFill/>
          <a:ln w="25400">
            <a:solidFill>
              <a:srgbClr val="1B6FD8"/>
            </a:solidFill>
            <a:prstDash val="solid"/>
          </a:ln>
        </p:spPr>
      </p:sp>
      <p:sp>
        <p:nvSpPr>
          <p:cNvPr id="16" name="Shape 14"/>
          <p:cNvSpPr/>
          <p:nvPr/>
        </p:nvSpPr>
        <p:spPr>
          <a:xfrm>
            <a:off x="7333488" y="960120"/>
            <a:ext cx="1463040" cy="594360"/>
          </a:xfrm>
          <a:prstGeom prst="rect">
            <a:avLst/>
          </a:prstGeom>
          <a:solidFill>
            <a:srgbClr val="1B6FD8"/>
          </a:solidFill>
          <a:ln w="12700">
            <a:solidFill>
              <a:srgbClr val="1B6FD8"/>
            </a:solidFill>
            <a:prstDash val="solid"/>
          </a:ln>
          <a:effectLst>
            <a:outerShdw sx="100000" sy="100000" kx="0" ky="0" algn="bl" rotWithShape="0" blurRad="101600" dist="25400" dir="8100000">
              <a:srgbClr val="000000">
                <a:alpha val="10000"/>
              </a:srgbClr>
            </a:outerShdw>
          </a:effectLst>
        </p:spPr>
      </p:sp>
      <p:sp>
        <p:nvSpPr>
          <p:cNvPr id="17" name="Text 15"/>
          <p:cNvSpPr/>
          <p:nvPr/>
        </p:nvSpPr>
        <p:spPr>
          <a:xfrm>
            <a:off x="7333488" y="960120"/>
            <a:ext cx="14630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 Computer Simulation</a:t>
            </a:r>
            <a:endParaRPr lang="en-US" sz="1050" dirty="0"/>
          </a:p>
        </p:txBody>
      </p:sp>
      <p:sp>
        <p:nvSpPr>
          <p:cNvPr id="18" name="Shape 16"/>
          <p:cNvSpPr/>
          <p:nvPr/>
        </p:nvSpPr>
        <p:spPr>
          <a:xfrm>
            <a:off x="8065008" y="1554480"/>
            <a:ext cx="0" cy="914400"/>
          </a:xfrm>
          <a:prstGeom prst="line">
            <a:avLst/>
          </a:prstGeom>
          <a:noFill/>
          <a:ln w="25400">
            <a:solidFill>
              <a:srgbClr val="1B6FD8"/>
            </a:solidFill>
            <a:prstDash val="solid"/>
          </a:ln>
        </p:spPr>
      </p:sp>
      <p:sp>
        <p:nvSpPr>
          <p:cNvPr id="19" name="Shape 17"/>
          <p:cNvSpPr/>
          <p:nvPr/>
        </p:nvSpPr>
        <p:spPr>
          <a:xfrm>
            <a:off x="7333488" y="2468880"/>
            <a:ext cx="1463040" cy="594360"/>
          </a:xfrm>
          <a:prstGeom prst="rect">
            <a:avLst/>
          </a:prstGeom>
          <a:solidFill>
            <a:srgbClr val="1B6FD8"/>
          </a:solidFill>
          <a:ln w="12700">
            <a:solidFill>
              <a:srgbClr val="1B6FD8"/>
            </a:solidFill>
            <a:prstDash val="solid"/>
          </a:ln>
          <a:effectLst>
            <a:outerShdw sx="100000" sy="100000" kx="0" ky="0" algn="bl" rotWithShape="0" blurRad="101600" dist="25400" dir="8100000">
              <a:srgbClr val="000000">
                <a:alpha val="10000"/>
              </a:srgbClr>
            </a:outerShdw>
          </a:effectLst>
        </p:spPr>
      </p:sp>
      <p:sp>
        <p:nvSpPr>
          <p:cNvPr id="20" name="Text 18"/>
          <p:cNvSpPr/>
          <p:nvPr/>
        </p:nvSpPr>
        <p:spPr>
          <a:xfrm>
            <a:off x="7333488" y="2468880"/>
            <a:ext cx="14630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 Iterate Designs</a:t>
            </a:r>
            <a:endParaRPr lang="en-US" sz="1050" dirty="0"/>
          </a:p>
        </p:txBody>
      </p:sp>
      <p:sp>
        <p:nvSpPr>
          <p:cNvPr id="21" name="Shape 19"/>
          <p:cNvSpPr/>
          <p:nvPr/>
        </p:nvSpPr>
        <p:spPr>
          <a:xfrm>
            <a:off x="7333488" y="2766060"/>
            <a:ext cx="-228600" cy="0"/>
          </a:xfrm>
          <a:prstGeom prst="line">
            <a:avLst/>
          </a:prstGeom>
          <a:noFill/>
          <a:ln w="25400">
            <a:solidFill>
              <a:srgbClr val="1B6FD8"/>
            </a:solidFill>
            <a:prstDash val="solid"/>
          </a:ln>
        </p:spPr>
      </p:sp>
      <p:sp>
        <p:nvSpPr>
          <p:cNvPr id="22" name="Shape 20"/>
          <p:cNvSpPr/>
          <p:nvPr/>
        </p:nvSpPr>
        <p:spPr>
          <a:xfrm>
            <a:off x="5568696" y="2468880"/>
            <a:ext cx="1463040" cy="594360"/>
          </a:xfrm>
          <a:prstGeom prst="rect">
            <a:avLst/>
          </a:prstGeom>
          <a:solidFill>
            <a:srgbClr val="1B6FD8"/>
          </a:solidFill>
          <a:ln w="12700">
            <a:solidFill>
              <a:srgbClr val="1B6FD8"/>
            </a:solidFill>
            <a:prstDash val="solid"/>
          </a:ln>
          <a:effectLst>
            <a:outerShdw sx="100000" sy="100000" kx="0" ky="0" algn="bl" rotWithShape="0" blurRad="101600" dist="25400" dir="8100000">
              <a:srgbClr val="000000">
                <a:alpha val="10000"/>
              </a:srgbClr>
            </a:outerShdw>
          </a:effectLst>
        </p:spPr>
      </p:sp>
      <p:sp>
        <p:nvSpPr>
          <p:cNvPr id="23" name="Text 21"/>
          <p:cNvSpPr/>
          <p:nvPr/>
        </p:nvSpPr>
        <p:spPr>
          <a:xfrm>
            <a:off x="5568696" y="2468880"/>
            <a:ext cx="14630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 Simple Mockups</a:t>
            </a:r>
            <a:endParaRPr lang="en-US" sz="1050" dirty="0"/>
          </a:p>
        </p:txBody>
      </p:sp>
      <p:sp>
        <p:nvSpPr>
          <p:cNvPr id="24" name="Shape 22"/>
          <p:cNvSpPr/>
          <p:nvPr/>
        </p:nvSpPr>
        <p:spPr>
          <a:xfrm>
            <a:off x="5568696" y="2766060"/>
            <a:ext cx="-228600" cy="0"/>
          </a:xfrm>
          <a:prstGeom prst="line">
            <a:avLst/>
          </a:prstGeom>
          <a:noFill/>
          <a:ln w="25400">
            <a:solidFill>
              <a:srgbClr val="1B6FD8"/>
            </a:solidFill>
            <a:prstDash val="solid"/>
          </a:ln>
        </p:spPr>
      </p:sp>
      <p:sp>
        <p:nvSpPr>
          <p:cNvPr id="25" name="Shape 23"/>
          <p:cNvSpPr/>
          <p:nvPr/>
        </p:nvSpPr>
        <p:spPr>
          <a:xfrm>
            <a:off x="3803904" y="2468880"/>
            <a:ext cx="1463040" cy="594360"/>
          </a:xfrm>
          <a:prstGeom prst="rect">
            <a:avLst/>
          </a:prstGeom>
          <a:solidFill>
            <a:srgbClr val="1B6FD8"/>
          </a:solidFill>
          <a:ln w="12700">
            <a:solidFill>
              <a:srgbClr val="1B6FD8"/>
            </a:solidFill>
            <a:prstDash val="solid"/>
          </a:ln>
          <a:effectLst>
            <a:outerShdw sx="100000" sy="100000" kx="0" ky="0" algn="bl" rotWithShape="0" blurRad="101600" dist="25400" dir="8100000">
              <a:srgbClr val="000000">
                <a:alpha val="10000"/>
              </a:srgbClr>
            </a:outerShdw>
          </a:effectLst>
        </p:spPr>
      </p:sp>
      <p:sp>
        <p:nvSpPr>
          <p:cNvPr id="26" name="Text 24"/>
          <p:cNvSpPr/>
          <p:nvPr/>
        </p:nvSpPr>
        <p:spPr>
          <a:xfrm>
            <a:off x="3803904" y="2468880"/>
            <a:ext cx="14630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 Prototypes</a:t>
            </a:r>
            <a:endParaRPr lang="en-US" sz="1050" dirty="0"/>
          </a:p>
        </p:txBody>
      </p:sp>
      <p:sp>
        <p:nvSpPr>
          <p:cNvPr id="27" name="Shape 25"/>
          <p:cNvSpPr/>
          <p:nvPr/>
        </p:nvSpPr>
        <p:spPr>
          <a:xfrm>
            <a:off x="3803904" y="2766060"/>
            <a:ext cx="-228600" cy="0"/>
          </a:xfrm>
          <a:prstGeom prst="line">
            <a:avLst/>
          </a:prstGeom>
          <a:noFill/>
          <a:ln w="25400">
            <a:solidFill>
              <a:srgbClr val="1B6FD8"/>
            </a:solidFill>
            <a:prstDash val="solid"/>
          </a:ln>
        </p:spPr>
      </p:sp>
      <p:sp>
        <p:nvSpPr>
          <p:cNvPr id="28" name="Shape 26"/>
          <p:cNvSpPr/>
          <p:nvPr/>
        </p:nvSpPr>
        <p:spPr>
          <a:xfrm>
            <a:off x="2039112" y="2468880"/>
            <a:ext cx="1463040" cy="594360"/>
          </a:xfrm>
          <a:prstGeom prst="rect">
            <a:avLst/>
          </a:prstGeom>
          <a:solidFill>
            <a:srgbClr val="1B6FD8"/>
          </a:solidFill>
          <a:ln w="12700">
            <a:solidFill>
              <a:srgbClr val="1B6FD8"/>
            </a:solidFill>
            <a:prstDash val="solid"/>
          </a:ln>
          <a:effectLst>
            <a:outerShdw sx="100000" sy="100000" kx="0" ky="0" algn="bl" rotWithShape="0" blurRad="101600" dist="25400" dir="8100000">
              <a:srgbClr val="000000">
                <a:alpha val="10000"/>
              </a:srgbClr>
            </a:outerShdw>
          </a:effectLst>
        </p:spPr>
      </p:sp>
      <p:sp>
        <p:nvSpPr>
          <p:cNvPr id="29" name="Text 27"/>
          <p:cNvSpPr/>
          <p:nvPr/>
        </p:nvSpPr>
        <p:spPr>
          <a:xfrm>
            <a:off x="2039112" y="2468880"/>
            <a:ext cx="14630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9. Release Candidate</a:t>
            </a:r>
            <a:endParaRPr lang="en-US" sz="1050" dirty="0"/>
          </a:p>
        </p:txBody>
      </p:sp>
      <p:sp>
        <p:nvSpPr>
          <p:cNvPr id="30" name="Shape 28"/>
          <p:cNvSpPr/>
          <p:nvPr/>
        </p:nvSpPr>
        <p:spPr>
          <a:xfrm>
            <a:off x="2039112" y="2766060"/>
            <a:ext cx="-228600" cy="0"/>
          </a:xfrm>
          <a:prstGeom prst="line">
            <a:avLst/>
          </a:prstGeom>
          <a:noFill/>
          <a:ln w="25400">
            <a:solidFill>
              <a:srgbClr val="1B6FD8"/>
            </a:solidFill>
            <a:prstDash val="solid"/>
          </a:ln>
        </p:spPr>
      </p:sp>
      <p:sp>
        <p:nvSpPr>
          <p:cNvPr id="31" name="Shape 29"/>
          <p:cNvSpPr/>
          <p:nvPr/>
        </p:nvSpPr>
        <p:spPr>
          <a:xfrm>
            <a:off x="274320" y="2468880"/>
            <a:ext cx="1463040" cy="594360"/>
          </a:xfrm>
          <a:prstGeom prst="rect">
            <a:avLst/>
          </a:prstGeom>
          <a:solidFill>
            <a:srgbClr val="2A9D5C"/>
          </a:solidFill>
          <a:ln w="12700">
            <a:solidFill>
              <a:srgbClr val="2A9D5C"/>
            </a:solidFill>
            <a:prstDash val="solid"/>
          </a:ln>
          <a:effectLst>
            <a:outerShdw sx="100000" sy="100000" kx="0" ky="0" algn="bl" rotWithShape="0" blurRad="101600" dist="25400" dir="8100000">
              <a:srgbClr val="000000">
                <a:alpha val="10000"/>
              </a:srgbClr>
            </a:outerShdw>
          </a:effectLst>
        </p:spPr>
      </p:sp>
      <p:sp>
        <p:nvSpPr>
          <p:cNvPr id="32" name="Text 30"/>
          <p:cNvSpPr/>
          <p:nvPr/>
        </p:nvSpPr>
        <p:spPr>
          <a:xfrm>
            <a:off x="274320" y="2468880"/>
            <a:ext cx="14630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 Test &amp; Iterate</a:t>
            </a:r>
            <a:endParaRPr lang="en-US" sz="1050" dirty="0"/>
          </a:p>
        </p:txBody>
      </p:sp>
      <p:sp>
        <p:nvSpPr>
          <p:cNvPr id="33" name="Text 31"/>
          <p:cNvSpPr/>
          <p:nvPr/>
        </p:nvSpPr>
        <p:spPr>
          <a:xfrm>
            <a:off x="457200" y="3291840"/>
            <a:ext cx="8229600" cy="45720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This process is thorough, rigorous, and reduces expensive mistakes — but takes time.</a:t>
            </a:r>
            <a:endParaRPr lang="en-US" sz="1300" dirty="0"/>
          </a:p>
        </p:txBody>
      </p:sp>
      <p:sp>
        <p:nvSpPr>
          <p:cNvPr id="34" name="Shape 32"/>
          <p:cNvSpPr/>
          <p:nvPr/>
        </p:nvSpPr>
        <p:spPr>
          <a:xfrm>
            <a:off x="2103120" y="1737360"/>
            <a:ext cx="0" cy="502920"/>
          </a:xfrm>
          <a:prstGeom prst="line">
            <a:avLst/>
          </a:prstGeom>
          <a:noFill/>
          <a:ln w="25400">
            <a:solidFill>
              <a:srgbClr val="F5A623"/>
            </a:solidFill>
            <a:prstDash val="solid"/>
          </a:ln>
        </p:spPr>
      </p:sp>
      <p:sp>
        <p:nvSpPr>
          <p:cNvPr id="35" name="Text 33"/>
          <p:cNvSpPr/>
          <p:nvPr/>
        </p:nvSpPr>
        <p:spPr>
          <a:xfrm>
            <a:off x="2194560" y="1874520"/>
            <a:ext cx="914400" cy="320040"/>
          </a:xfrm>
          <a:prstGeom prst="rect">
            <a:avLst/>
          </a:prstGeom>
          <a:noFill/>
          <a:ln/>
        </p:spPr>
        <p:txBody>
          <a:bodyPr wrap="square" rtlCol="0" anchor="ctr"/>
          <a:lstStyle/>
          <a:p>
            <a:pPr indent="0" marL="0">
              <a:buNone/>
            </a:pPr>
            <a:r>
              <a:rPr lang="en-US" sz="1000" dirty="0">
                <a:solidFill>
                  <a:srgbClr val="F5A623"/>
                </a:solidFill>
                <a:latin typeface="Calibri" pitchFamily="34" charset="0"/>
                <a:ea typeface="Calibri" pitchFamily="34" charset="-122"/>
                <a:cs typeface="Calibri" pitchFamily="34" charset="-120"/>
              </a:rPr>
              <a:t>↑ iterate</a:t>
            </a:r>
            <a:endParaRPr lang="en-US" sz="1000" dirty="0"/>
          </a:p>
        </p:txBody>
      </p:sp>
      <p:sp>
        <p:nvSpPr>
          <p:cNvPr id="36" name="Shape 34"/>
          <p:cNvSpPr/>
          <p:nvPr/>
        </p:nvSpPr>
        <p:spPr>
          <a:xfrm>
            <a:off x="2103120" y="3200400"/>
            <a:ext cx="0" cy="502920"/>
          </a:xfrm>
          <a:prstGeom prst="line">
            <a:avLst/>
          </a:prstGeom>
          <a:noFill/>
          <a:ln w="25400">
            <a:solidFill>
              <a:srgbClr val="F5A623"/>
            </a:solidFill>
            <a:prstDash val="solid"/>
          </a:ln>
        </p:spPr>
      </p:sp>
      <p:sp>
        <p:nvSpPr>
          <p:cNvPr id="37" name="Text 35"/>
          <p:cNvSpPr/>
          <p:nvPr/>
        </p:nvSpPr>
        <p:spPr>
          <a:xfrm>
            <a:off x="2194560" y="3383280"/>
            <a:ext cx="914400" cy="320040"/>
          </a:xfrm>
          <a:prstGeom prst="rect">
            <a:avLst/>
          </a:prstGeom>
          <a:noFill/>
          <a:ln/>
        </p:spPr>
        <p:txBody>
          <a:bodyPr wrap="square" rtlCol="0" anchor="ctr"/>
          <a:lstStyle/>
          <a:p>
            <a:pPr indent="0" marL="0">
              <a:buNone/>
            </a:pPr>
            <a:r>
              <a:rPr lang="en-US" sz="1000" dirty="0">
                <a:solidFill>
                  <a:srgbClr val="F5A623"/>
                </a:solidFill>
                <a:latin typeface="Calibri" pitchFamily="34" charset="0"/>
                <a:ea typeface="Calibri" pitchFamily="34" charset="-122"/>
                <a:cs typeface="Calibri" pitchFamily="34" charset="-120"/>
              </a:rPr>
              <a:t>↑ iterate</a:t>
            </a:r>
            <a:endParaRPr lang="en-US" sz="1000" dirty="0"/>
          </a:p>
        </p:txBody>
      </p:sp>
      <p:sp>
        <p:nvSpPr>
          <p:cNvPr id="38" name="Text 36"/>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5A623"/>
          </a:solidFill>
          <a:ln w="12700">
            <a:solidFill>
              <a:srgbClr val="F5A623"/>
            </a:solidFill>
            <a:prstDash val="solid"/>
          </a:ln>
        </p:spPr>
      </p:sp>
      <p:sp>
        <p:nvSpPr>
          <p:cNvPr id="3" name="Text 1"/>
          <p:cNvSpPr/>
          <p:nvPr/>
        </p:nvSpPr>
        <p:spPr>
          <a:xfrm>
            <a:off x="457200" y="228600"/>
            <a:ext cx="8229600" cy="731520"/>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The Punk Rock Engineering Cycle</a:t>
            </a:r>
            <a:endParaRPr lang="en-US" sz="3000" dirty="0"/>
          </a:p>
        </p:txBody>
      </p:sp>
      <p:sp>
        <p:nvSpPr>
          <p:cNvPr id="4" name="Shape 2"/>
          <p:cNvSpPr/>
          <p:nvPr/>
        </p:nvSpPr>
        <p:spPr>
          <a:xfrm>
            <a:off x="320040" y="1554480"/>
            <a:ext cx="1188720" cy="1005840"/>
          </a:xfrm>
          <a:prstGeom prst="rect">
            <a:avLst/>
          </a:prstGeom>
          <a:solidFill>
            <a:srgbClr val="F5A623"/>
          </a:solidFill>
          <a:ln w="12700">
            <a:solidFill>
              <a:srgbClr val="F5A623"/>
            </a:solidFill>
            <a:prstDash val="solid"/>
          </a:ln>
        </p:spPr>
      </p:sp>
      <p:sp>
        <p:nvSpPr>
          <p:cNvPr id="5" name="Text 3"/>
          <p:cNvSpPr/>
          <p:nvPr/>
        </p:nvSpPr>
        <p:spPr>
          <a:xfrm>
            <a:off x="320040" y="1554480"/>
            <a:ext cx="1188720" cy="100584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Guess the</a:t>
            </a:r>
            <a:endParaRPr lang="en-US" sz="1300" dirty="0"/>
          </a:p>
          <a:p>
            <a:pPr algn="ctr" indent="0" marL="0">
              <a:buNone/>
            </a:pPr>
            <a:r>
              <a:rPr lang="en-US" sz="1300" b="1" dirty="0">
                <a:solidFill>
                  <a:srgbClr val="0D1B2A"/>
                </a:solidFill>
                <a:latin typeface="Arial Black" pitchFamily="34" charset="0"/>
                <a:ea typeface="Arial Black" pitchFamily="34" charset="-122"/>
                <a:cs typeface="Arial Black" pitchFamily="34" charset="-120"/>
              </a:rPr>
              <a:t>Design</a:t>
            </a:r>
            <a:endParaRPr lang="en-US" sz="1300" dirty="0"/>
          </a:p>
        </p:txBody>
      </p:sp>
      <p:sp>
        <p:nvSpPr>
          <p:cNvPr id="6" name="Text 4"/>
          <p:cNvSpPr/>
          <p:nvPr/>
        </p:nvSpPr>
        <p:spPr>
          <a:xfrm>
            <a:off x="1508760" y="1828800"/>
            <a:ext cx="320040" cy="457200"/>
          </a:xfrm>
          <a:prstGeom prst="rect">
            <a:avLst/>
          </a:prstGeom>
          <a:noFill/>
          <a:ln/>
        </p:spPr>
        <p:txBody>
          <a:bodyPr wrap="square" rtlCol="0" anchor="ctr"/>
          <a:lstStyle/>
          <a:p>
            <a:pPr algn="ctr" indent="0" marL="0">
              <a:buNone/>
            </a:pPr>
            <a:r>
              <a:rPr lang="en-US" sz="2200"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7" name="Shape 5"/>
          <p:cNvSpPr/>
          <p:nvPr/>
        </p:nvSpPr>
        <p:spPr>
          <a:xfrm>
            <a:off x="1828800" y="1554480"/>
            <a:ext cx="1188720" cy="1005840"/>
          </a:xfrm>
          <a:prstGeom prst="rect">
            <a:avLst/>
          </a:prstGeom>
          <a:solidFill>
            <a:srgbClr val="F5A623"/>
          </a:solidFill>
          <a:ln w="12700">
            <a:solidFill>
              <a:srgbClr val="F5A623"/>
            </a:solidFill>
            <a:prstDash val="solid"/>
          </a:ln>
        </p:spPr>
      </p:sp>
      <p:sp>
        <p:nvSpPr>
          <p:cNvPr id="8" name="Text 6"/>
          <p:cNvSpPr/>
          <p:nvPr/>
        </p:nvSpPr>
        <p:spPr>
          <a:xfrm>
            <a:off x="1828800" y="1554480"/>
            <a:ext cx="1188720" cy="100584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Build It</a:t>
            </a:r>
            <a:endParaRPr lang="en-US" sz="1300" dirty="0"/>
          </a:p>
        </p:txBody>
      </p:sp>
      <p:sp>
        <p:nvSpPr>
          <p:cNvPr id="9" name="Text 7"/>
          <p:cNvSpPr/>
          <p:nvPr/>
        </p:nvSpPr>
        <p:spPr>
          <a:xfrm>
            <a:off x="3017520" y="1828800"/>
            <a:ext cx="320040" cy="457200"/>
          </a:xfrm>
          <a:prstGeom prst="rect">
            <a:avLst/>
          </a:prstGeom>
          <a:noFill/>
          <a:ln/>
        </p:spPr>
        <p:txBody>
          <a:bodyPr wrap="square" rtlCol="0" anchor="ctr"/>
          <a:lstStyle/>
          <a:p>
            <a:pPr algn="ctr" indent="0" marL="0">
              <a:buNone/>
            </a:pPr>
            <a:r>
              <a:rPr lang="en-US" sz="2200"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10" name="Shape 8"/>
          <p:cNvSpPr/>
          <p:nvPr/>
        </p:nvSpPr>
        <p:spPr>
          <a:xfrm>
            <a:off x="3337560" y="1554480"/>
            <a:ext cx="1188720" cy="1005840"/>
          </a:xfrm>
          <a:prstGeom prst="rect">
            <a:avLst/>
          </a:prstGeom>
          <a:solidFill>
            <a:srgbClr val="F5A623"/>
          </a:solidFill>
          <a:ln w="12700">
            <a:solidFill>
              <a:srgbClr val="F5A623"/>
            </a:solidFill>
            <a:prstDash val="solid"/>
          </a:ln>
        </p:spPr>
      </p:sp>
      <p:sp>
        <p:nvSpPr>
          <p:cNvPr id="11" name="Text 9"/>
          <p:cNvSpPr/>
          <p:nvPr/>
        </p:nvSpPr>
        <p:spPr>
          <a:xfrm>
            <a:off x="3337560" y="1554480"/>
            <a:ext cx="1188720" cy="100584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Test It</a:t>
            </a:r>
            <a:endParaRPr lang="en-US" sz="1300" dirty="0"/>
          </a:p>
        </p:txBody>
      </p:sp>
      <p:sp>
        <p:nvSpPr>
          <p:cNvPr id="12" name="Text 10"/>
          <p:cNvSpPr/>
          <p:nvPr/>
        </p:nvSpPr>
        <p:spPr>
          <a:xfrm>
            <a:off x="4526280" y="1828800"/>
            <a:ext cx="320040" cy="457200"/>
          </a:xfrm>
          <a:prstGeom prst="rect">
            <a:avLst/>
          </a:prstGeom>
          <a:noFill/>
          <a:ln/>
        </p:spPr>
        <p:txBody>
          <a:bodyPr wrap="square" rtlCol="0" anchor="ctr"/>
          <a:lstStyle/>
          <a:p>
            <a:pPr algn="ctr" indent="0" marL="0">
              <a:buNone/>
            </a:pPr>
            <a:r>
              <a:rPr lang="en-US" sz="2200"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13" name="Shape 11"/>
          <p:cNvSpPr/>
          <p:nvPr/>
        </p:nvSpPr>
        <p:spPr>
          <a:xfrm>
            <a:off x="4846320" y="1554480"/>
            <a:ext cx="1188720" cy="1005840"/>
          </a:xfrm>
          <a:prstGeom prst="rect">
            <a:avLst/>
          </a:prstGeom>
          <a:solidFill>
            <a:srgbClr val="E63946"/>
          </a:solidFill>
          <a:ln w="12700">
            <a:solidFill>
              <a:srgbClr val="E63946"/>
            </a:solidFill>
            <a:prstDash val="solid"/>
          </a:ln>
        </p:spPr>
      </p:sp>
      <p:sp>
        <p:nvSpPr>
          <p:cNvPr id="14" name="Text 12"/>
          <p:cNvSpPr/>
          <p:nvPr/>
        </p:nvSpPr>
        <p:spPr>
          <a:xfrm>
            <a:off x="4846320" y="1554480"/>
            <a:ext cx="1188720" cy="1005840"/>
          </a:xfrm>
          <a:prstGeom prst="rect">
            <a:avLst/>
          </a:prstGeom>
          <a:noFill/>
          <a:ln/>
        </p:spPr>
        <p:txBody>
          <a:bodyPr wrap="square"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"Oh. That</a:t>
            </a:r>
            <a:endParaRPr lang="en-US" sz="1300" dirty="0"/>
          </a:p>
          <a:p>
            <a:pPr algn="ctr" indent="0" marL="0">
              <a:buNone/>
            </a:pPr>
            <a:r>
              <a:rPr lang="en-US" sz="1300" b="1" dirty="0">
                <a:solidFill>
                  <a:srgbClr val="FFFFFF"/>
                </a:solidFill>
                <a:latin typeface="Arial Black" pitchFamily="34" charset="0"/>
                <a:ea typeface="Arial Black" pitchFamily="34" charset="-122"/>
                <a:cs typeface="Arial Black" pitchFamily="34" charset="-120"/>
              </a:rPr>
              <a:t>Sucks."</a:t>
            </a:r>
            <a:endParaRPr lang="en-US" sz="1300" dirty="0"/>
          </a:p>
        </p:txBody>
      </p:sp>
      <p:sp>
        <p:nvSpPr>
          <p:cNvPr id="15" name="Text 13"/>
          <p:cNvSpPr/>
          <p:nvPr/>
        </p:nvSpPr>
        <p:spPr>
          <a:xfrm>
            <a:off x="6035040" y="1828800"/>
            <a:ext cx="320040" cy="457200"/>
          </a:xfrm>
          <a:prstGeom prst="rect">
            <a:avLst/>
          </a:prstGeom>
          <a:noFill/>
          <a:ln/>
        </p:spPr>
        <p:txBody>
          <a:bodyPr wrap="square" rtlCol="0" anchor="ctr"/>
          <a:lstStyle/>
          <a:p>
            <a:pPr algn="ctr" indent="0" marL="0">
              <a:buNone/>
            </a:pPr>
            <a:r>
              <a:rPr lang="en-US" sz="2200"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16" name="Shape 14"/>
          <p:cNvSpPr/>
          <p:nvPr/>
        </p:nvSpPr>
        <p:spPr>
          <a:xfrm>
            <a:off x="6355080" y="1554480"/>
            <a:ext cx="1188720" cy="1005840"/>
          </a:xfrm>
          <a:prstGeom prst="rect">
            <a:avLst/>
          </a:prstGeom>
          <a:solidFill>
            <a:srgbClr val="F5A623"/>
          </a:solidFill>
          <a:ln w="12700">
            <a:solidFill>
              <a:srgbClr val="F5A623"/>
            </a:solidFill>
            <a:prstDash val="solid"/>
          </a:ln>
        </p:spPr>
      </p:sp>
      <p:sp>
        <p:nvSpPr>
          <p:cNvPr id="17" name="Text 15"/>
          <p:cNvSpPr/>
          <p:nvPr/>
        </p:nvSpPr>
        <p:spPr>
          <a:xfrm>
            <a:off x="6355080" y="1554480"/>
            <a:ext cx="1188720" cy="100584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Remake It</a:t>
            </a:r>
            <a:endParaRPr lang="en-US" sz="1300" dirty="0"/>
          </a:p>
        </p:txBody>
      </p:sp>
      <p:sp>
        <p:nvSpPr>
          <p:cNvPr id="18" name="Text 16"/>
          <p:cNvSpPr/>
          <p:nvPr/>
        </p:nvSpPr>
        <p:spPr>
          <a:xfrm>
            <a:off x="7543800" y="1828800"/>
            <a:ext cx="320040" cy="457200"/>
          </a:xfrm>
          <a:prstGeom prst="rect">
            <a:avLst/>
          </a:prstGeom>
          <a:noFill/>
          <a:ln/>
        </p:spPr>
        <p:txBody>
          <a:bodyPr wrap="square" rtlCol="0" anchor="ctr"/>
          <a:lstStyle/>
          <a:p>
            <a:pPr algn="ctr" indent="0" marL="0">
              <a:buNone/>
            </a:pPr>
            <a:r>
              <a:rPr lang="en-US" sz="2200"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19" name="Shape 17"/>
          <p:cNvSpPr/>
          <p:nvPr/>
        </p:nvSpPr>
        <p:spPr>
          <a:xfrm>
            <a:off x="7863840" y="1554480"/>
            <a:ext cx="1188720" cy="1005840"/>
          </a:xfrm>
          <a:prstGeom prst="rect">
            <a:avLst/>
          </a:prstGeom>
          <a:solidFill>
            <a:srgbClr val="2A9D5C"/>
          </a:solidFill>
          <a:ln w="12700">
            <a:solidFill>
              <a:srgbClr val="2A9D5C"/>
            </a:solidFill>
            <a:prstDash val="solid"/>
          </a:ln>
        </p:spPr>
      </p:sp>
      <p:sp>
        <p:nvSpPr>
          <p:cNvPr id="20" name="Text 18"/>
          <p:cNvSpPr/>
          <p:nvPr/>
        </p:nvSpPr>
        <p:spPr>
          <a:xfrm>
            <a:off x="7863840" y="1554480"/>
            <a:ext cx="1188720" cy="100584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Done! ✓</a:t>
            </a:r>
            <a:endParaRPr lang="en-US" sz="1300" dirty="0"/>
          </a:p>
        </p:txBody>
      </p:sp>
      <p:sp>
        <p:nvSpPr>
          <p:cNvPr id="21" name="Text 19"/>
          <p:cNvSpPr/>
          <p:nvPr/>
        </p:nvSpPr>
        <p:spPr>
          <a:xfrm>
            <a:off x="320040" y="2743200"/>
            <a:ext cx="1188720" cy="64008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Engineering</a:t>
            </a:r>
            <a:endParaRPr lang="en-US" sz="1100" dirty="0"/>
          </a:p>
          <a:p>
            <a:pPr algn="ctr" indent="0" marL="0">
              <a:buNone/>
            </a:pPr>
            <a:r>
              <a:rPr lang="en-US" sz="1100" i="1" dirty="0">
                <a:solidFill>
                  <a:srgbClr val="94A3B8"/>
                </a:solidFill>
                <a:latin typeface="Calibri" pitchFamily="34" charset="0"/>
                <a:ea typeface="Calibri" pitchFamily="34" charset="-122"/>
                <a:cs typeface="Calibri" pitchFamily="34" charset="-120"/>
              </a:rPr>
              <a:t>intuition</a:t>
            </a:r>
            <a:endParaRPr lang="en-US" sz="1100" dirty="0"/>
          </a:p>
        </p:txBody>
      </p:sp>
      <p:sp>
        <p:nvSpPr>
          <p:cNvPr id="22" name="Text 20"/>
          <p:cNvSpPr/>
          <p:nvPr/>
        </p:nvSpPr>
        <p:spPr>
          <a:xfrm>
            <a:off x="1828800" y="2743200"/>
            <a:ext cx="1188720" cy="64008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Whatever</a:t>
            </a:r>
            <a:endParaRPr lang="en-US" sz="1100" dirty="0"/>
          </a:p>
          <a:p>
            <a:pPr algn="ctr" indent="0" marL="0">
              <a:buNone/>
            </a:pPr>
            <a:r>
              <a:rPr lang="en-US" sz="1100" i="1" dirty="0">
                <a:solidFill>
                  <a:srgbClr val="94A3B8"/>
                </a:solidFill>
                <a:latin typeface="Calibri" pitchFamily="34" charset="0"/>
                <a:ea typeface="Calibri" pitchFamily="34" charset="-122"/>
                <a:cs typeface="Calibri" pitchFamily="34" charset="-120"/>
              </a:rPr>
              <a:t>you can</a:t>
            </a:r>
            <a:endParaRPr lang="en-US" sz="1100" dirty="0"/>
          </a:p>
        </p:txBody>
      </p:sp>
      <p:sp>
        <p:nvSpPr>
          <p:cNvPr id="23" name="Text 21"/>
          <p:cNvSpPr/>
          <p:nvPr/>
        </p:nvSpPr>
        <p:spPr>
          <a:xfrm>
            <a:off x="3337560" y="2743200"/>
            <a:ext cx="1188720" cy="64008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See what</a:t>
            </a:r>
            <a:endParaRPr lang="en-US" sz="1100" dirty="0"/>
          </a:p>
          <a:p>
            <a:pPr algn="ctr" indent="0" marL="0">
              <a:buNone/>
            </a:pPr>
            <a:r>
              <a:rPr lang="en-US" sz="1100" i="1" dirty="0">
                <a:solidFill>
                  <a:srgbClr val="94A3B8"/>
                </a:solidFill>
                <a:latin typeface="Calibri" pitchFamily="34" charset="0"/>
                <a:ea typeface="Calibri" pitchFamily="34" charset="-122"/>
                <a:cs typeface="Calibri" pitchFamily="34" charset="-120"/>
              </a:rPr>
              <a:t>happens</a:t>
            </a:r>
            <a:endParaRPr lang="en-US" sz="1100" dirty="0"/>
          </a:p>
        </p:txBody>
      </p:sp>
      <p:sp>
        <p:nvSpPr>
          <p:cNvPr id="24" name="Text 22"/>
          <p:cNvSpPr/>
          <p:nvPr/>
        </p:nvSpPr>
        <p:spPr>
          <a:xfrm>
            <a:off x="4846320" y="2743200"/>
            <a:ext cx="1188720" cy="64008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This is the</a:t>
            </a:r>
            <a:endParaRPr lang="en-US" sz="1100" dirty="0"/>
          </a:p>
          <a:p>
            <a:pPr algn="ctr" indent="0" marL="0">
              <a:buNone/>
            </a:pPr>
            <a:r>
              <a:rPr lang="en-US" sz="1100" i="1" dirty="0">
                <a:solidFill>
                  <a:srgbClr val="94A3B8"/>
                </a:solidFill>
                <a:latin typeface="Calibri" pitchFamily="34" charset="0"/>
                <a:ea typeface="Calibri" pitchFamily="34" charset="-122"/>
                <a:cs typeface="Calibri" pitchFamily="34" charset="-120"/>
              </a:rPr>
              <a:t>moment of truth</a:t>
            </a:r>
            <a:endParaRPr lang="en-US" sz="1100" dirty="0"/>
          </a:p>
        </p:txBody>
      </p:sp>
      <p:sp>
        <p:nvSpPr>
          <p:cNvPr id="25" name="Text 23"/>
          <p:cNvSpPr/>
          <p:nvPr/>
        </p:nvSpPr>
        <p:spPr>
          <a:xfrm>
            <a:off x="6355080" y="2743200"/>
            <a:ext cx="1188720" cy="64008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Now you know</a:t>
            </a:r>
            <a:endParaRPr lang="en-US" sz="1100" dirty="0"/>
          </a:p>
          <a:p>
            <a:pPr algn="ctr" indent="0" marL="0">
              <a:buNone/>
            </a:pPr>
            <a:r>
              <a:rPr lang="en-US" sz="1100" i="1" dirty="0">
                <a:solidFill>
                  <a:srgbClr val="94A3B8"/>
                </a:solidFill>
                <a:latin typeface="Calibri" pitchFamily="34" charset="0"/>
                <a:ea typeface="Calibri" pitchFamily="34" charset="-122"/>
                <a:cs typeface="Calibri" pitchFamily="34" charset="-120"/>
              </a:rPr>
              <a:t>what you want</a:t>
            </a:r>
            <a:endParaRPr lang="en-US" sz="1100" dirty="0"/>
          </a:p>
        </p:txBody>
      </p:sp>
      <p:sp>
        <p:nvSpPr>
          <p:cNvPr id="26" name="Text 24"/>
          <p:cNvSpPr/>
          <p:nvPr/>
        </p:nvSpPr>
        <p:spPr>
          <a:xfrm>
            <a:off x="7863840" y="2743200"/>
            <a:ext cx="1188720" cy="64008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Ship it!</a:t>
            </a:r>
            <a:endParaRPr lang="en-US" sz="1100" dirty="0"/>
          </a:p>
        </p:txBody>
      </p:sp>
      <p:sp>
        <p:nvSpPr>
          <p:cNvPr id="27" name="Text 25"/>
          <p:cNvSpPr/>
          <p:nvPr/>
        </p:nvSpPr>
        <p:spPr>
          <a:xfrm>
            <a:off x="914400" y="3566160"/>
            <a:ext cx="7315200" cy="457200"/>
          </a:xfrm>
          <a:prstGeom prst="rect">
            <a:avLst/>
          </a:prstGeom>
          <a:noFill/>
          <a:ln/>
        </p:spPr>
        <p:txBody>
          <a:bodyPr wrap="square" rtlCol="0" anchor="ctr"/>
          <a:lstStyle/>
          <a:p>
            <a:pPr algn="ctr" indent="0" marL="0">
              <a:buNone/>
            </a:pPr>
            <a:r>
              <a:rPr lang="en-US" sz="1600" b="1" dirty="0">
                <a:solidFill>
                  <a:srgbClr val="F5A623"/>
                </a:solidFill>
                <a:latin typeface="Calibri" pitchFamily="34" charset="0"/>
                <a:ea typeface="Calibri" pitchFamily="34" charset="-122"/>
                <a:cs typeface="Calibri" pitchFamily="34" charset="-120"/>
              </a:rPr>
              <a:t>The whole cycle can take hours — not months.</a:t>
            </a:r>
            <a:endParaRPr lang="en-US" sz="1600" dirty="0"/>
          </a:p>
        </p:txBody>
      </p:sp>
      <p:sp>
        <p:nvSpPr>
          <p:cNvPr id="28" name="Text 26"/>
          <p:cNvSpPr/>
          <p:nvPr/>
        </p:nvSpPr>
        <p:spPr>
          <a:xfrm>
            <a:off x="914400" y="4023360"/>
            <a:ext cx="7315200" cy="457200"/>
          </a:xfrm>
          <a:prstGeom prst="rect">
            <a:avLst/>
          </a:prstGeom>
          <a:noFill/>
          <a:ln/>
        </p:spPr>
        <p:txBody>
          <a:bodyPr wrap="square"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Disclaimer: "intuition" here is doing a LOT of heavy lifting.</a:t>
            </a:r>
            <a:endParaRPr lang="en-US" sz="1300" dirty="0"/>
          </a:p>
        </p:txBody>
      </p:sp>
      <p:sp>
        <p:nvSpPr>
          <p:cNvPr id="29" name="Text 27"/>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0A0A"/>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E63946"/>
          </a:solidFill>
          <a:ln w="12700">
            <a:solidFill>
              <a:srgbClr val="E63946"/>
            </a:solidFill>
            <a:prstDash val="solid"/>
          </a:ln>
        </p:spPr>
      </p:sp>
      <p:sp>
        <p:nvSpPr>
          <p:cNvPr id="3" name="Text 1"/>
          <p:cNvSpPr/>
          <p:nvPr/>
        </p:nvSpPr>
        <p:spPr>
          <a:xfrm>
            <a:off x="457200" y="274320"/>
            <a:ext cx="8229600" cy="731520"/>
          </a:xfrm>
          <a:prstGeom prst="rect">
            <a:avLst/>
          </a:prstGeom>
          <a:noFill/>
          <a:ln/>
        </p:spPr>
        <p:txBody>
          <a:bodyPr wrap="square" rtlCol="0" anchor="ctr"/>
          <a:lstStyle/>
          <a:p>
            <a:pPr indent="0" marL="0">
              <a:buNone/>
            </a:pPr>
            <a:r>
              <a:rPr lang="en-US" sz="3000" b="1" dirty="0">
                <a:solidFill>
                  <a:srgbClr val="E63946"/>
                </a:solidFill>
                <a:latin typeface="Arial Black" pitchFamily="34" charset="0"/>
                <a:ea typeface="Arial Black" pitchFamily="34" charset="-122"/>
                <a:cs typeface="Arial Black" pitchFamily="34" charset="-120"/>
              </a:rPr>
              <a:t>⚠  The Big Caveat</a:t>
            </a:r>
            <a:endParaRPr lang="en-US" sz="3000" dirty="0"/>
          </a:p>
        </p:txBody>
      </p:sp>
      <p:sp>
        <p:nvSpPr>
          <p:cNvPr id="4" name="Text 2"/>
          <p:cNvSpPr/>
          <p:nvPr/>
        </p:nvSpPr>
        <p:spPr>
          <a:xfrm>
            <a:off x="457200" y="1097280"/>
            <a:ext cx="8229600" cy="594360"/>
          </a:xfrm>
          <a:prstGeom prst="rect">
            <a:avLst/>
          </a:prstGeom>
          <a:noFill/>
          <a:ln/>
        </p:spPr>
        <p:txBody>
          <a:bodyPr wrap="square" rtlCol="0" anchor="ctr"/>
          <a:lstStyle/>
          <a:p>
            <a:pPr algn="ctr" indent="0" marL="0">
              <a:buNone/>
            </a:pPr>
            <a:r>
              <a:rPr lang="en-US" sz="2200" i="1" dirty="0">
                <a:solidFill>
                  <a:srgbClr val="FFFFFF"/>
                </a:solidFill>
                <a:latin typeface="Georgia" pitchFamily="34" charset="0"/>
                <a:ea typeface="Georgia" pitchFamily="34" charset="-122"/>
                <a:cs typeface="Georgia" pitchFamily="34" charset="-120"/>
              </a:rPr>
              <a:t>Engineering intuition is to engineering...</a:t>
            </a:r>
            <a:endParaRPr lang="en-US" sz="2200" dirty="0"/>
          </a:p>
        </p:txBody>
      </p:sp>
      <p:sp>
        <p:nvSpPr>
          <p:cNvPr id="5" name="Text 3"/>
          <p:cNvSpPr/>
          <p:nvPr/>
        </p:nvSpPr>
        <p:spPr>
          <a:xfrm>
            <a:off x="457200" y="1691640"/>
            <a:ext cx="8229600" cy="594360"/>
          </a:xfrm>
          <a:prstGeom prst="rect">
            <a:avLst/>
          </a:prstGeom>
          <a:noFill/>
          <a:ln/>
        </p:spPr>
        <p:txBody>
          <a:bodyPr wrap="square" rtlCol="0" anchor="ctr"/>
          <a:lstStyle/>
          <a:p>
            <a:pPr algn="ctr" indent="0" marL="0">
              <a:buNone/>
            </a:pPr>
            <a:r>
              <a:rPr lang="en-US" sz="2200" b="1" i="1" dirty="0">
                <a:solidFill>
                  <a:srgbClr val="F5A623"/>
                </a:solidFill>
                <a:latin typeface="Georgia" pitchFamily="34" charset="0"/>
                <a:ea typeface="Georgia" pitchFamily="34" charset="-122"/>
                <a:cs typeface="Georgia" pitchFamily="34" charset="-120"/>
              </a:rPr>
              <a:t>...as astrology is to astronomy.</a:t>
            </a:r>
            <a:endParaRPr lang="en-US" sz="2200" dirty="0"/>
          </a:p>
        </p:txBody>
      </p:sp>
      <p:sp>
        <p:nvSpPr>
          <p:cNvPr id="6" name="Text 4"/>
          <p:cNvSpPr/>
          <p:nvPr/>
        </p:nvSpPr>
        <p:spPr>
          <a:xfrm>
            <a:off x="457200" y="2286000"/>
            <a:ext cx="8229600" cy="32004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 SuperfastMatt</a:t>
            </a:r>
            <a:endParaRPr lang="en-US" sz="1300" dirty="0"/>
          </a:p>
        </p:txBody>
      </p:sp>
      <p:sp>
        <p:nvSpPr>
          <p:cNvPr id="7" name="Shape 5"/>
          <p:cNvSpPr/>
          <p:nvPr/>
        </p:nvSpPr>
        <p:spPr>
          <a:xfrm>
            <a:off x="365760" y="2743200"/>
            <a:ext cx="3840480" cy="1737360"/>
          </a:xfrm>
          <a:prstGeom prst="rect">
            <a:avLst/>
          </a:prstGeom>
          <a:solidFill>
            <a:srgbClr val="2D0A0A"/>
          </a:solidFill>
          <a:ln w="12700">
            <a:solidFill>
              <a:srgbClr val="2D0A0A"/>
            </a:solidFill>
            <a:prstDash val="solid"/>
          </a:ln>
          <a:effectLst>
            <a:outerShdw sx="100000" sy="100000" kx="0" ky="0" algn="bl" rotWithShape="0" blurRad="101600" dist="25400" dir="8100000">
              <a:srgbClr val="000000">
                <a:alpha val="10000"/>
              </a:srgbClr>
            </a:outerShdw>
          </a:effectLst>
        </p:spPr>
      </p:sp>
      <p:sp>
        <p:nvSpPr>
          <p:cNvPr id="8" name="Text 6"/>
          <p:cNvSpPr/>
          <p:nvPr/>
        </p:nvSpPr>
        <p:spPr>
          <a:xfrm>
            <a:off x="457200" y="2834640"/>
            <a:ext cx="3657600" cy="411480"/>
          </a:xfrm>
          <a:prstGeom prst="rect">
            <a:avLst/>
          </a:prstGeom>
          <a:noFill/>
          <a:ln/>
        </p:spPr>
        <p:txBody>
          <a:bodyPr wrap="square" rtlCol="0" anchor="ctr"/>
          <a:lstStyle/>
          <a:p>
            <a:pPr algn="ctr" indent="0" marL="0">
              <a:buNone/>
            </a:pPr>
            <a:r>
              <a:rPr lang="en-US" sz="1600" dirty="0">
                <a:solidFill>
                  <a:srgbClr val="E63946"/>
                </a:solidFill>
                <a:latin typeface="Arial Black" pitchFamily="34" charset="0"/>
                <a:ea typeface="Arial Black" pitchFamily="34" charset="-122"/>
                <a:cs typeface="Arial Black" pitchFamily="34" charset="-120"/>
              </a:rPr>
              <a:t>Astrology</a:t>
            </a:r>
            <a:endParaRPr lang="en-US" sz="1600" dirty="0"/>
          </a:p>
        </p:txBody>
      </p:sp>
      <p:sp>
        <p:nvSpPr>
          <p:cNvPr id="9" name="Text 7"/>
          <p:cNvSpPr/>
          <p:nvPr/>
        </p:nvSpPr>
        <p:spPr>
          <a:xfrm>
            <a:off x="502920" y="3291840"/>
            <a:ext cx="3566160" cy="10972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Looks like science</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Uses made-up patterns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No predictive rigor</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Feels right, might be wrong</a:t>
            </a:r>
            <a:endParaRPr lang="en-US" sz="1300" dirty="0"/>
          </a:p>
        </p:txBody>
      </p:sp>
      <p:sp>
        <p:nvSpPr>
          <p:cNvPr id="10" name="Shape 8"/>
          <p:cNvSpPr/>
          <p:nvPr/>
        </p:nvSpPr>
        <p:spPr>
          <a:xfrm>
            <a:off x="4937760" y="2743200"/>
            <a:ext cx="3840480" cy="1737360"/>
          </a:xfrm>
          <a:prstGeom prst="rect">
            <a:avLst/>
          </a:prstGeom>
          <a:solidFill>
            <a:srgbClr val="0A1A2A"/>
          </a:solidFill>
          <a:ln w="12700">
            <a:solidFill>
              <a:srgbClr val="0A1A2A"/>
            </a:solidFill>
            <a:prstDash val="solid"/>
          </a:ln>
          <a:effectLst>
            <a:outerShdw sx="100000" sy="100000" kx="0" ky="0" algn="bl" rotWithShape="0" blurRad="101600" dist="25400" dir="8100000">
              <a:srgbClr val="000000">
                <a:alpha val="10000"/>
              </a:srgbClr>
            </a:outerShdw>
          </a:effectLst>
        </p:spPr>
      </p:sp>
      <p:sp>
        <p:nvSpPr>
          <p:cNvPr id="11" name="Text 9"/>
          <p:cNvSpPr/>
          <p:nvPr/>
        </p:nvSpPr>
        <p:spPr>
          <a:xfrm>
            <a:off x="5029200" y="2834640"/>
            <a:ext cx="3657600" cy="411480"/>
          </a:xfrm>
          <a:prstGeom prst="rect">
            <a:avLst/>
          </a:prstGeom>
          <a:noFill/>
          <a:ln/>
        </p:spPr>
        <p:txBody>
          <a:bodyPr wrap="square" rtlCol="0" anchor="ctr"/>
          <a:lstStyle/>
          <a:p>
            <a:pPr algn="ctr" indent="0" marL="0">
              <a:buNone/>
            </a:pPr>
            <a:r>
              <a:rPr lang="en-US" sz="1600" dirty="0">
                <a:solidFill>
                  <a:srgbClr val="1B6FD8"/>
                </a:solidFill>
                <a:latin typeface="Arial Black" pitchFamily="34" charset="0"/>
                <a:ea typeface="Arial Black" pitchFamily="34" charset="-122"/>
                <a:cs typeface="Arial Black" pitchFamily="34" charset="-120"/>
              </a:rPr>
              <a:t>Astronomy</a:t>
            </a:r>
            <a:endParaRPr lang="en-US" sz="1600" dirty="0"/>
          </a:p>
        </p:txBody>
      </p:sp>
      <p:sp>
        <p:nvSpPr>
          <p:cNvPr id="12" name="Text 10"/>
          <p:cNvSpPr/>
          <p:nvPr/>
        </p:nvSpPr>
        <p:spPr>
          <a:xfrm>
            <a:off x="5074920" y="3291840"/>
            <a:ext cx="3566160" cy="10972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real deal</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Testable hypotheses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Measured, verified</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Predictable results</a:t>
            </a:r>
            <a:endParaRPr lang="en-US" sz="1300" dirty="0"/>
          </a:p>
        </p:txBody>
      </p:sp>
      <p:sp>
        <p:nvSpPr>
          <p:cNvPr id="13" name="Text 11"/>
          <p:cNvSpPr/>
          <p:nvPr/>
        </p:nvSpPr>
        <p:spPr>
          <a:xfrm>
            <a:off x="457200" y="4663440"/>
            <a:ext cx="8229600" cy="365760"/>
          </a:xfrm>
          <a:prstGeom prst="rect">
            <a:avLst/>
          </a:prstGeom>
          <a:noFill/>
          <a:ln/>
        </p:spPr>
        <p:txBody>
          <a:bodyPr wrap="square" rtlCol="0" anchor="ctr"/>
          <a:lstStyle/>
          <a:p>
            <a:pPr algn="ctr" indent="0" marL="0">
              <a:buNone/>
            </a:pPr>
            <a:r>
              <a:rPr lang="en-US" sz="1200" i="1" dirty="0">
                <a:solidFill>
                  <a:srgbClr val="94A3B8"/>
                </a:solidFill>
                <a:latin typeface="Calibri" pitchFamily="34" charset="0"/>
                <a:ea typeface="Calibri" pitchFamily="34" charset="-122"/>
                <a:cs typeface="Calibri" pitchFamily="34" charset="-120"/>
              </a:rPr>
              <a:t>Punk rock engineering isn't fake — but your intuition must be earned through experience.</a:t>
            </a:r>
            <a:endParaRPr lang="en-US" sz="1200" dirty="0"/>
          </a:p>
        </p:txBody>
      </p:sp>
      <p:sp>
        <p:nvSpPr>
          <p:cNvPr id="14" name="Text 12"/>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5A623"/>
          </a:solidFill>
          <a:ln w="12700">
            <a:solidFill>
              <a:srgbClr val="F5A623"/>
            </a:solidFill>
            <a:prstDash val="solid"/>
          </a:ln>
        </p:spPr>
      </p:sp>
      <p:sp>
        <p:nvSpPr>
          <p:cNvPr id="3" name="Text 1"/>
          <p:cNvSpPr/>
          <p:nvPr/>
        </p:nvSpPr>
        <p:spPr>
          <a:xfrm>
            <a:off x="457200" y="228600"/>
            <a:ext cx="8229600" cy="731520"/>
          </a:xfrm>
          <a:prstGeom prst="rect">
            <a:avLst/>
          </a:prstGeom>
          <a:noFill/>
          <a:ln/>
        </p:spPr>
        <p:txBody>
          <a:bodyPr wrap="square" rtlCol="0" anchor="ctr"/>
          <a:lstStyle/>
          <a:p>
            <a:pPr indent="0" marL="0">
              <a:buNone/>
            </a:pPr>
            <a:r>
              <a:rPr lang="en-US" sz="3000" b="1" dirty="0">
                <a:solidFill>
                  <a:srgbClr val="0D1B2A"/>
                </a:solidFill>
                <a:latin typeface="Arial Black" pitchFamily="34" charset="0"/>
                <a:ea typeface="Arial Black" pitchFamily="34" charset="-122"/>
                <a:cs typeface="Arial Black" pitchFamily="34" charset="-120"/>
              </a:rPr>
              <a:t>Side by Side: Two Approaches</a:t>
            </a:r>
            <a:endParaRPr lang="en-US" sz="3000" dirty="0"/>
          </a:p>
        </p:txBody>
      </p:sp>
      <p:sp>
        <p:nvSpPr>
          <p:cNvPr id="4" name="Shape 2"/>
          <p:cNvSpPr/>
          <p:nvPr/>
        </p:nvSpPr>
        <p:spPr>
          <a:xfrm>
            <a:off x="228600" y="960120"/>
            <a:ext cx="1828800" cy="438912"/>
          </a:xfrm>
          <a:prstGeom prst="rect">
            <a:avLst/>
          </a:prstGeom>
          <a:solidFill>
            <a:srgbClr val="0D1B2A"/>
          </a:solidFill>
          <a:ln w="6350">
            <a:solidFill>
              <a:srgbClr val="D1D9E0"/>
            </a:solidFill>
            <a:prstDash val="solid"/>
          </a:ln>
        </p:spPr>
      </p:sp>
      <p:sp>
        <p:nvSpPr>
          <p:cNvPr id="5" name="Text 3"/>
          <p:cNvSpPr/>
          <p:nvPr/>
        </p:nvSpPr>
        <p:spPr>
          <a:xfrm>
            <a:off x="301752" y="960120"/>
            <a:ext cx="1737360" cy="438912"/>
          </a:xfrm>
          <a:prstGeom prst="rect">
            <a:avLst/>
          </a:prstGeom>
          <a:noFill/>
          <a:ln/>
        </p:spPr>
        <p:txBody>
          <a:bodyPr wrap="square"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Category</a:t>
            </a:r>
            <a:endParaRPr lang="en-US" sz="1100" dirty="0"/>
          </a:p>
        </p:txBody>
      </p:sp>
      <p:sp>
        <p:nvSpPr>
          <p:cNvPr id="6" name="Shape 4"/>
          <p:cNvSpPr/>
          <p:nvPr/>
        </p:nvSpPr>
        <p:spPr>
          <a:xfrm>
            <a:off x="2240280" y="960120"/>
            <a:ext cx="3200400" cy="438912"/>
          </a:xfrm>
          <a:prstGeom prst="rect">
            <a:avLst/>
          </a:prstGeom>
          <a:solidFill>
            <a:srgbClr val="0D1B2A"/>
          </a:solidFill>
          <a:ln w="6350">
            <a:solidFill>
              <a:srgbClr val="D1D9E0"/>
            </a:solidFill>
            <a:prstDash val="solid"/>
          </a:ln>
        </p:spPr>
      </p:sp>
      <p:sp>
        <p:nvSpPr>
          <p:cNvPr id="7" name="Text 5"/>
          <p:cNvSpPr/>
          <p:nvPr/>
        </p:nvSpPr>
        <p:spPr>
          <a:xfrm>
            <a:off x="2313432" y="960120"/>
            <a:ext cx="3108960" cy="438912"/>
          </a:xfrm>
          <a:prstGeom prst="rect">
            <a:avLst/>
          </a:prstGeom>
          <a:noFill/>
          <a:ln/>
        </p:spPr>
        <p:txBody>
          <a:bodyPr wrap="square"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Traditional Engineering</a:t>
            </a:r>
            <a:endParaRPr lang="en-US" sz="1100" dirty="0"/>
          </a:p>
        </p:txBody>
      </p:sp>
      <p:sp>
        <p:nvSpPr>
          <p:cNvPr id="8" name="Shape 6"/>
          <p:cNvSpPr/>
          <p:nvPr/>
        </p:nvSpPr>
        <p:spPr>
          <a:xfrm>
            <a:off x="5623560" y="960120"/>
            <a:ext cx="3200400" cy="438912"/>
          </a:xfrm>
          <a:prstGeom prst="rect">
            <a:avLst/>
          </a:prstGeom>
          <a:solidFill>
            <a:srgbClr val="0D1B2A"/>
          </a:solidFill>
          <a:ln w="6350">
            <a:solidFill>
              <a:srgbClr val="D1D9E0"/>
            </a:solidFill>
            <a:prstDash val="solid"/>
          </a:ln>
        </p:spPr>
      </p:sp>
      <p:sp>
        <p:nvSpPr>
          <p:cNvPr id="9" name="Text 7"/>
          <p:cNvSpPr/>
          <p:nvPr/>
        </p:nvSpPr>
        <p:spPr>
          <a:xfrm>
            <a:off x="5696712" y="960120"/>
            <a:ext cx="3108960" cy="438912"/>
          </a:xfrm>
          <a:prstGeom prst="rect">
            <a:avLst/>
          </a:prstGeom>
          <a:noFill/>
          <a:ln/>
        </p:spPr>
        <p:txBody>
          <a:bodyPr wrap="square"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Punk Rock Engineering</a:t>
            </a:r>
            <a:endParaRPr lang="en-US" sz="1100" dirty="0"/>
          </a:p>
        </p:txBody>
      </p:sp>
      <p:sp>
        <p:nvSpPr>
          <p:cNvPr id="10" name="Shape 8"/>
          <p:cNvSpPr/>
          <p:nvPr/>
        </p:nvSpPr>
        <p:spPr>
          <a:xfrm>
            <a:off x="228600" y="1399032"/>
            <a:ext cx="1828800" cy="438912"/>
          </a:xfrm>
          <a:prstGeom prst="rect">
            <a:avLst/>
          </a:prstGeom>
          <a:solidFill>
            <a:srgbClr val="E8EDF3"/>
          </a:solidFill>
          <a:ln w="6350">
            <a:solidFill>
              <a:srgbClr val="D1D9E0"/>
            </a:solidFill>
            <a:prstDash val="solid"/>
          </a:ln>
        </p:spPr>
      </p:sp>
      <p:sp>
        <p:nvSpPr>
          <p:cNvPr id="11" name="Text 9"/>
          <p:cNvSpPr/>
          <p:nvPr/>
        </p:nvSpPr>
        <p:spPr>
          <a:xfrm>
            <a:off x="301752" y="1399032"/>
            <a:ext cx="1737360" cy="438912"/>
          </a:xfrm>
          <a:prstGeom prst="rect">
            <a:avLst/>
          </a:prstGeom>
          <a:noFill/>
          <a:ln/>
        </p:spPr>
        <p:txBody>
          <a:bodyPr wrap="square" rtlCol="0" anchor="ctr"/>
          <a:lstStyle/>
          <a:p>
            <a:pPr indent="0" marL="0">
              <a:buNone/>
            </a:pPr>
            <a:r>
              <a:rPr lang="en-US" sz="1200" b="1" dirty="0">
                <a:solidFill>
                  <a:srgbClr val="0D1B2A"/>
                </a:solidFill>
                <a:latin typeface="Arial Black" pitchFamily="34" charset="0"/>
                <a:ea typeface="Arial Black" pitchFamily="34" charset="-122"/>
                <a:cs typeface="Arial Black" pitchFamily="34" charset="-120"/>
              </a:rPr>
              <a:t>Starting point</a:t>
            </a:r>
            <a:endParaRPr lang="en-US" sz="1200" dirty="0"/>
          </a:p>
        </p:txBody>
      </p:sp>
      <p:sp>
        <p:nvSpPr>
          <p:cNvPr id="12" name="Shape 10"/>
          <p:cNvSpPr/>
          <p:nvPr/>
        </p:nvSpPr>
        <p:spPr>
          <a:xfrm>
            <a:off x="2240280" y="1399032"/>
            <a:ext cx="3200400" cy="438912"/>
          </a:xfrm>
          <a:prstGeom prst="rect">
            <a:avLst/>
          </a:prstGeom>
          <a:solidFill>
            <a:srgbClr val="FFFFFF"/>
          </a:solidFill>
          <a:ln w="6350">
            <a:solidFill>
              <a:srgbClr val="D1D9E0"/>
            </a:solidFill>
            <a:prstDash val="solid"/>
          </a:ln>
        </p:spPr>
      </p:sp>
      <p:sp>
        <p:nvSpPr>
          <p:cNvPr id="13" name="Text 11"/>
          <p:cNvSpPr/>
          <p:nvPr/>
        </p:nvSpPr>
        <p:spPr>
          <a:xfrm>
            <a:off x="2313432" y="1399032"/>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Clear requirements + specs</a:t>
            </a:r>
            <a:endParaRPr lang="en-US" sz="1200" dirty="0"/>
          </a:p>
        </p:txBody>
      </p:sp>
      <p:sp>
        <p:nvSpPr>
          <p:cNvPr id="14" name="Shape 12"/>
          <p:cNvSpPr/>
          <p:nvPr/>
        </p:nvSpPr>
        <p:spPr>
          <a:xfrm>
            <a:off x="5623560" y="1399032"/>
            <a:ext cx="3200400" cy="438912"/>
          </a:xfrm>
          <a:prstGeom prst="rect">
            <a:avLst/>
          </a:prstGeom>
          <a:solidFill>
            <a:srgbClr val="FFFFFF"/>
          </a:solidFill>
          <a:ln w="6350">
            <a:solidFill>
              <a:srgbClr val="D1D9E0"/>
            </a:solidFill>
            <a:prstDash val="solid"/>
          </a:ln>
        </p:spPr>
      </p:sp>
      <p:sp>
        <p:nvSpPr>
          <p:cNvPr id="15" name="Text 13"/>
          <p:cNvSpPr/>
          <p:nvPr/>
        </p:nvSpPr>
        <p:spPr>
          <a:xfrm>
            <a:off x="5696712" y="1399032"/>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Gut feeling + rough idea</a:t>
            </a:r>
            <a:endParaRPr lang="en-US" sz="1200" dirty="0"/>
          </a:p>
        </p:txBody>
      </p:sp>
      <p:sp>
        <p:nvSpPr>
          <p:cNvPr id="16" name="Shape 14"/>
          <p:cNvSpPr/>
          <p:nvPr/>
        </p:nvSpPr>
        <p:spPr>
          <a:xfrm>
            <a:off x="5559552" y="1545336"/>
            <a:ext cx="118872" cy="118872"/>
          </a:xfrm>
          <a:prstGeom prst="ellipse">
            <a:avLst/>
          </a:prstGeom>
          <a:solidFill>
            <a:srgbClr val="F5A623"/>
          </a:solidFill>
          <a:ln w="12700">
            <a:solidFill>
              <a:srgbClr val="F5A623"/>
            </a:solidFill>
            <a:prstDash val="solid"/>
          </a:ln>
        </p:spPr>
      </p:sp>
      <p:sp>
        <p:nvSpPr>
          <p:cNvPr id="17" name="Shape 15"/>
          <p:cNvSpPr/>
          <p:nvPr/>
        </p:nvSpPr>
        <p:spPr>
          <a:xfrm>
            <a:off x="2176272" y="1545336"/>
            <a:ext cx="118872" cy="118872"/>
          </a:xfrm>
          <a:prstGeom prst="ellipse">
            <a:avLst/>
          </a:prstGeom>
          <a:solidFill>
            <a:srgbClr val="1B6FD8"/>
          </a:solidFill>
          <a:ln w="12700">
            <a:solidFill>
              <a:srgbClr val="1B6FD8"/>
            </a:solidFill>
            <a:prstDash val="solid"/>
          </a:ln>
        </p:spPr>
      </p:sp>
      <p:sp>
        <p:nvSpPr>
          <p:cNvPr id="18" name="Shape 16"/>
          <p:cNvSpPr/>
          <p:nvPr/>
        </p:nvSpPr>
        <p:spPr>
          <a:xfrm>
            <a:off x="228600" y="1837944"/>
            <a:ext cx="1828800" cy="438912"/>
          </a:xfrm>
          <a:prstGeom prst="rect">
            <a:avLst/>
          </a:prstGeom>
          <a:solidFill>
            <a:srgbClr val="E8EDF3"/>
          </a:solidFill>
          <a:ln w="6350">
            <a:solidFill>
              <a:srgbClr val="D1D9E0"/>
            </a:solidFill>
            <a:prstDash val="solid"/>
          </a:ln>
        </p:spPr>
      </p:sp>
      <p:sp>
        <p:nvSpPr>
          <p:cNvPr id="19" name="Text 17"/>
          <p:cNvSpPr/>
          <p:nvPr/>
        </p:nvSpPr>
        <p:spPr>
          <a:xfrm>
            <a:off x="301752" y="1837944"/>
            <a:ext cx="1737360" cy="438912"/>
          </a:xfrm>
          <a:prstGeom prst="rect">
            <a:avLst/>
          </a:prstGeom>
          <a:noFill/>
          <a:ln/>
        </p:spPr>
        <p:txBody>
          <a:bodyPr wrap="square" rtlCol="0" anchor="ctr"/>
          <a:lstStyle/>
          <a:p>
            <a:pPr indent="0" marL="0">
              <a:buNone/>
            </a:pPr>
            <a:r>
              <a:rPr lang="en-US" sz="1200" b="1" dirty="0">
                <a:solidFill>
                  <a:srgbClr val="0D1B2A"/>
                </a:solidFill>
                <a:latin typeface="Arial Black" pitchFamily="34" charset="0"/>
                <a:ea typeface="Arial Black" pitchFamily="34" charset="-122"/>
                <a:cs typeface="Arial Black" pitchFamily="34" charset="-120"/>
              </a:rPr>
              <a:t>First action</a:t>
            </a:r>
            <a:endParaRPr lang="en-US" sz="1200" dirty="0"/>
          </a:p>
        </p:txBody>
      </p:sp>
      <p:sp>
        <p:nvSpPr>
          <p:cNvPr id="20" name="Shape 18"/>
          <p:cNvSpPr/>
          <p:nvPr/>
        </p:nvSpPr>
        <p:spPr>
          <a:xfrm>
            <a:off x="2240280" y="1837944"/>
            <a:ext cx="3200400" cy="438912"/>
          </a:xfrm>
          <a:prstGeom prst="rect">
            <a:avLst/>
          </a:prstGeom>
          <a:solidFill>
            <a:srgbClr val="F8F9FA"/>
          </a:solidFill>
          <a:ln w="6350">
            <a:solidFill>
              <a:srgbClr val="D1D9E0"/>
            </a:solidFill>
            <a:prstDash val="solid"/>
          </a:ln>
        </p:spPr>
      </p:sp>
      <p:sp>
        <p:nvSpPr>
          <p:cNvPr id="21" name="Text 19"/>
          <p:cNvSpPr/>
          <p:nvPr/>
        </p:nvSpPr>
        <p:spPr>
          <a:xfrm>
            <a:off x="2313432" y="1837944"/>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Research &amp; calculate</a:t>
            </a:r>
            <a:endParaRPr lang="en-US" sz="1200" dirty="0"/>
          </a:p>
        </p:txBody>
      </p:sp>
      <p:sp>
        <p:nvSpPr>
          <p:cNvPr id="22" name="Shape 20"/>
          <p:cNvSpPr/>
          <p:nvPr/>
        </p:nvSpPr>
        <p:spPr>
          <a:xfrm>
            <a:off x="5623560" y="1837944"/>
            <a:ext cx="3200400" cy="438912"/>
          </a:xfrm>
          <a:prstGeom prst="rect">
            <a:avLst/>
          </a:prstGeom>
          <a:solidFill>
            <a:srgbClr val="F8F9FA"/>
          </a:solidFill>
          <a:ln w="6350">
            <a:solidFill>
              <a:srgbClr val="D1D9E0"/>
            </a:solidFill>
            <a:prstDash val="solid"/>
          </a:ln>
        </p:spPr>
      </p:sp>
      <p:sp>
        <p:nvSpPr>
          <p:cNvPr id="23" name="Text 21"/>
          <p:cNvSpPr/>
          <p:nvPr/>
        </p:nvSpPr>
        <p:spPr>
          <a:xfrm>
            <a:off x="5696712" y="1837944"/>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Build something</a:t>
            </a:r>
            <a:endParaRPr lang="en-US" sz="1200" dirty="0"/>
          </a:p>
        </p:txBody>
      </p:sp>
      <p:sp>
        <p:nvSpPr>
          <p:cNvPr id="24" name="Shape 22"/>
          <p:cNvSpPr/>
          <p:nvPr/>
        </p:nvSpPr>
        <p:spPr>
          <a:xfrm>
            <a:off x="5559552" y="1984248"/>
            <a:ext cx="118872" cy="118872"/>
          </a:xfrm>
          <a:prstGeom prst="ellipse">
            <a:avLst/>
          </a:prstGeom>
          <a:solidFill>
            <a:srgbClr val="F5A623"/>
          </a:solidFill>
          <a:ln w="12700">
            <a:solidFill>
              <a:srgbClr val="F5A623"/>
            </a:solidFill>
            <a:prstDash val="solid"/>
          </a:ln>
        </p:spPr>
      </p:sp>
      <p:sp>
        <p:nvSpPr>
          <p:cNvPr id="25" name="Shape 23"/>
          <p:cNvSpPr/>
          <p:nvPr/>
        </p:nvSpPr>
        <p:spPr>
          <a:xfrm>
            <a:off x="2176272" y="1984248"/>
            <a:ext cx="118872" cy="118872"/>
          </a:xfrm>
          <a:prstGeom prst="ellipse">
            <a:avLst/>
          </a:prstGeom>
          <a:solidFill>
            <a:srgbClr val="1B6FD8"/>
          </a:solidFill>
          <a:ln w="12700">
            <a:solidFill>
              <a:srgbClr val="1B6FD8"/>
            </a:solidFill>
            <a:prstDash val="solid"/>
          </a:ln>
        </p:spPr>
      </p:sp>
      <p:sp>
        <p:nvSpPr>
          <p:cNvPr id="26" name="Shape 24"/>
          <p:cNvSpPr/>
          <p:nvPr/>
        </p:nvSpPr>
        <p:spPr>
          <a:xfrm>
            <a:off x="228600" y="2276856"/>
            <a:ext cx="1828800" cy="438912"/>
          </a:xfrm>
          <a:prstGeom prst="rect">
            <a:avLst/>
          </a:prstGeom>
          <a:solidFill>
            <a:srgbClr val="E8EDF3"/>
          </a:solidFill>
          <a:ln w="6350">
            <a:solidFill>
              <a:srgbClr val="D1D9E0"/>
            </a:solidFill>
            <a:prstDash val="solid"/>
          </a:ln>
        </p:spPr>
      </p:sp>
      <p:sp>
        <p:nvSpPr>
          <p:cNvPr id="27" name="Text 25"/>
          <p:cNvSpPr/>
          <p:nvPr/>
        </p:nvSpPr>
        <p:spPr>
          <a:xfrm>
            <a:off x="301752" y="2276856"/>
            <a:ext cx="1737360" cy="438912"/>
          </a:xfrm>
          <a:prstGeom prst="rect">
            <a:avLst/>
          </a:prstGeom>
          <a:noFill/>
          <a:ln/>
        </p:spPr>
        <p:txBody>
          <a:bodyPr wrap="square" rtlCol="0" anchor="ctr"/>
          <a:lstStyle/>
          <a:p>
            <a:pPr indent="0" marL="0">
              <a:buNone/>
            </a:pPr>
            <a:r>
              <a:rPr lang="en-US" sz="1200" b="1" dirty="0">
                <a:solidFill>
                  <a:srgbClr val="0D1B2A"/>
                </a:solidFill>
                <a:latin typeface="Arial Black" pitchFamily="34" charset="0"/>
                <a:ea typeface="Arial Black" pitchFamily="34" charset="-122"/>
                <a:cs typeface="Arial Black" pitchFamily="34" charset="-120"/>
              </a:rPr>
              <a:t>Learning style</a:t>
            </a:r>
            <a:endParaRPr lang="en-US" sz="1200" dirty="0"/>
          </a:p>
        </p:txBody>
      </p:sp>
      <p:sp>
        <p:nvSpPr>
          <p:cNvPr id="28" name="Shape 26"/>
          <p:cNvSpPr/>
          <p:nvPr/>
        </p:nvSpPr>
        <p:spPr>
          <a:xfrm>
            <a:off x="2240280" y="2276856"/>
            <a:ext cx="3200400" cy="438912"/>
          </a:xfrm>
          <a:prstGeom prst="rect">
            <a:avLst/>
          </a:prstGeom>
          <a:solidFill>
            <a:srgbClr val="FFFFFF"/>
          </a:solidFill>
          <a:ln w="6350">
            <a:solidFill>
              <a:srgbClr val="D1D9E0"/>
            </a:solidFill>
            <a:prstDash val="solid"/>
          </a:ln>
        </p:spPr>
      </p:sp>
      <p:sp>
        <p:nvSpPr>
          <p:cNvPr id="29" name="Text 27"/>
          <p:cNvSpPr/>
          <p:nvPr/>
        </p:nvSpPr>
        <p:spPr>
          <a:xfrm>
            <a:off x="2313432" y="2276856"/>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Simulate before building</a:t>
            </a:r>
            <a:endParaRPr lang="en-US" sz="1200" dirty="0"/>
          </a:p>
        </p:txBody>
      </p:sp>
      <p:sp>
        <p:nvSpPr>
          <p:cNvPr id="30" name="Shape 28"/>
          <p:cNvSpPr/>
          <p:nvPr/>
        </p:nvSpPr>
        <p:spPr>
          <a:xfrm>
            <a:off x="5623560" y="2276856"/>
            <a:ext cx="3200400" cy="438912"/>
          </a:xfrm>
          <a:prstGeom prst="rect">
            <a:avLst/>
          </a:prstGeom>
          <a:solidFill>
            <a:srgbClr val="FFFFFF"/>
          </a:solidFill>
          <a:ln w="6350">
            <a:solidFill>
              <a:srgbClr val="D1D9E0"/>
            </a:solidFill>
            <a:prstDash val="solid"/>
          </a:ln>
        </p:spPr>
      </p:sp>
      <p:sp>
        <p:nvSpPr>
          <p:cNvPr id="31" name="Text 29"/>
          <p:cNvSpPr/>
          <p:nvPr/>
        </p:nvSpPr>
        <p:spPr>
          <a:xfrm>
            <a:off x="5696712" y="2276856"/>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Build to find out</a:t>
            </a:r>
            <a:endParaRPr lang="en-US" sz="1200" dirty="0"/>
          </a:p>
        </p:txBody>
      </p:sp>
      <p:sp>
        <p:nvSpPr>
          <p:cNvPr id="32" name="Shape 30"/>
          <p:cNvSpPr/>
          <p:nvPr/>
        </p:nvSpPr>
        <p:spPr>
          <a:xfrm>
            <a:off x="5559552" y="2423160"/>
            <a:ext cx="118872" cy="118872"/>
          </a:xfrm>
          <a:prstGeom prst="ellipse">
            <a:avLst/>
          </a:prstGeom>
          <a:solidFill>
            <a:srgbClr val="F5A623"/>
          </a:solidFill>
          <a:ln w="12700">
            <a:solidFill>
              <a:srgbClr val="F5A623"/>
            </a:solidFill>
            <a:prstDash val="solid"/>
          </a:ln>
        </p:spPr>
      </p:sp>
      <p:sp>
        <p:nvSpPr>
          <p:cNvPr id="33" name="Shape 31"/>
          <p:cNvSpPr/>
          <p:nvPr/>
        </p:nvSpPr>
        <p:spPr>
          <a:xfrm>
            <a:off x="2176272" y="2423160"/>
            <a:ext cx="118872" cy="118872"/>
          </a:xfrm>
          <a:prstGeom prst="ellipse">
            <a:avLst/>
          </a:prstGeom>
          <a:solidFill>
            <a:srgbClr val="1B6FD8"/>
          </a:solidFill>
          <a:ln w="12700">
            <a:solidFill>
              <a:srgbClr val="1B6FD8"/>
            </a:solidFill>
            <a:prstDash val="solid"/>
          </a:ln>
        </p:spPr>
      </p:sp>
      <p:sp>
        <p:nvSpPr>
          <p:cNvPr id="34" name="Shape 32"/>
          <p:cNvSpPr/>
          <p:nvPr/>
        </p:nvSpPr>
        <p:spPr>
          <a:xfrm>
            <a:off x="228600" y="2715768"/>
            <a:ext cx="1828800" cy="438912"/>
          </a:xfrm>
          <a:prstGeom prst="rect">
            <a:avLst/>
          </a:prstGeom>
          <a:solidFill>
            <a:srgbClr val="E8EDF3"/>
          </a:solidFill>
          <a:ln w="6350">
            <a:solidFill>
              <a:srgbClr val="D1D9E0"/>
            </a:solidFill>
            <a:prstDash val="solid"/>
          </a:ln>
        </p:spPr>
      </p:sp>
      <p:sp>
        <p:nvSpPr>
          <p:cNvPr id="35" name="Text 33"/>
          <p:cNvSpPr/>
          <p:nvPr/>
        </p:nvSpPr>
        <p:spPr>
          <a:xfrm>
            <a:off x="301752" y="2715768"/>
            <a:ext cx="1737360" cy="438912"/>
          </a:xfrm>
          <a:prstGeom prst="rect">
            <a:avLst/>
          </a:prstGeom>
          <a:noFill/>
          <a:ln/>
        </p:spPr>
        <p:txBody>
          <a:bodyPr wrap="square" rtlCol="0" anchor="ctr"/>
          <a:lstStyle/>
          <a:p>
            <a:pPr indent="0" marL="0">
              <a:buNone/>
            </a:pPr>
            <a:r>
              <a:rPr lang="en-US" sz="1200" b="1" dirty="0">
                <a:solidFill>
                  <a:srgbClr val="0D1B2A"/>
                </a:solidFill>
                <a:latin typeface="Arial Black" pitchFamily="34" charset="0"/>
                <a:ea typeface="Arial Black" pitchFamily="34" charset="-122"/>
                <a:cs typeface="Arial Black" pitchFamily="34" charset="-120"/>
              </a:rPr>
              <a:t>Risk tolerance</a:t>
            </a:r>
            <a:endParaRPr lang="en-US" sz="1200" dirty="0"/>
          </a:p>
        </p:txBody>
      </p:sp>
      <p:sp>
        <p:nvSpPr>
          <p:cNvPr id="36" name="Shape 34"/>
          <p:cNvSpPr/>
          <p:nvPr/>
        </p:nvSpPr>
        <p:spPr>
          <a:xfrm>
            <a:off x="2240280" y="2715768"/>
            <a:ext cx="3200400" cy="438912"/>
          </a:xfrm>
          <a:prstGeom prst="rect">
            <a:avLst/>
          </a:prstGeom>
          <a:solidFill>
            <a:srgbClr val="F8F9FA"/>
          </a:solidFill>
          <a:ln w="6350">
            <a:solidFill>
              <a:srgbClr val="D1D9E0"/>
            </a:solidFill>
            <a:prstDash val="solid"/>
          </a:ln>
        </p:spPr>
      </p:sp>
      <p:sp>
        <p:nvSpPr>
          <p:cNvPr id="37" name="Text 35"/>
          <p:cNvSpPr/>
          <p:nvPr/>
        </p:nvSpPr>
        <p:spPr>
          <a:xfrm>
            <a:off x="2313432" y="2715768"/>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Minimize failure</a:t>
            </a:r>
            <a:endParaRPr lang="en-US" sz="1200" dirty="0"/>
          </a:p>
        </p:txBody>
      </p:sp>
      <p:sp>
        <p:nvSpPr>
          <p:cNvPr id="38" name="Shape 36"/>
          <p:cNvSpPr/>
          <p:nvPr/>
        </p:nvSpPr>
        <p:spPr>
          <a:xfrm>
            <a:off x="5623560" y="2715768"/>
            <a:ext cx="3200400" cy="438912"/>
          </a:xfrm>
          <a:prstGeom prst="rect">
            <a:avLst/>
          </a:prstGeom>
          <a:solidFill>
            <a:srgbClr val="F8F9FA"/>
          </a:solidFill>
          <a:ln w="6350">
            <a:solidFill>
              <a:srgbClr val="D1D9E0"/>
            </a:solidFill>
            <a:prstDash val="solid"/>
          </a:ln>
        </p:spPr>
      </p:sp>
      <p:sp>
        <p:nvSpPr>
          <p:cNvPr id="39" name="Text 37"/>
          <p:cNvSpPr/>
          <p:nvPr/>
        </p:nvSpPr>
        <p:spPr>
          <a:xfrm>
            <a:off x="5696712" y="2715768"/>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Embrace failure early</a:t>
            </a:r>
            <a:endParaRPr lang="en-US" sz="1200" dirty="0"/>
          </a:p>
        </p:txBody>
      </p:sp>
      <p:sp>
        <p:nvSpPr>
          <p:cNvPr id="40" name="Shape 38"/>
          <p:cNvSpPr/>
          <p:nvPr/>
        </p:nvSpPr>
        <p:spPr>
          <a:xfrm>
            <a:off x="5559552" y="2862072"/>
            <a:ext cx="118872" cy="118872"/>
          </a:xfrm>
          <a:prstGeom prst="ellipse">
            <a:avLst/>
          </a:prstGeom>
          <a:solidFill>
            <a:srgbClr val="F5A623"/>
          </a:solidFill>
          <a:ln w="12700">
            <a:solidFill>
              <a:srgbClr val="F5A623"/>
            </a:solidFill>
            <a:prstDash val="solid"/>
          </a:ln>
        </p:spPr>
      </p:sp>
      <p:sp>
        <p:nvSpPr>
          <p:cNvPr id="41" name="Shape 39"/>
          <p:cNvSpPr/>
          <p:nvPr/>
        </p:nvSpPr>
        <p:spPr>
          <a:xfrm>
            <a:off x="2176272" y="2862072"/>
            <a:ext cx="118872" cy="118872"/>
          </a:xfrm>
          <a:prstGeom prst="ellipse">
            <a:avLst/>
          </a:prstGeom>
          <a:solidFill>
            <a:srgbClr val="1B6FD8"/>
          </a:solidFill>
          <a:ln w="12700">
            <a:solidFill>
              <a:srgbClr val="1B6FD8"/>
            </a:solidFill>
            <a:prstDash val="solid"/>
          </a:ln>
        </p:spPr>
      </p:sp>
      <p:sp>
        <p:nvSpPr>
          <p:cNvPr id="42" name="Shape 40"/>
          <p:cNvSpPr/>
          <p:nvPr/>
        </p:nvSpPr>
        <p:spPr>
          <a:xfrm>
            <a:off x="228600" y="3154680"/>
            <a:ext cx="1828800" cy="438912"/>
          </a:xfrm>
          <a:prstGeom prst="rect">
            <a:avLst/>
          </a:prstGeom>
          <a:solidFill>
            <a:srgbClr val="E8EDF3"/>
          </a:solidFill>
          <a:ln w="6350">
            <a:solidFill>
              <a:srgbClr val="D1D9E0"/>
            </a:solidFill>
            <a:prstDash val="solid"/>
          </a:ln>
        </p:spPr>
      </p:sp>
      <p:sp>
        <p:nvSpPr>
          <p:cNvPr id="43" name="Text 41"/>
          <p:cNvSpPr/>
          <p:nvPr/>
        </p:nvSpPr>
        <p:spPr>
          <a:xfrm>
            <a:off x="301752" y="3154680"/>
            <a:ext cx="1737360" cy="438912"/>
          </a:xfrm>
          <a:prstGeom prst="rect">
            <a:avLst/>
          </a:prstGeom>
          <a:noFill/>
          <a:ln/>
        </p:spPr>
        <p:txBody>
          <a:bodyPr wrap="square" rtlCol="0" anchor="ctr"/>
          <a:lstStyle/>
          <a:p>
            <a:pPr indent="0" marL="0">
              <a:buNone/>
            </a:pPr>
            <a:r>
              <a:rPr lang="en-US" sz="1200" b="1" dirty="0">
                <a:solidFill>
                  <a:srgbClr val="0D1B2A"/>
                </a:solidFill>
                <a:latin typeface="Arial Black" pitchFamily="34" charset="0"/>
                <a:ea typeface="Arial Black" pitchFamily="34" charset="-122"/>
                <a:cs typeface="Arial Black" pitchFamily="34" charset="-120"/>
              </a:rPr>
              <a:t>Iteration speed</a:t>
            </a:r>
            <a:endParaRPr lang="en-US" sz="1200" dirty="0"/>
          </a:p>
        </p:txBody>
      </p:sp>
      <p:sp>
        <p:nvSpPr>
          <p:cNvPr id="44" name="Shape 42"/>
          <p:cNvSpPr/>
          <p:nvPr/>
        </p:nvSpPr>
        <p:spPr>
          <a:xfrm>
            <a:off x="2240280" y="3154680"/>
            <a:ext cx="3200400" cy="438912"/>
          </a:xfrm>
          <a:prstGeom prst="rect">
            <a:avLst/>
          </a:prstGeom>
          <a:solidFill>
            <a:srgbClr val="FFFFFF"/>
          </a:solidFill>
          <a:ln w="6350">
            <a:solidFill>
              <a:srgbClr val="D1D9E0"/>
            </a:solidFill>
            <a:prstDash val="solid"/>
          </a:ln>
        </p:spPr>
      </p:sp>
      <p:sp>
        <p:nvSpPr>
          <p:cNvPr id="45" name="Text 43"/>
          <p:cNvSpPr/>
          <p:nvPr/>
        </p:nvSpPr>
        <p:spPr>
          <a:xfrm>
            <a:off x="2313432" y="3154680"/>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Slow &amp; deliberate</a:t>
            </a:r>
            <a:endParaRPr lang="en-US" sz="1200" dirty="0"/>
          </a:p>
        </p:txBody>
      </p:sp>
      <p:sp>
        <p:nvSpPr>
          <p:cNvPr id="46" name="Shape 44"/>
          <p:cNvSpPr/>
          <p:nvPr/>
        </p:nvSpPr>
        <p:spPr>
          <a:xfrm>
            <a:off x="5623560" y="3154680"/>
            <a:ext cx="3200400" cy="438912"/>
          </a:xfrm>
          <a:prstGeom prst="rect">
            <a:avLst/>
          </a:prstGeom>
          <a:solidFill>
            <a:srgbClr val="FFFFFF"/>
          </a:solidFill>
          <a:ln w="6350">
            <a:solidFill>
              <a:srgbClr val="D1D9E0"/>
            </a:solidFill>
            <a:prstDash val="solid"/>
          </a:ln>
        </p:spPr>
      </p:sp>
      <p:sp>
        <p:nvSpPr>
          <p:cNvPr id="47" name="Text 45"/>
          <p:cNvSpPr/>
          <p:nvPr/>
        </p:nvSpPr>
        <p:spPr>
          <a:xfrm>
            <a:off x="5696712" y="3154680"/>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Fast &amp; frequent</a:t>
            </a:r>
            <a:endParaRPr lang="en-US" sz="1200" dirty="0"/>
          </a:p>
        </p:txBody>
      </p:sp>
      <p:sp>
        <p:nvSpPr>
          <p:cNvPr id="48" name="Shape 46"/>
          <p:cNvSpPr/>
          <p:nvPr/>
        </p:nvSpPr>
        <p:spPr>
          <a:xfrm>
            <a:off x="5559552" y="3300984"/>
            <a:ext cx="118872" cy="118872"/>
          </a:xfrm>
          <a:prstGeom prst="ellipse">
            <a:avLst/>
          </a:prstGeom>
          <a:solidFill>
            <a:srgbClr val="F5A623"/>
          </a:solidFill>
          <a:ln w="12700">
            <a:solidFill>
              <a:srgbClr val="F5A623"/>
            </a:solidFill>
            <a:prstDash val="solid"/>
          </a:ln>
        </p:spPr>
      </p:sp>
      <p:sp>
        <p:nvSpPr>
          <p:cNvPr id="49" name="Shape 47"/>
          <p:cNvSpPr/>
          <p:nvPr/>
        </p:nvSpPr>
        <p:spPr>
          <a:xfrm>
            <a:off x="2176272" y="3300984"/>
            <a:ext cx="118872" cy="118872"/>
          </a:xfrm>
          <a:prstGeom prst="ellipse">
            <a:avLst/>
          </a:prstGeom>
          <a:solidFill>
            <a:srgbClr val="1B6FD8"/>
          </a:solidFill>
          <a:ln w="12700">
            <a:solidFill>
              <a:srgbClr val="1B6FD8"/>
            </a:solidFill>
            <a:prstDash val="solid"/>
          </a:ln>
        </p:spPr>
      </p:sp>
      <p:sp>
        <p:nvSpPr>
          <p:cNvPr id="50" name="Shape 48"/>
          <p:cNvSpPr/>
          <p:nvPr/>
        </p:nvSpPr>
        <p:spPr>
          <a:xfrm>
            <a:off x="228600" y="3593592"/>
            <a:ext cx="1828800" cy="438912"/>
          </a:xfrm>
          <a:prstGeom prst="rect">
            <a:avLst/>
          </a:prstGeom>
          <a:solidFill>
            <a:srgbClr val="E8EDF3"/>
          </a:solidFill>
          <a:ln w="6350">
            <a:solidFill>
              <a:srgbClr val="D1D9E0"/>
            </a:solidFill>
            <a:prstDash val="solid"/>
          </a:ln>
        </p:spPr>
      </p:sp>
      <p:sp>
        <p:nvSpPr>
          <p:cNvPr id="51" name="Text 49"/>
          <p:cNvSpPr/>
          <p:nvPr/>
        </p:nvSpPr>
        <p:spPr>
          <a:xfrm>
            <a:off x="301752" y="3593592"/>
            <a:ext cx="1737360" cy="438912"/>
          </a:xfrm>
          <a:prstGeom prst="rect">
            <a:avLst/>
          </a:prstGeom>
          <a:noFill/>
          <a:ln/>
        </p:spPr>
        <p:txBody>
          <a:bodyPr wrap="square" rtlCol="0" anchor="ctr"/>
          <a:lstStyle/>
          <a:p>
            <a:pPr indent="0" marL="0">
              <a:buNone/>
            </a:pPr>
            <a:r>
              <a:rPr lang="en-US" sz="1200" b="1" dirty="0">
                <a:solidFill>
                  <a:srgbClr val="0D1B2A"/>
                </a:solidFill>
                <a:latin typeface="Arial Black" pitchFamily="34" charset="0"/>
                <a:ea typeface="Arial Black" pitchFamily="34" charset="-122"/>
                <a:cs typeface="Arial Black" pitchFamily="34" charset="-120"/>
              </a:rPr>
              <a:t>Requires</a:t>
            </a:r>
            <a:endParaRPr lang="en-US" sz="1200" dirty="0"/>
          </a:p>
        </p:txBody>
      </p:sp>
      <p:sp>
        <p:nvSpPr>
          <p:cNvPr id="52" name="Shape 50"/>
          <p:cNvSpPr/>
          <p:nvPr/>
        </p:nvSpPr>
        <p:spPr>
          <a:xfrm>
            <a:off x="2240280" y="3593592"/>
            <a:ext cx="3200400" cy="438912"/>
          </a:xfrm>
          <a:prstGeom prst="rect">
            <a:avLst/>
          </a:prstGeom>
          <a:solidFill>
            <a:srgbClr val="F8F9FA"/>
          </a:solidFill>
          <a:ln w="6350">
            <a:solidFill>
              <a:srgbClr val="D1D9E0"/>
            </a:solidFill>
            <a:prstDash val="solid"/>
          </a:ln>
        </p:spPr>
      </p:sp>
      <p:sp>
        <p:nvSpPr>
          <p:cNvPr id="53" name="Text 51"/>
          <p:cNvSpPr/>
          <p:nvPr/>
        </p:nvSpPr>
        <p:spPr>
          <a:xfrm>
            <a:off x="2313432" y="3593592"/>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Specs, time, discipline</a:t>
            </a:r>
            <a:endParaRPr lang="en-US" sz="1200" dirty="0"/>
          </a:p>
        </p:txBody>
      </p:sp>
      <p:sp>
        <p:nvSpPr>
          <p:cNvPr id="54" name="Shape 52"/>
          <p:cNvSpPr/>
          <p:nvPr/>
        </p:nvSpPr>
        <p:spPr>
          <a:xfrm>
            <a:off x="5623560" y="3593592"/>
            <a:ext cx="3200400" cy="438912"/>
          </a:xfrm>
          <a:prstGeom prst="rect">
            <a:avLst/>
          </a:prstGeom>
          <a:solidFill>
            <a:srgbClr val="F8F9FA"/>
          </a:solidFill>
          <a:ln w="6350">
            <a:solidFill>
              <a:srgbClr val="D1D9E0"/>
            </a:solidFill>
            <a:prstDash val="solid"/>
          </a:ln>
        </p:spPr>
      </p:sp>
      <p:sp>
        <p:nvSpPr>
          <p:cNvPr id="55" name="Text 53"/>
          <p:cNvSpPr/>
          <p:nvPr/>
        </p:nvSpPr>
        <p:spPr>
          <a:xfrm>
            <a:off x="5696712" y="3593592"/>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Tools, materials, intuition</a:t>
            </a:r>
            <a:endParaRPr lang="en-US" sz="1200" dirty="0"/>
          </a:p>
        </p:txBody>
      </p:sp>
      <p:sp>
        <p:nvSpPr>
          <p:cNvPr id="56" name="Shape 54"/>
          <p:cNvSpPr/>
          <p:nvPr/>
        </p:nvSpPr>
        <p:spPr>
          <a:xfrm>
            <a:off x="5559552" y="3739896"/>
            <a:ext cx="118872" cy="118872"/>
          </a:xfrm>
          <a:prstGeom prst="ellipse">
            <a:avLst/>
          </a:prstGeom>
          <a:solidFill>
            <a:srgbClr val="F5A623"/>
          </a:solidFill>
          <a:ln w="12700">
            <a:solidFill>
              <a:srgbClr val="F5A623"/>
            </a:solidFill>
            <a:prstDash val="solid"/>
          </a:ln>
        </p:spPr>
      </p:sp>
      <p:sp>
        <p:nvSpPr>
          <p:cNvPr id="57" name="Shape 55"/>
          <p:cNvSpPr/>
          <p:nvPr/>
        </p:nvSpPr>
        <p:spPr>
          <a:xfrm>
            <a:off x="2176272" y="3739896"/>
            <a:ext cx="118872" cy="118872"/>
          </a:xfrm>
          <a:prstGeom prst="ellipse">
            <a:avLst/>
          </a:prstGeom>
          <a:solidFill>
            <a:srgbClr val="1B6FD8"/>
          </a:solidFill>
          <a:ln w="12700">
            <a:solidFill>
              <a:srgbClr val="1B6FD8"/>
            </a:solidFill>
            <a:prstDash val="solid"/>
          </a:ln>
        </p:spPr>
      </p:sp>
      <p:sp>
        <p:nvSpPr>
          <p:cNvPr id="58" name="Shape 56"/>
          <p:cNvSpPr/>
          <p:nvPr/>
        </p:nvSpPr>
        <p:spPr>
          <a:xfrm>
            <a:off x="228600" y="4032504"/>
            <a:ext cx="1828800" cy="438912"/>
          </a:xfrm>
          <a:prstGeom prst="rect">
            <a:avLst/>
          </a:prstGeom>
          <a:solidFill>
            <a:srgbClr val="E8EDF3"/>
          </a:solidFill>
          <a:ln w="6350">
            <a:solidFill>
              <a:srgbClr val="D1D9E0"/>
            </a:solidFill>
            <a:prstDash val="solid"/>
          </a:ln>
        </p:spPr>
      </p:sp>
      <p:sp>
        <p:nvSpPr>
          <p:cNvPr id="59" name="Text 57"/>
          <p:cNvSpPr/>
          <p:nvPr/>
        </p:nvSpPr>
        <p:spPr>
          <a:xfrm>
            <a:off x="301752" y="4032504"/>
            <a:ext cx="1737360" cy="438912"/>
          </a:xfrm>
          <a:prstGeom prst="rect">
            <a:avLst/>
          </a:prstGeom>
          <a:noFill/>
          <a:ln/>
        </p:spPr>
        <p:txBody>
          <a:bodyPr wrap="square" rtlCol="0" anchor="ctr"/>
          <a:lstStyle/>
          <a:p>
            <a:pPr indent="0" marL="0">
              <a:buNone/>
            </a:pPr>
            <a:r>
              <a:rPr lang="en-US" sz="1200" b="1" dirty="0">
                <a:solidFill>
                  <a:srgbClr val="0D1B2A"/>
                </a:solidFill>
                <a:latin typeface="Arial Black" pitchFamily="34" charset="0"/>
                <a:ea typeface="Arial Black" pitchFamily="34" charset="-122"/>
                <a:cs typeface="Arial Black" pitchFamily="34" charset="-120"/>
              </a:rPr>
              <a:t>Best for</a:t>
            </a:r>
            <a:endParaRPr lang="en-US" sz="1200" dirty="0"/>
          </a:p>
        </p:txBody>
      </p:sp>
      <p:sp>
        <p:nvSpPr>
          <p:cNvPr id="60" name="Shape 58"/>
          <p:cNvSpPr/>
          <p:nvPr/>
        </p:nvSpPr>
        <p:spPr>
          <a:xfrm>
            <a:off x="2240280" y="4032504"/>
            <a:ext cx="3200400" cy="438912"/>
          </a:xfrm>
          <a:prstGeom prst="rect">
            <a:avLst/>
          </a:prstGeom>
          <a:solidFill>
            <a:srgbClr val="FFFFFF"/>
          </a:solidFill>
          <a:ln w="6350">
            <a:solidFill>
              <a:srgbClr val="D1D9E0"/>
            </a:solidFill>
            <a:prstDash val="solid"/>
          </a:ln>
        </p:spPr>
      </p:sp>
      <p:sp>
        <p:nvSpPr>
          <p:cNvPr id="61" name="Text 59"/>
          <p:cNvSpPr/>
          <p:nvPr/>
        </p:nvSpPr>
        <p:spPr>
          <a:xfrm>
            <a:off x="2313432" y="4032504"/>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High stakes, large teams</a:t>
            </a:r>
            <a:endParaRPr lang="en-US" sz="1200" dirty="0"/>
          </a:p>
        </p:txBody>
      </p:sp>
      <p:sp>
        <p:nvSpPr>
          <p:cNvPr id="62" name="Shape 60"/>
          <p:cNvSpPr/>
          <p:nvPr/>
        </p:nvSpPr>
        <p:spPr>
          <a:xfrm>
            <a:off x="5623560" y="4032504"/>
            <a:ext cx="3200400" cy="438912"/>
          </a:xfrm>
          <a:prstGeom prst="rect">
            <a:avLst/>
          </a:prstGeom>
          <a:solidFill>
            <a:srgbClr val="FFFFFF"/>
          </a:solidFill>
          <a:ln w="6350">
            <a:solidFill>
              <a:srgbClr val="D1D9E0"/>
            </a:solidFill>
            <a:prstDash val="solid"/>
          </a:ln>
        </p:spPr>
      </p:sp>
      <p:sp>
        <p:nvSpPr>
          <p:cNvPr id="63" name="Text 61"/>
          <p:cNvSpPr/>
          <p:nvPr/>
        </p:nvSpPr>
        <p:spPr>
          <a:xfrm>
            <a:off x="5696712" y="4032504"/>
            <a:ext cx="3108960" cy="438912"/>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Getting unstuck, learning</a:t>
            </a:r>
            <a:endParaRPr lang="en-US" sz="1200" dirty="0"/>
          </a:p>
        </p:txBody>
      </p:sp>
      <p:sp>
        <p:nvSpPr>
          <p:cNvPr id="64" name="Shape 62"/>
          <p:cNvSpPr/>
          <p:nvPr/>
        </p:nvSpPr>
        <p:spPr>
          <a:xfrm>
            <a:off x="5559552" y="4178808"/>
            <a:ext cx="118872" cy="118872"/>
          </a:xfrm>
          <a:prstGeom prst="ellipse">
            <a:avLst/>
          </a:prstGeom>
          <a:solidFill>
            <a:srgbClr val="F5A623"/>
          </a:solidFill>
          <a:ln w="12700">
            <a:solidFill>
              <a:srgbClr val="F5A623"/>
            </a:solidFill>
            <a:prstDash val="solid"/>
          </a:ln>
        </p:spPr>
      </p:sp>
      <p:sp>
        <p:nvSpPr>
          <p:cNvPr id="65" name="Shape 63"/>
          <p:cNvSpPr/>
          <p:nvPr/>
        </p:nvSpPr>
        <p:spPr>
          <a:xfrm>
            <a:off x="2176272" y="4178808"/>
            <a:ext cx="118872" cy="118872"/>
          </a:xfrm>
          <a:prstGeom prst="ellipse">
            <a:avLst/>
          </a:prstGeom>
          <a:solidFill>
            <a:srgbClr val="1B6FD8"/>
          </a:solidFill>
          <a:ln w="12700">
            <a:solidFill>
              <a:srgbClr val="1B6FD8"/>
            </a:solidFill>
            <a:prstDash val="solid"/>
          </a:ln>
        </p:spPr>
      </p:sp>
      <p:sp>
        <p:nvSpPr>
          <p:cNvPr id="66" name="Text 64"/>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5A623"/>
          </a:solidFill>
          <a:ln w="12700">
            <a:solidFill>
              <a:srgbClr val="F5A623"/>
            </a:solidFill>
            <a:prstDash val="solid"/>
          </a:ln>
        </p:spPr>
      </p:sp>
      <p:sp>
        <p:nvSpPr>
          <p:cNvPr id="3" name="Text 1"/>
          <p:cNvSpPr/>
          <p:nvPr/>
        </p:nvSpPr>
        <p:spPr>
          <a:xfrm>
            <a:off x="457200" y="228600"/>
            <a:ext cx="8229600" cy="731520"/>
          </a:xfrm>
          <a:prstGeom prst="rect">
            <a:avLst/>
          </a:prstGeom>
          <a:noFill/>
          <a:ln/>
        </p:spPr>
        <p:txBody>
          <a:bodyPr wrap="square" rtlCol="0" anchor="ctr"/>
          <a:lstStyle/>
          <a:p>
            <a:pPr indent="0" marL="0">
              <a:buNone/>
            </a:pPr>
            <a:r>
              <a:rPr lang="en-US" sz="3000" b="1" dirty="0">
                <a:solidFill>
                  <a:srgbClr val="0D1B2A"/>
                </a:solidFill>
                <a:latin typeface="Arial Black" pitchFamily="34" charset="0"/>
                <a:ea typeface="Arial Black" pitchFamily="34" charset="-122"/>
                <a:cs typeface="Arial Black" pitchFamily="34" charset="-120"/>
              </a:rPr>
              <a:t>Why Building Early Can Be Smarter</a:t>
            </a:r>
            <a:endParaRPr lang="en-US" sz="3000" dirty="0"/>
          </a:p>
        </p:txBody>
      </p:sp>
      <p:sp>
        <p:nvSpPr>
          <p:cNvPr id="4" name="Text 2"/>
          <p:cNvSpPr/>
          <p:nvPr/>
        </p:nvSpPr>
        <p:spPr>
          <a:xfrm>
            <a:off x="457200" y="822960"/>
            <a:ext cx="8229600" cy="411480"/>
          </a:xfrm>
          <a:prstGeom prst="rect">
            <a:avLst/>
          </a:prstGeom>
          <a:noFill/>
          <a:ln/>
        </p:spPr>
        <p:txBody>
          <a:bodyPr wrap="square" rtlCol="0" anchor="ctr"/>
          <a:lstStyle/>
          <a:p>
            <a:pPr indent="0" marL="0">
              <a:buNone/>
            </a:pPr>
            <a:r>
              <a:rPr lang="en-US" sz="1500" i="1" dirty="0">
                <a:solidFill>
                  <a:srgbClr val="4A5568"/>
                </a:solidFill>
                <a:latin typeface="Calibri" pitchFamily="34" charset="0"/>
                <a:ea typeface="Calibri" pitchFamily="34" charset="-122"/>
                <a:cs typeface="Calibri" pitchFamily="34" charset="-120"/>
              </a:rPr>
              <a:t>There are things you simply cannot learn until you dive in.</a:t>
            </a:r>
            <a:endParaRPr lang="en-US" sz="1500" dirty="0"/>
          </a:p>
        </p:txBody>
      </p:sp>
      <p:sp>
        <p:nvSpPr>
          <p:cNvPr id="5" name="Shape 3"/>
          <p:cNvSpPr/>
          <p:nvPr/>
        </p:nvSpPr>
        <p:spPr>
          <a:xfrm>
            <a:off x="320040" y="1371600"/>
            <a:ext cx="2651760" cy="2743200"/>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6" name="Shape 4"/>
          <p:cNvSpPr/>
          <p:nvPr/>
        </p:nvSpPr>
        <p:spPr>
          <a:xfrm>
            <a:off x="320040" y="1371600"/>
            <a:ext cx="2651760" cy="164592"/>
          </a:xfrm>
          <a:prstGeom prst="rect">
            <a:avLst/>
          </a:prstGeom>
          <a:solidFill>
            <a:srgbClr val="1B6FD8"/>
          </a:solidFill>
          <a:ln w="12700">
            <a:solidFill>
              <a:srgbClr val="1B6FD8"/>
            </a:solidFill>
            <a:prstDash val="solid"/>
          </a:ln>
        </p:spPr>
      </p:sp>
      <p:sp>
        <p:nvSpPr>
          <p:cNvPr id="7" name="Text 5"/>
          <p:cNvSpPr/>
          <p:nvPr/>
        </p:nvSpPr>
        <p:spPr>
          <a:xfrm>
            <a:off x="429768" y="1554480"/>
            <a:ext cx="2468880" cy="548640"/>
          </a:xfrm>
          <a:prstGeom prst="rect">
            <a:avLst/>
          </a:prstGeom>
          <a:noFill/>
          <a:ln/>
        </p:spPr>
        <p:txBody>
          <a:bodyPr wrap="square" rtlCol="0" anchor="ctr"/>
          <a:lstStyle/>
          <a:p>
            <a:pPr indent="0" marL="0">
              <a:buNone/>
            </a:pPr>
            <a:r>
              <a:rPr lang="en-US" sz="1200" b="1" dirty="0">
                <a:solidFill>
                  <a:srgbClr val="0D1B2A"/>
                </a:solidFill>
                <a:latin typeface="Arial Black" pitchFamily="34" charset="0"/>
                <a:ea typeface="Arial Black" pitchFamily="34" charset="-122"/>
                <a:cs typeface="Arial Black" pitchFamily="34" charset="-120"/>
              </a:rPr>
              <a:t>Complex Part Interactions</a:t>
            </a:r>
            <a:endParaRPr lang="en-US" sz="1200" dirty="0"/>
          </a:p>
        </p:txBody>
      </p:sp>
      <p:sp>
        <p:nvSpPr>
          <p:cNvPr id="8" name="Text 6"/>
          <p:cNvSpPr/>
          <p:nvPr/>
        </p:nvSpPr>
        <p:spPr>
          <a:xfrm>
            <a:off x="429768" y="2148840"/>
            <a:ext cx="2468880" cy="1737360"/>
          </a:xfrm>
          <a:prstGeom prst="rect">
            <a:avLst/>
          </a:prstGeom>
          <a:noFill/>
          <a:ln/>
        </p:spPr>
        <p:txBody>
          <a:bodyPr wrap="square" rtlCol="0" anchor="t"/>
          <a:lstStyle/>
          <a:p>
            <a:pPr indent="0" marL="0">
              <a:buNone/>
            </a:pPr>
            <a:r>
              <a:rPr lang="en-US" sz="1250" dirty="0">
                <a:solidFill>
                  <a:srgbClr val="4A5568"/>
                </a:solidFill>
                <a:latin typeface="Calibri" pitchFamily="34" charset="0"/>
                <a:ea typeface="Calibri" pitchFamily="34" charset="-122"/>
                <a:cs typeface="Calibri" pitchFamily="34" charset="-120"/>
              </a:rPr>
              <a:t>How your intake, conveyor, and shooter actually work together can't be fully simulated — only discovered.</a:t>
            </a:r>
            <a:endParaRPr lang="en-US" sz="1250" dirty="0"/>
          </a:p>
        </p:txBody>
      </p:sp>
      <p:sp>
        <p:nvSpPr>
          <p:cNvPr id="9" name="Shape 7"/>
          <p:cNvSpPr/>
          <p:nvPr/>
        </p:nvSpPr>
        <p:spPr>
          <a:xfrm>
            <a:off x="3246120" y="1371600"/>
            <a:ext cx="2651760" cy="2743200"/>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3246120" y="1371600"/>
            <a:ext cx="2651760" cy="164592"/>
          </a:xfrm>
          <a:prstGeom prst="rect">
            <a:avLst/>
          </a:prstGeom>
          <a:solidFill>
            <a:srgbClr val="F5A623"/>
          </a:solidFill>
          <a:ln w="12700">
            <a:solidFill>
              <a:srgbClr val="F5A623"/>
            </a:solidFill>
            <a:prstDash val="solid"/>
          </a:ln>
        </p:spPr>
      </p:sp>
      <p:sp>
        <p:nvSpPr>
          <p:cNvPr id="11" name="Text 9"/>
          <p:cNvSpPr/>
          <p:nvPr/>
        </p:nvSpPr>
        <p:spPr>
          <a:xfrm>
            <a:off x="3355848" y="1554480"/>
            <a:ext cx="2468880" cy="548640"/>
          </a:xfrm>
          <a:prstGeom prst="rect">
            <a:avLst/>
          </a:prstGeom>
          <a:noFill/>
          <a:ln/>
        </p:spPr>
        <p:txBody>
          <a:bodyPr wrap="square" rtlCol="0" anchor="ctr"/>
          <a:lstStyle/>
          <a:p>
            <a:pPr indent="0" marL="0">
              <a:buNone/>
            </a:pPr>
            <a:r>
              <a:rPr lang="en-US" sz="1200" b="1" dirty="0">
                <a:solidFill>
                  <a:srgbClr val="0D1B2A"/>
                </a:solidFill>
                <a:latin typeface="Arial Black" pitchFamily="34" charset="0"/>
                <a:ea typeface="Arial Black" pitchFamily="34" charset="-122"/>
                <a:cs typeface="Arial Black" pitchFamily="34" charset="-120"/>
              </a:rPr>
              <a:t>Unknown Unknowns</a:t>
            </a:r>
            <a:endParaRPr lang="en-US" sz="1200" dirty="0"/>
          </a:p>
        </p:txBody>
      </p:sp>
      <p:sp>
        <p:nvSpPr>
          <p:cNvPr id="12" name="Text 10"/>
          <p:cNvSpPr/>
          <p:nvPr/>
        </p:nvSpPr>
        <p:spPr>
          <a:xfrm>
            <a:off x="3355848" y="2148840"/>
            <a:ext cx="2468880" cy="1737360"/>
          </a:xfrm>
          <a:prstGeom prst="rect">
            <a:avLst/>
          </a:prstGeom>
          <a:noFill/>
          <a:ln/>
        </p:spPr>
        <p:txBody>
          <a:bodyPr wrap="square" rtlCol="0" anchor="t"/>
          <a:lstStyle/>
          <a:p>
            <a:pPr indent="0" marL="0">
              <a:buNone/>
            </a:pPr>
            <a:r>
              <a:rPr lang="en-US" sz="1250" dirty="0">
                <a:solidFill>
                  <a:srgbClr val="4A5568"/>
                </a:solidFill>
                <a:latin typeface="Calibri" pitchFamily="34" charset="0"/>
                <a:ea typeface="Calibri" pitchFamily="34" charset="-122"/>
                <a:cs typeface="Calibri" pitchFamily="34" charset="-120"/>
              </a:rPr>
              <a:t>You don't know what you don't know. A physical prototype reveals constraints you never would have thought to simulate.</a:t>
            </a:r>
            <a:endParaRPr lang="en-US" sz="1250" dirty="0"/>
          </a:p>
        </p:txBody>
      </p:sp>
      <p:sp>
        <p:nvSpPr>
          <p:cNvPr id="13" name="Shape 11"/>
          <p:cNvSpPr/>
          <p:nvPr/>
        </p:nvSpPr>
        <p:spPr>
          <a:xfrm>
            <a:off x="6172200" y="1371600"/>
            <a:ext cx="2651760" cy="2743200"/>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6172200" y="1371600"/>
            <a:ext cx="2651760" cy="164592"/>
          </a:xfrm>
          <a:prstGeom prst="rect">
            <a:avLst/>
          </a:prstGeom>
          <a:solidFill>
            <a:srgbClr val="2A9D5C"/>
          </a:solidFill>
          <a:ln w="12700">
            <a:solidFill>
              <a:srgbClr val="2A9D5C"/>
            </a:solidFill>
            <a:prstDash val="solid"/>
          </a:ln>
        </p:spPr>
      </p:sp>
      <p:sp>
        <p:nvSpPr>
          <p:cNvPr id="15" name="Text 13"/>
          <p:cNvSpPr/>
          <p:nvPr/>
        </p:nvSpPr>
        <p:spPr>
          <a:xfrm>
            <a:off x="6281928" y="1554480"/>
            <a:ext cx="2468880" cy="548640"/>
          </a:xfrm>
          <a:prstGeom prst="rect">
            <a:avLst/>
          </a:prstGeom>
          <a:noFill/>
          <a:ln/>
        </p:spPr>
        <p:txBody>
          <a:bodyPr wrap="square" rtlCol="0" anchor="ctr"/>
          <a:lstStyle/>
          <a:p>
            <a:pPr indent="0" marL="0">
              <a:buNone/>
            </a:pPr>
            <a:r>
              <a:rPr lang="en-US" sz="1200" b="1" dirty="0">
                <a:solidFill>
                  <a:srgbClr val="0D1B2A"/>
                </a:solidFill>
                <a:latin typeface="Arial Black" pitchFamily="34" charset="0"/>
                <a:ea typeface="Arial Black" pitchFamily="34" charset="-122"/>
                <a:cs typeface="Arial Black" pitchFamily="34" charset="-120"/>
              </a:rPr>
              <a:t>Clarifying Your Goals</a:t>
            </a:r>
            <a:endParaRPr lang="en-US" sz="1200" dirty="0"/>
          </a:p>
        </p:txBody>
      </p:sp>
      <p:sp>
        <p:nvSpPr>
          <p:cNvPr id="16" name="Text 14"/>
          <p:cNvSpPr/>
          <p:nvPr/>
        </p:nvSpPr>
        <p:spPr>
          <a:xfrm>
            <a:off x="6281928" y="2148840"/>
            <a:ext cx="2468880" cy="1737360"/>
          </a:xfrm>
          <a:prstGeom prst="rect">
            <a:avLst/>
          </a:prstGeom>
          <a:noFill/>
          <a:ln/>
        </p:spPr>
        <p:txBody>
          <a:bodyPr wrap="square" rtlCol="0" anchor="t"/>
          <a:lstStyle/>
          <a:p>
            <a:pPr indent="0" marL="0">
              <a:buNone/>
            </a:pPr>
            <a:r>
              <a:rPr lang="en-US" sz="1250" dirty="0">
                <a:solidFill>
                  <a:srgbClr val="4A5568"/>
                </a:solidFill>
                <a:latin typeface="Calibri" pitchFamily="34" charset="0"/>
                <a:ea typeface="Calibri" pitchFamily="34" charset="-122"/>
                <a:cs typeface="Calibri" pitchFamily="34" charset="-120"/>
              </a:rPr>
              <a:t>"You might not know what you really want until you go for it and find out that's not what you want."  — SuperfastMatt</a:t>
            </a:r>
            <a:endParaRPr lang="en-US" sz="1250" dirty="0"/>
          </a:p>
        </p:txBody>
      </p:sp>
      <p:sp>
        <p:nvSpPr>
          <p:cNvPr id="17" name="Text 15"/>
          <p:cNvSpPr/>
          <p:nvPr/>
        </p:nvSpPr>
        <p:spPr>
          <a:xfrm>
            <a:off x="457200" y="4343400"/>
            <a:ext cx="8229600" cy="457200"/>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This is why prototyping fast is a legitimate engineering strategy — not just being impatient.</a:t>
            </a:r>
            <a:endParaRPr lang="en-US" sz="1300" dirty="0"/>
          </a:p>
        </p:txBody>
      </p:sp>
      <p:sp>
        <p:nvSpPr>
          <p:cNvPr id="18" name="Text 16"/>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5A623"/>
          </a:solidFill>
          <a:ln w="12700">
            <a:solidFill>
              <a:srgbClr val="F5A623"/>
            </a:solidFill>
            <a:prstDash val="solid"/>
          </a:ln>
        </p:spPr>
      </p:sp>
      <p:sp>
        <p:nvSpPr>
          <p:cNvPr id="3" name="Text 1"/>
          <p:cNvSpPr/>
          <p:nvPr/>
        </p:nvSpPr>
        <p:spPr>
          <a:xfrm>
            <a:off x="457200" y="228600"/>
            <a:ext cx="8229600" cy="731520"/>
          </a:xfrm>
          <a:prstGeom prst="rect">
            <a:avLst/>
          </a:prstGeom>
          <a:noFill/>
          <a:ln/>
        </p:spPr>
        <p:txBody>
          <a:bodyPr wrap="square" rtlCol="0" anchor="ctr"/>
          <a:lstStyle/>
          <a:p>
            <a:pPr indent="0" marL="0">
              <a:buNone/>
            </a:pPr>
            <a:r>
              <a:rPr lang="en-US" sz="3000" b="1" dirty="0">
                <a:solidFill>
                  <a:srgbClr val="0D1B2A"/>
                </a:solidFill>
                <a:latin typeface="Arial Black" pitchFamily="34" charset="0"/>
                <a:ea typeface="Arial Black" pitchFamily="34" charset="-122"/>
                <a:cs typeface="Arial Black" pitchFamily="34" charset="-120"/>
              </a:rPr>
              <a:t>In FRC: When to Use Which Approach</a:t>
            </a:r>
            <a:endParaRPr lang="en-US" sz="3000" dirty="0"/>
          </a:p>
        </p:txBody>
      </p:sp>
      <p:sp>
        <p:nvSpPr>
          <p:cNvPr id="4" name="Shape 2"/>
          <p:cNvSpPr/>
          <p:nvPr/>
        </p:nvSpPr>
        <p:spPr>
          <a:xfrm>
            <a:off x="274320" y="960120"/>
            <a:ext cx="3931920" cy="411480"/>
          </a:xfrm>
          <a:prstGeom prst="rect">
            <a:avLst/>
          </a:prstGeom>
          <a:solidFill>
            <a:srgbClr val="1B6FD8"/>
          </a:solidFill>
          <a:ln w="12700">
            <a:solidFill>
              <a:srgbClr val="1B6FD8"/>
            </a:solidFill>
            <a:prstDash val="solid"/>
          </a:ln>
        </p:spPr>
      </p:sp>
      <p:sp>
        <p:nvSpPr>
          <p:cNvPr id="5" name="Text 3"/>
          <p:cNvSpPr/>
          <p:nvPr/>
        </p:nvSpPr>
        <p:spPr>
          <a:xfrm>
            <a:off x="274320" y="960120"/>
            <a:ext cx="3931920" cy="4114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Traditional Engineering</a:t>
            </a:r>
            <a:endParaRPr lang="en-US" sz="1400" dirty="0"/>
          </a:p>
        </p:txBody>
      </p:sp>
      <p:sp>
        <p:nvSpPr>
          <p:cNvPr id="6" name="Shape 4"/>
          <p:cNvSpPr/>
          <p:nvPr/>
        </p:nvSpPr>
        <p:spPr>
          <a:xfrm>
            <a:off x="274320" y="1371600"/>
            <a:ext cx="3931920" cy="3108960"/>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7" name="Text 5"/>
          <p:cNvSpPr/>
          <p:nvPr/>
        </p:nvSpPr>
        <p:spPr>
          <a:xfrm>
            <a:off x="411480" y="1508760"/>
            <a:ext cx="3657600" cy="502920"/>
          </a:xfrm>
          <a:prstGeom prst="rect">
            <a:avLst/>
          </a:prstGeom>
          <a:noFill/>
          <a:ln/>
        </p:spPr>
        <p:txBody>
          <a:bodyPr wrap="square" rtlCol="0" anchor="ctr"/>
          <a:lstStyle/>
          <a:p>
            <a:pPr indent="0" marL="0">
              <a:buNone/>
            </a:pPr>
            <a:r>
              <a:rPr lang="en-US" sz="1250" dirty="0">
                <a:solidFill>
                  <a:srgbClr val="0D1B2A"/>
                </a:solidFill>
                <a:latin typeface="Calibri" pitchFamily="34" charset="0"/>
                <a:ea typeface="Calibri" pitchFamily="34" charset="-122"/>
                <a:cs typeface="Calibri" pitchFamily="34" charset="-120"/>
              </a:rPr>
              <a:t>🔵  Drivetrain chassis design</a:t>
            </a:r>
            <a:endParaRPr lang="en-US" sz="1250" dirty="0"/>
          </a:p>
        </p:txBody>
      </p:sp>
      <p:sp>
        <p:nvSpPr>
          <p:cNvPr id="8" name="Text 6"/>
          <p:cNvSpPr/>
          <p:nvPr/>
        </p:nvSpPr>
        <p:spPr>
          <a:xfrm>
            <a:off x="411480" y="2075688"/>
            <a:ext cx="3657600" cy="502920"/>
          </a:xfrm>
          <a:prstGeom prst="rect">
            <a:avLst/>
          </a:prstGeom>
          <a:noFill/>
          <a:ln/>
        </p:spPr>
        <p:txBody>
          <a:bodyPr wrap="square" rtlCol="0" anchor="ctr"/>
          <a:lstStyle/>
          <a:p>
            <a:pPr indent="0" marL="0">
              <a:buNone/>
            </a:pPr>
            <a:r>
              <a:rPr lang="en-US" sz="1250" dirty="0">
                <a:solidFill>
                  <a:srgbClr val="0D1B2A"/>
                </a:solidFill>
                <a:latin typeface="Calibri" pitchFamily="34" charset="0"/>
                <a:ea typeface="Calibri" pitchFamily="34" charset="-122"/>
                <a:cs typeface="Calibri" pitchFamily="34" charset="-120"/>
              </a:rPr>
              <a:t>🔵  Structural load calculations (arm, elevator)</a:t>
            </a:r>
            <a:endParaRPr lang="en-US" sz="1250" dirty="0"/>
          </a:p>
        </p:txBody>
      </p:sp>
      <p:sp>
        <p:nvSpPr>
          <p:cNvPr id="9" name="Text 7"/>
          <p:cNvSpPr/>
          <p:nvPr/>
        </p:nvSpPr>
        <p:spPr>
          <a:xfrm>
            <a:off x="411480" y="2642616"/>
            <a:ext cx="3657600" cy="502920"/>
          </a:xfrm>
          <a:prstGeom prst="rect">
            <a:avLst/>
          </a:prstGeom>
          <a:noFill/>
          <a:ln/>
        </p:spPr>
        <p:txBody>
          <a:bodyPr wrap="square" rtlCol="0" anchor="ctr"/>
          <a:lstStyle/>
          <a:p>
            <a:pPr indent="0" marL="0">
              <a:buNone/>
            </a:pPr>
            <a:r>
              <a:rPr lang="en-US" sz="1250" dirty="0">
                <a:solidFill>
                  <a:srgbClr val="0D1B2A"/>
                </a:solidFill>
                <a:latin typeface="Calibri" pitchFamily="34" charset="0"/>
                <a:ea typeface="Calibri" pitchFamily="34" charset="-122"/>
                <a:cs typeface="Calibri" pitchFamily="34" charset="-120"/>
              </a:rPr>
              <a:t>🔵  Game strategy and game piece analysis</a:t>
            </a:r>
            <a:endParaRPr lang="en-US" sz="1250" dirty="0"/>
          </a:p>
        </p:txBody>
      </p:sp>
      <p:sp>
        <p:nvSpPr>
          <p:cNvPr id="10" name="Text 8"/>
          <p:cNvSpPr/>
          <p:nvPr/>
        </p:nvSpPr>
        <p:spPr>
          <a:xfrm>
            <a:off x="411480" y="3209544"/>
            <a:ext cx="3657600" cy="502920"/>
          </a:xfrm>
          <a:prstGeom prst="rect">
            <a:avLst/>
          </a:prstGeom>
          <a:noFill/>
          <a:ln/>
        </p:spPr>
        <p:txBody>
          <a:bodyPr wrap="square" rtlCol="0" anchor="ctr"/>
          <a:lstStyle/>
          <a:p>
            <a:pPr indent="0" marL="0">
              <a:buNone/>
            </a:pPr>
            <a:r>
              <a:rPr lang="en-US" sz="1250" dirty="0">
                <a:solidFill>
                  <a:srgbClr val="0D1B2A"/>
                </a:solidFill>
                <a:latin typeface="Calibri" pitchFamily="34" charset="0"/>
                <a:ea typeface="Calibri" pitchFamily="34" charset="-122"/>
                <a:cs typeface="Calibri" pitchFamily="34" charset="-120"/>
              </a:rPr>
              <a:t>🔵  End-of-season design review for next year</a:t>
            </a:r>
            <a:endParaRPr lang="en-US" sz="1250" dirty="0"/>
          </a:p>
        </p:txBody>
      </p:sp>
      <p:sp>
        <p:nvSpPr>
          <p:cNvPr id="11" name="Text 9"/>
          <p:cNvSpPr/>
          <p:nvPr/>
        </p:nvSpPr>
        <p:spPr>
          <a:xfrm>
            <a:off x="411480" y="3776472"/>
            <a:ext cx="3657600" cy="502920"/>
          </a:xfrm>
          <a:prstGeom prst="rect">
            <a:avLst/>
          </a:prstGeom>
          <a:noFill/>
          <a:ln/>
        </p:spPr>
        <p:txBody>
          <a:bodyPr wrap="square" rtlCol="0" anchor="ctr"/>
          <a:lstStyle/>
          <a:p>
            <a:pPr indent="0" marL="0">
              <a:buNone/>
            </a:pPr>
            <a:r>
              <a:rPr lang="en-US" sz="1250" dirty="0">
                <a:solidFill>
                  <a:srgbClr val="0D1B2A"/>
                </a:solidFill>
                <a:latin typeface="Calibri" pitchFamily="34" charset="0"/>
                <a:ea typeface="Calibri" pitchFamily="34" charset="-122"/>
                <a:cs typeface="Calibri" pitchFamily="34" charset="-120"/>
              </a:rPr>
              <a:t>🔵  Anything that mounts motors or bears load</a:t>
            </a:r>
            <a:endParaRPr lang="en-US" sz="1250" dirty="0"/>
          </a:p>
        </p:txBody>
      </p:sp>
      <p:sp>
        <p:nvSpPr>
          <p:cNvPr id="12" name="Shape 10"/>
          <p:cNvSpPr/>
          <p:nvPr/>
        </p:nvSpPr>
        <p:spPr>
          <a:xfrm>
            <a:off x="4937760" y="960120"/>
            <a:ext cx="3931920" cy="411480"/>
          </a:xfrm>
          <a:prstGeom prst="rect">
            <a:avLst/>
          </a:prstGeom>
          <a:solidFill>
            <a:srgbClr val="F5A623"/>
          </a:solidFill>
          <a:ln w="12700">
            <a:solidFill>
              <a:srgbClr val="F5A623"/>
            </a:solidFill>
            <a:prstDash val="solid"/>
          </a:ln>
        </p:spPr>
      </p:sp>
      <p:sp>
        <p:nvSpPr>
          <p:cNvPr id="13" name="Text 11"/>
          <p:cNvSpPr/>
          <p:nvPr/>
        </p:nvSpPr>
        <p:spPr>
          <a:xfrm>
            <a:off x="4937760" y="960120"/>
            <a:ext cx="3931920" cy="411480"/>
          </a:xfrm>
          <a:prstGeom prst="rect">
            <a:avLst/>
          </a:prstGeom>
          <a:noFill/>
          <a:ln/>
        </p:spPr>
        <p:txBody>
          <a:bodyPr wrap="square"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Punk Rock Engineering</a:t>
            </a:r>
            <a:endParaRPr lang="en-US" sz="1400" dirty="0"/>
          </a:p>
        </p:txBody>
      </p:sp>
      <p:sp>
        <p:nvSpPr>
          <p:cNvPr id="14" name="Shape 12"/>
          <p:cNvSpPr/>
          <p:nvPr/>
        </p:nvSpPr>
        <p:spPr>
          <a:xfrm>
            <a:off x="4937760" y="1371600"/>
            <a:ext cx="3931920" cy="3108960"/>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5" name="Text 13"/>
          <p:cNvSpPr/>
          <p:nvPr/>
        </p:nvSpPr>
        <p:spPr>
          <a:xfrm>
            <a:off x="5074920" y="1508760"/>
            <a:ext cx="3657600" cy="502920"/>
          </a:xfrm>
          <a:prstGeom prst="rect">
            <a:avLst/>
          </a:prstGeom>
          <a:noFill/>
          <a:ln/>
        </p:spPr>
        <p:txBody>
          <a:bodyPr wrap="square" rtlCol="0" anchor="ctr"/>
          <a:lstStyle/>
          <a:p>
            <a:pPr indent="0" marL="0">
              <a:buNone/>
            </a:pPr>
            <a:r>
              <a:rPr lang="en-US" sz="1250" dirty="0">
                <a:solidFill>
                  <a:srgbClr val="0D1B2A"/>
                </a:solidFill>
                <a:latin typeface="Calibri" pitchFamily="34" charset="0"/>
                <a:ea typeface="Calibri" pitchFamily="34" charset="-122"/>
                <a:cs typeface="Calibri" pitchFamily="34" charset="-120"/>
              </a:rPr>
              <a:t>⚡  Intake geometry (how many tries does it take?)</a:t>
            </a:r>
            <a:endParaRPr lang="en-US" sz="1250" dirty="0"/>
          </a:p>
        </p:txBody>
      </p:sp>
      <p:sp>
        <p:nvSpPr>
          <p:cNvPr id="16" name="Text 14"/>
          <p:cNvSpPr/>
          <p:nvPr/>
        </p:nvSpPr>
        <p:spPr>
          <a:xfrm>
            <a:off x="5074920" y="2075688"/>
            <a:ext cx="3657600" cy="502920"/>
          </a:xfrm>
          <a:prstGeom prst="rect">
            <a:avLst/>
          </a:prstGeom>
          <a:noFill/>
          <a:ln/>
        </p:spPr>
        <p:txBody>
          <a:bodyPr wrap="square" rtlCol="0" anchor="ctr"/>
          <a:lstStyle/>
          <a:p>
            <a:pPr indent="0" marL="0">
              <a:buNone/>
            </a:pPr>
            <a:r>
              <a:rPr lang="en-US" sz="1250" dirty="0">
                <a:solidFill>
                  <a:srgbClr val="0D1B2A"/>
                </a:solidFill>
                <a:latin typeface="Calibri" pitchFamily="34" charset="0"/>
                <a:ea typeface="Calibri" pitchFamily="34" charset="-122"/>
                <a:cs typeface="Calibri" pitchFamily="34" charset="-120"/>
              </a:rPr>
              <a:t>⚡  Shooter angle and flywheel speed</a:t>
            </a:r>
            <a:endParaRPr lang="en-US" sz="1250" dirty="0"/>
          </a:p>
        </p:txBody>
      </p:sp>
      <p:sp>
        <p:nvSpPr>
          <p:cNvPr id="17" name="Text 15"/>
          <p:cNvSpPr/>
          <p:nvPr/>
        </p:nvSpPr>
        <p:spPr>
          <a:xfrm>
            <a:off x="5074920" y="2642616"/>
            <a:ext cx="3657600" cy="502920"/>
          </a:xfrm>
          <a:prstGeom prst="rect">
            <a:avLst/>
          </a:prstGeom>
          <a:noFill/>
          <a:ln/>
        </p:spPr>
        <p:txBody>
          <a:bodyPr wrap="square" rtlCol="0" anchor="ctr"/>
          <a:lstStyle/>
          <a:p>
            <a:pPr indent="0" marL="0">
              <a:buNone/>
            </a:pPr>
            <a:r>
              <a:rPr lang="en-US" sz="1250" dirty="0">
                <a:solidFill>
                  <a:srgbClr val="0D1B2A"/>
                </a:solidFill>
                <a:latin typeface="Calibri" pitchFamily="34" charset="0"/>
                <a:ea typeface="Calibri" pitchFamily="34" charset="-122"/>
                <a:cs typeface="Calibri" pitchFamily="34" charset="-120"/>
              </a:rPr>
              <a:t>⚡  Gripper / end effector design</a:t>
            </a:r>
            <a:endParaRPr lang="en-US" sz="1250" dirty="0"/>
          </a:p>
        </p:txBody>
      </p:sp>
      <p:sp>
        <p:nvSpPr>
          <p:cNvPr id="18" name="Text 16"/>
          <p:cNvSpPr/>
          <p:nvPr/>
        </p:nvSpPr>
        <p:spPr>
          <a:xfrm>
            <a:off x="5074920" y="3209544"/>
            <a:ext cx="3657600" cy="502920"/>
          </a:xfrm>
          <a:prstGeom prst="rect">
            <a:avLst/>
          </a:prstGeom>
          <a:noFill/>
          <a:ln/>
        </p:spPr>
        <p:txBody>
          <a:bodyPr wrap="square" rtlCol="0" anchor="ctr"/>
          <a:lstStyle/>
          <a:p>
            <a:pPr indent="0" marL="0">
              <a:buNone/>
            </a:pPr>
            <a:r>
              <a:rPr lang="en-US" sz="1250" dirty="0">
                <a:solidFill>
                  <a:srgbClr val="0D1B2A"/>
                </a:solidFill>
                <a:latin typeface="Calibri" pitchFamily="34" charset="0"/>
                <a:ea typeface="Calibri" pitchFamily="34" charset="-122"/>
                <a:cs typeface="Calibri" pitchFamily="34" charset="-120"/>
              </a:rPr>
              <a:t>⚡  Early-season brainstorming builds</a:t>
            </a:r>
            <a:endParaRPr lang="en-US" sz="1250" dirty="0"/>
          </a:p>
        </p:txBody>
      </p:sp>
      <p:sp>
        <p:nvSpPr>
          <p:cNvPr id="19" name="Text 17"/>
          <p:cNvSpPr/>
          <p:nvPr/>
        </p:nvSpPr>
        <p:spPr>
          <a:xfrm>
            <a:off x="5074920" y="3776472"/>
            <a:ext cx="3657600" cy="502920"/>
          </a:xfrm>
          <a:prstGeom prst="rect">
            <a:avLst/>
          </a:prstGeom>
          <a:noFill/>
          <a:ln/>
        </p:spPr>
        <p:txBody>
          <a:bodyPr wrap="square" rtlCol="0" anchor="ctr"/>
          <a:lstStyle/>
          <a:p>
            <a:pPr indent="0" marL="0">
              <a:buNone/>
            </a:pPr>
            <a:r>
              <a:rPr lang="en-US" sz="1250" dirty="0">
                <a:solidFill>
                  <a:srgbClr val="0D1B2A"/>
                </a:solidFill>
                <a:latin typeface="Calibri" pitchFamily="34" charset="0"/>
                <a:ea typeface="Calibri" pitchFamily="34" charset="-122"/>
                <a:cs typeface="Calibri" pitchFamily="34" charset="-120"/>
              </a:rPr>
              <a:t>⚡  "Does this concept even work?" tests</a:t>
            </a:r>
            <a:endParaRPr lang="en-US" sz="1250" dirty="0"/>
          </a:p>
        </p:txBody>
      </p:sp>
      <p:sp>
        <p:nvSpPr>
          <p:cNvPr id="20" name="Text 18"/>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2A9D5C"/>
          </a:solidFill>
          <a:ln w="12700">
            <a:solidFill>
              <a:srgbClr val="2A9D5C"/>
            </a:solidFill>
            <a:prstDash val="solid"/>
          </a:ln>
        </p:spPr>
      </p:sp>
      <p:sp>
        <p:nvSpPr>
          <p:cNvPr id="3" name="Text 1"/>
          <p:cNvSpPr/>
          <p:nvPr/>
        </p:nvSpPr>
        <p:spPr>
          <a:xfrm>
            <a:off x="457200" y="228600"/>
            <a:ext cx="8229600" cy="731520"/>
          </a:xfrm>
          <a:prstGeom prst="rect">
            <a:avLst/>
          </a:prstGeom>
          <a:noFill/>
          <a:ln/>
        </p:spPr>
        <p:txBody>
          <a:bodyPr wrap="square" rtlCol="0" anchor="ctr"/>
          <a:lstStyle/>
          <a:p>
            <a:pPr indent="0" marL="0">
              <a:buNone/>
            </a:pPr>
            <a:r>
              <a:rPr lang="en-US" sz="3000" b="1" dirty="0">
                <a:solidFill>
                  <a:srgbClr val="2A9D5C"/>
                </a:solidFill>
                <a:latin typeface="Arial Black" pitchFamily="34" charset="0"/>
                <a:ea typeface="Arial Black" pitchFamily="34" charset="-122"/>
                <a:cs typeface="Arial Black" pitchFamily="34" charset="-120"/>
              </a:rPr>
              <a:t>✅  WHEN TO GO PUNK ROCK</a:t>
            </a:r>
            <a:endParaRPr lang="en-US" sz="3000" dirty="0"/>
          </a:p>
        </p:txBody>
      </p:sp>
      <p:sp>
        <p:nvSpPr>
          <p:cNvPr id="4" name="Shape 2"/>
          <p:cNvSpPr/>
          <p:nvPr/>
        </p:nvSpPr>
        <p:spPr>
          <a:xfrm>
            <a:off x="320040" y="1051560"/>
            <a:ext cx="4160520" cy="914400"/>
          </a:xfrm>
          <a:prstGeom prst="rect">
            <a:avLst/>
          </a:prstGeom>
          <a:solidFill>
            <a:srgbClr val="1B3A57"/>
          </a:solidFill>
          <a:ln w="12700">
            <a:solidFill>
              <a:srgbClr val="1B3A57"/>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411480" y="1188720"/>
            <a:ext cx="54864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1005840" y="1124712"/>
            <a:ext cx="3291840" cy="347472"/>
          </a:xfrm>
          <a:prstGeom prst="rect">
            <a:avLst/>
          </a:prstGeom>
          <a:noFill/>
          <a:ln/>
        </p:spPr>
        <p:txBody>
          <a:bodyPr wrap="square" rtlCol="0" anchor="ctr"/>
          <a:lstStyle/>
          <a:p>
            <a:pPr indent="0" marL="0">
              <a:buNone/>
            </a:pPr>
            <a:r>
              <a:rPr lang="en-US" sz="1300" b="1" dirty="0">
                <a:solidFill>
                  <a:srgbClr val="2A9D5C"/>
                </a:solidFill>
                <a:latin typeface="Arial Black" pitchFamily="34" charset="0"/>
                <a:ea typeface="Arial Black" pitchFamily="34" charset="-122"/>
                <a:cs typeface="Arial Black" pitchFamily="34" charset="-120"/>
              </a:rPr>
              <a:t>You're stuck</a:t>
            </a:r>
            <a:endParaRPr lang="en-US" sz="1300" dirty="0"/>
          </a:p>
        </p:txBody>
      </p:sp>
      <p:sp>
        <p:nvSpPr>
          <p:cNvPr id="7" name="Text 5"/>
          <p:cNvSpPr/>
          <p:nvPr/>
        </p:nvSpPr>
        <p:spPr>
          <a:xfrm>
            <a:off x="1005840" y="1444752"/>
            <a:ext cx="3291840"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Overthinking it? Just build a rough version. You'll learn more in 20 minutes of testing than 2 hours of agonizing.</a:t>
            </a:r>
            <a:endParaRPr lang="en-US" sz="1100" dirty="0"/>
          </a:p>
        </p:txBody>
      </p:sp>
      <p:sp>
        <p:nvSpPr>
          <p:cNvPr id="8" name="Shape 6"/>
          <p:cNvSpPr/>
          <p:nvPr/>
        </p:nvSpPr>
        <p:spPr>
          <a:xfrm>
            <a:off x="320040" y="2130552"/>
            <a:ext cx="4160520" cy="914400"/>
          </a:xfrm>
          <a:prstGeom prst="rect">
            <a:avLst/>
          </a:prstGeom>
          <a:solidFill>
            <a:srgbClr val="1B3A57"/>
          </a:solidFill>
          <a:ln w="12700">
            <a:solidFill>
              <a:srgbClr val="1B3A57"/>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411480" y="2267712"/>
            <a:ext cx="54864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1005840" y="2203704"/>
            <a:ext cx="3291840" cy="347472"/>
          </a:xfrm>
          <a:prstGeom prst="rect">
            <a:avLst/>
          </a:prstGeom>
          <a:noFill/>
          <a:ln/>
        </p:spPr>
        <p:txBody>
          <a:bodyPr wrap="square" rtlCol="0" anchor="ctr"/>
          <a:lstStyle/>
          <a:p>
            <a:pPr indent="0" marL="0">
              <a:buNone/>
            </a:pPr>
            <a:r>
              <a:rPr lang="en-US" sz="1300" b="1" dirty="0">
                <a:solidFill>
                  <a:srgbClr val="2A9D5C"/>
                </a:solidFill>
                <a:latin typeface="Arial Black" pitchFamily="34" charset="0"/>
                <a:ea typeface="Arial Black" pitchFamily="34" charset="-122"/>
                <a:cs typeface="Arial Black" pitchFamily="34" charset="-120"/>
              </a:rPr>
              <a:t>Early prototyping</a:t>
            </a:r>
            <a:endParaRPr lang="en-US" sz="1300" dirty="0"/>
          </a:p>
        </p:txBody>
      </p:sp>
      <p:sp>
        <p:nvSpPr>
          <p:cNvPr id="11" name="Text 9"/>
          <p:cNvSpPr/>
          <p:nvPr/>
        </p:nvSpPr>
        <p:spPr>
          <a:xfrm>
            <a:off x="1005840" y="2523744"/>
            <a:ext cx="3291840"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Week 1–2 of build season. The goal is to test if an idea is viable at all, not to build the final robot.</a:t>
            </a:r>
            <a:endParaRPr lang="en-US" sz="1100" dirty="0"/>
          </a:p>
        </p:txBody>
      </p:sp>
      <p:sp>
        <p:nvSpPr>
          <p:cNvPr id="12" name="Shape 10"/>
          <p:cNvSpPr/>
          <p:nvPr/>
        </p:nvSpPr>
        <p:spPr>
          <a:xfrm>
            <a:off x="320040" y="3209544"/>
            <a:ext cx="4160520" cy="914400"/>
          </a:xfrm>
          <a:prstGeom prst="rect">
            <a:avLst/>
          </a:prstGeom>
          <a:solidFill>
            <a:srgbClr val="1B3A57"/>
          </a:solidFill>
          <a:ln w="12700">
            <a:solidFill>
              <a:srgbClr val="1B3A57"/>
            </a:solidFill>
            <a:prstDash val="solid"/>
          </a:ln>
          <a:effectLst>
            <a:outerShdw sx="100000" sy="100000" kx="0" ky="0" algn="bl" rotWithShape="0" blurRad="101600" dist="25400" dir="8100000">
              <a:srgbClr val="000000">
                <a:alpha val="10000"/>
              </a:srgbClr>
            </a:outerShdw>
          </a:effectLst>
        </p:spPr>
      </p:sp>
      <p:sp>
        <p:nvSpPr>
          <p:cNvPr id="13" name="Text 11"/>
          <p:cNvSpPr/>
          <p:nvPr/>
        </p:nvSpPr>
        <p:spPr>
          <a:xfrm>
            <a:off x="411480" y="3346704"/>
            <a:ext cx="54864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1005840" y="3282696"/>
            <a:ext cx="3291840" cy="347472"/>
          </a:xfrm>
          <a:prstGeom prst="rect">
            <a:avLst/>
          </a:prstGeom>
          <a:noFill/>
          <a:ln/>
        </p:spPr>
        <p:txBody>
          <a:bodyPr wrap="square" rtlCol="0" anchor="ctr"/>
          <a:lstStyle/>
          <a:p>
            <a:pPr indent="0" marL="0">
              <a:buNone/>
            </a:pPr>
            <a:r>
              <a:rPr lang="en-US" sz="1300" b="1" dirty="0">
                <a:solidFill>
                  <a:srgbClr val="2A9D5C"/>
                </a:solidFill>
                <a:latin typeface="Arial Black" pitchFamily="34" charset="0"/>
                <a:ea typeface="Arial Black" pitchFamily="34" charset="-122"/>
                <a:cs typeface="Arial Black" pitchFamily="34" charset="-120"/>
              </a:rPr>
              <a:t>Learning something new</a:t>
            </a:r>
            <a:endParaRPr lang="en-US" sz="1300" dirty="0"/>
          </a:p>
        </p:txBody>
      </p:sp>
      <p:sp>
        <p:nvSpPr>
          <p:cNvPr id="15" name="Text 13"/>
          <p:cNvSpPr/>
          <p:nvPr/>
        </p:nvSpPr>
        <p:spPr>
          <a:xfrm>
            <a:off x="1005840" y="3602736"/>
            <a:ext cx="3291840"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Building a swerve drive for the first time? Build a bad one first. There's no shortcut to the first one.</a:t>
            </a:r>
            <a:endParaRPr lang="en-US" sz="1100" dirty="0"/>
          </a:p>
        </p:txBody>
      </p:sp>
      <p:sp>
        <p:nvSpPr>
          <p:cNvPr id="16" name="Shape 14"/>
          <p:cNvSpPr/>
          <p:nvPr/>
        </p:nvSpPr>
        <p:spPr>
          <a:xfrm>
            <a:off x="4754880" y="1051560"/>
            <a:ext cx="4160520" cy="914400"/>
          </a:xfrm>
          <a:prstGeom prst="rect">
            <a:avLst/>
          </a:prstGeom>
          <a:solidFill>
            <a:srgbClr val="1B3A57"/>
          </a:solidFill>
          <a:ln w="12700">
            <a:solidFill>
              <a:srgbClr val="1B3A57"/>
            </a:solidFill>
            <a:prstDash val="solid"/>
          </a:ln>
          <a:effectLst>
            <a:outerShdw sx="100000" sy="100000" kx="0" ky="0" algn="bl" rotWithShape="0" blurRad="101600" dist="25400" dir="8100000">
              <a:srgbClr val="000000">
                <a:alpha val="10000"/>
              </a:srgbClr>
            </a:outerShdw>
          </a:effectLst>
        </p:spPr>
      </p:sp>
      <p:sp>
        <p:nvSpPr>
          <p:cNvPr id="17" name="Text 15"/>
          <p:cNvSpPr/>
          <p:nvPr/>
        </p:nvSpPr>
        <p:spPr>
          <a:xfrm>
            <a:off x="4846320" y="1188720"/>
            <a:ext cx="54864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5440680" y="1124712"/>
            <a:ext cx="3291840" cy="347472"/>
          </a:xfrm>
          <a:prstGeom prst="rect">
            <a:avLst/>
          </a:prstGeom>
          <a:noFill/>
          <a:ln/>
        </p:spPr>
        <p:txBody>
          <a:bodyPr wrap="square" rtlCol="0" anchor="ctr"/>
          <a:lstStyle/>
          <a:p>
            <a:pPr indent="0" marL="0">
              <a:buNone/>
            </a:pPr>
            <a:r>
              <a:rPr lang="en-US" sz="1300" b="1" dirty="0">
                <a:solidFill>
                  <a:srgbClr val="2A9D5C"/>
                </a:solidFill>
                <a:latin typeface="Arial Black" pitchFamily="34" charset="0"/>
                <a:ea typeface="Arial Black" pitchFamily="34" charset="-122"/>
                <a:cs typeface="Arial Black" pitchFamily="34" charset="-120"/>
              </a:rPr>
              <a:t>Personal / side projects</a:t>
            </a:r>
            <a:endParaRPr lang="en-US" sz="1300" dirty="0"/>
          </a:p>
        </p:txBody>
      </p:sp>
      <p:sp>
        <p:nvSpPr>
          <p:cNvPr id="19" name="Text 17"/>
          <p:cNvSpPr/>
          <p:nvPr/>
        </p:nvSpPr>
        <p:spPr>
          <a:xfrm>
            <a:off x="5440680" y="1444752"/>
            <a:ext cx="3291840"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No budget review. No safety audit. Just you and a problem. This is where punk rock thrives.</a:t>
            </a:r>
            <a:endParaRPr lang="en-US" sz="1100" dirty="0"/>
          </a:p>
        </p:txBody>
      </p:sp>
      <p:sp>
        <p:nvSpPr>
          <p:cNvPr id="20" name="Shape 18"/>
          <p:cNvSpPr/>
          <p:nvPr/>
        </p:nvSpPr>
        <p:spPr>
          <a:xfrm>
            <a:off x="4754880" y="2130552"/>
            <a:ext cx="4160520" cy="914400"/>
          </a:xfrm>
          <a:prstGeom prst="rect">
            <a:avLst/>
          </a:prstGeom>
          <a:solidFill>
            <a:srgbClr val="1B3A57"/>
          </a:solidFill>
          <a:ln w="12700">
            <a:solidFill>
              <a:srgbClr val="1B3A57"/>
            </a:solidFill>
            <a:prstDash val="solid"/>
          </a:ln>
          <a:effectLst>
            <a:outerShdw sx="100000" sy="100000" kx="0" ky="0" algn="bl" rotWithShape="0" blurRad="101600" dist="25400" dir="8100000">
              <a:srgbClr val="000000">
                <a:alpha val="10000"/>
              </a:srgbClr>
            </a:outerShdw>
          </a:effectLst>
        </p:spPr>
      </p:sp>
      <p:sp>
        <p:nvSpPr>
          <p:cNvPr id="21" name="Text 19"/>
          <p:cNvSpPr/>
          <p:nvPr/>
        </p:nvSpPr>
        <p:spPr>
          <a:xfrm>
            <a:off x="4846320" y="2267712"/>
            <a:ext cx="54864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5440680" y="2203704"/>
            <a:ext cx="3291840" cy="347472"/>
          </a:xfrm>
          <a:prstGeom prst="rect">
            <a:avLst/>
          </a:prstGeom>
          <a:noFill/>
          <a:ln/>
        </p:spPr>
        <p:txBody>
          <a:bodyPr wrap="square" rtlCol="0" anchor="ctr"/>
          <a:lstStyle/>
          <a:p>
            <a:pPr indent="0" marL="0">
              <a:buNone/>
            </a:pPr>
            <a:r>
              <a:rPr lang="en-US" sz="1300" b="1" dirty="0">
                <a:solidFill>
                  <a:srgbClr val="2A9D5C"/>
                </a:solidFill>
                <a:latin typeface="Arial Black" pitchFamily="34" charset="0"/>
                <a:ea typeface="Arial Black" pitchFamily="34" charset="-122"/>
                <a:cs typeface="Arial Black" pitchFamily="34" charset="-120"/>
              </a:rPr>
              <a:t>When time is short</a:t>
            </a:r>
            <a:endParaRPr lang="en-US" sz="1300" dirty="0"/>
          </a:p>
        </p:txBody>
      </p:sp>
      <p:sp>
        <p:nvSpPr>
          <p:cNvPr id="23" name="Text 21"/>
          <p:cNvSpPr/>
          <p:nvPr/>
        </p:nvSpPr>
        <p:spPr>
          <a:xfrm>
            <a:off x="5440680" y="2523744"/>
            <a:ext cx="3291840"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Something's broken at 9pm before a Saturday competition. Punk rock engineering is the only option.</a:t>
            </a:r>
            <a:endParaRPr lang="en-US" sz="1100" dirty="0"/>
          </a:p>
        </p:txBody>
      </p:sp>
      <p:sp>
        <p:nvSpPr>
          <p:cNvPr id="24" name="Text 22"/>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E63946"/>
          </a:solidFill>
          <a:ln w="12700">
            <a:solidFill>
              <a:srgbClr val="E63946"/>
            </a:solidFill>
            <a:prstDash val="solid"/>
          </a:ln>
        </p:spPr>
      </p:sp>
      <p:sp>
        <p:nvSpPr>
          <p:cNvPr id="3" name="Text 1"/>
          <p:cNvSpPr/>
          <p:nvPr/>
        </p:nvSpPr>
        <p:spPr>
          <a:xfrm>
            <a:off x="457200" y="228600"/>
            <a:ext cx="8229600" cy="731520"/>
          </a:xfrm>
          <a:prstGeom prst="rect">
            <a:avLst/>
          </a:prstGeom>
          <a:noFill/>
          <a:ln/>
        </p:spPr>
        <p:txBody>
          <a:bodyPr wrap="square" rtlCol="0" anchor="ctr"/>
          <a:lstStyle/>
          <a:p>
            <a:pPr indent="0" marL="0">
              <a:buNone/>
            </a:pPr>
            <a:r>
              <a:rPr lang="en-US" sz="2800" b="1" dirty="0">
                <a:solidFill>
                  <a:srgbClr val="E63946"/>
                </a:solidFill>
                <a:latin typeface="Arial Black" pitchFamily="34" charset="0"/>
                <a:ea typeface="Arial Black" pitchFamily="34" charset="-122"/>
                <a:cs typeface="Arial Black" pitchFamily="34" charset="-120"/>
              </a:rPr>
              <a:t>🚫  WHEN NOT TO GO PUNK ROCK</a:t>
            </a:r>
            <a:endParaRPr lang="en-US" sz="2800" dirty="0"/>
          </a:p>
        </p:txBody>
      </p:sp>
      <p:sp>
        <p:nvSpPr>
          <p:cNvPr id="4" name="Shape 2"/>
          <p:cNvSpPr/>
          <p:nvPr/>
        </p:nvSpPr>
        <p:spPr>
          <a:xfrm>
            <a:off x="320040" y="1051560"/>
            <a:ext cx="4160520" cy="914400"/>
          </a:xfrm>
          <a:prstGeom prst="rect">
            <a:avLst/>
          </a:prstGeom>
          <a:solidFill>
            <a:srgbClr val="2A0D0D"/>
          </a:solidFill>
          <a:ln w="12700">
            <a:solidFill>
              <a:srgbClr val="2A0D0D"/>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411480" y="1188720"/>
            <a:ext cx="54864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1005840" y="1124712"/>
            <a:ext cx="3291840" cy="347472"/>
          </a:xfrm>
          <a:prstGeom prst="rect">
            <a:avLst/>
          </a:prstGeom>
          <a:noFill/>
          <a:ln/>
        </p:spPr>
        <p:txBody>
          <a:bodyPr wrap="square" rtlCol="0" anchor="ctr"/>
          <a:lstStyle/>
          <a:p>
            <a:pPr indent="0" marL="0">
              <a:buNone/>
            </a:pPr>
            <a:r>
              <a:rPr lang="en-US" sz="1300" b="1" dirty="0">
                <a:solidFill>
                  <a:srgbClr val="E63946"/>
                </a:solidFill>
                <a:latin typeface="Arial Black" pitchFamily="34" charset="0"/>
                <a:ea typeface="Arial Black" pitchFamily="34" charset="-122"/>
                <a:cs typeface="Arial Black" pitchFamily="34" charset="-120"/>
              </a:rPr>
              <a:t>Your final competition robot</a:t>
            </a:r>
            <a:endParaRPr lang="en-US" sz="1300" dirty="0"/>
          </a:p>
        </p:txBody>
      </p:sp>
      <p:sp>
        <p:nvSpPr>
          <p:cNvPr id="7" name="Text 5"/>
          <p:cNvSpPr/>
          <p:nvPr/>
        </p:nvSpPr>
        <p:spPr>
          <a:xfrm>
            <a:off x="1005840" y="1444752"/>
            <a:ext cx="3291840"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You've tested concepts. Now apply rigor. A robot that fails at competition due to sloppy design costs you qualification points.</a:t>
            </a:r>
            <a:endParaRPr lang="en-US" sz="1100" dirty="0"/>
          </a:p>
        </p:txBody>
      </p:sp>
      <p:sp>
        <p:nvSpPr>
          <p:cNvPr id="8" name="Shape 6"/>
          <p:cNvSpPr/>
          <p:nvPr/>
        </p:nvSpPr>
        <p:spPr>
          <a:xfrm>
            <a:off x="320040" y="2130552"/>
            <a:ext cx="4160520" cy="914400"/>
          </a:xfrm>
          <a:prstGeom prst="rect">
            <a:avLst/>
          </a:prstGeom>
          <a:solidFill>
            <a:srgbClr val="2A0D0D"/>
          </a:solidFill>
          <a:ln w="12700">
            <a:solidFill>
              <a:srgbClr val="2A0D0D"/>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411480" y="2267712"/>
            <a:ext cx="54864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1005840" y="2203704"/>
            <a:ext cx="3291840" cy="347472"/>
          </a:xfrm>
          <a:prstGeom prst="rect">
            <a:avLst/>
          </a:prstGeom>
          <a:noFill/>
          <a:ln/>
        </p:spPr>
        <p:txBody>
          <a:bodyPr wrap="square" rtlCol="0" anchor="ctr"/>
          <a:lstStyle/>
          <a:p>
            <a:pPr indent="0" marL="0">
              <a:buNone/>
            </a:pPr>
            <a:r>
              <a:rPr lang="en-US" sz="1300" b="1" dirty="0">
                <a:solidFill>
                  <a:srgbClr val="E63946"/>
                </a:solidFill>
                <a:latin typeface="Arial Black" pitchFamily="34" charset="0"/>
                <a:ea typeface="Arial Black" pitchFamily="34" charset="-122"/>
                <a:cs typeface="Arial Black" pitchFamily="34" charset="-120"/>
              </a:rPr>
              <a:t>Load-bearing / structural systems</a:t>
            </a:r>
            <a:endParaRPr lang="en-US" sz="1300" dirty="0"/>
          </a:p>
        </p:txBody>
      </p:sp>
      <p:sp>
        <p:nvSpPr>
          <p:cNvPr id="11" name="Text 9"/>
          <p:cNvSpPr/>
          <p:nvPr/>
        </p:nvSpPr>
        <p:spPr>
          <a:xfrm>
            <a:off x="1005840" y="2523744"/>
            <a:ext cx="3291840"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Elevators, arms, climbers. If it could hit someone when it fails, run the calculations.</a:t>
            </a:r>
            <a:endParaRPr lang="en-US" sz="1100" dirty="0"/>
          </a:p>
        </p:txBody>
      </p:sp>
      <p:sp>
        <p:nvSpPr>
          <p:cNvPr id="12" name="Shape 10"/>
          <p:cNvSpPr/>
          <p:nvPr/>
        </p:nvSpPr>
        <p:spPr>
          <a:xfrm>
            <a:off x="320040" y="3209544"/>
            <a:ext cx="4160520" cy="914400"/>
          </a:xfrm>
          <a:prstGeom prst="rect">
            <a:avLst/>
          </a:prstGeom>
          <a:solidFill>
            <a:srgbClr val="2A0D0D"/>
          </a:solidFill>
          <a:ln w="12700">
            <a:solidFill>
              <a:srgbClr val="2A0D0D"/>
            </a:solidFill>
            <a:prstDash val="solid"/>
          </a:ln>
          <a:effectLst>
            <a:outerShdw sx="100000" sy="100000" kx="0" ky="0" algn="bl" rotWithShape="0" blurRad="101600" dist="25400" dir="8100000">
              <a:srgbClr val="000000">
                <a:alpha val="10000"/>
              </a:srgbClr>
            </a:outerShdw>
          </a:effectLst>
        </p:spPr>
      </p:sp>
      <p:sp>
        <p:nvSpPr>
          <p:cNvPr id="13" name="Text 11"/>
          <p:cNvSpPr/>
          <p:nvPr/>
        </p:nvSpPr>
        <p:spPr>
          <a:xfrm>
            <a:off x="411480" y="3346704"/>
            <a:ext cx="54864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1005840" y="3282696"/>
            <a:ext cx="3291840" cy="347472"/>
          </a:xfrm>
          <a:prstGeom prst="rect">
            <a:avLst/>
          </a:prstGeom>
          <a:noFill/>
          <a:ln/>
        </p:spPr>
        <p:txBody>
          <a:bodyPr wrap="square" rtlCol="0" anchor="ctr"/>
          <a:lstStyle/>
          <a:p>
            <a:pPr indent="0" marL="0">
              <a:buNone/>
            </a:pPr>
            <a:r>
              <a:rPr lang="en-US" sz="1300" b="1" dirty="0">
                <a:solidFill>
                  <a:srgbClr val="E63946"/>
                </a:solidFill>
                <a:latin typeface="Arial Black" pitchFamily="34" charset="0"/>
                <a:ea typeface="Arial Black" pitchFamily="34" charset="-122"/>
                <a:cs typeface="Arial Black" pitchFamily="34" charset="-120"/>
              </a:rPr>
              <a:t>Electrical systems &amp; wiring</a:t>
            </a:r>
            <a:endParaRPr lang="en-US" sz="1300" dirty="0"/>
          </a:p>
        </p:txBody>
      </p:sp>
      <p:sp>
        <p:nvSpPr>
          <p:cNvPr id="15" name="Text 13"/>
          <p:cNvSpPr/>
          <p:nvPr/>
        </p:nvSpPr>
        <p:spPr>
          <a:xfrm>
            <a:off x="1005840" y="3602736"/>
            <a:ext cx="3291840"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Shorts, heat, fire. The engineering process exists here for very good reasons.</a:t>
            </a:r>
            <a:endParaRPr lang="en-US" sz="1100" dirty="0"/>
          </a:p>
        </p:txBody>
      </p:sp>
      <p:sp>
        <p:nvSpPr>
          <p:cNvPr id="16" name="Shape 14"/>
          <p:cNvSpPr/>
          <p:nvPr/>
        </p:nvSpPr>
        <p:spPr>
          <a:xfrm>
            <a:off x="4754880" y="1051560"/>
            <a:ext cx="4160520" cy="914400"/>
          </a:xfrm>
          <a:prstGeom prst="rect">
            <a:avLst/>
          </a:prstGeom>
          <a:solidFill>
            <a:srgbClr val="2A0D0D"/>
          </a:solidFill>
          <a:ln w="12700">
            <a:solidFill>
              <a:srgbClr val="2A0D0D"/>
            </a:solidFill>
            <a:prstDash val="solid"/>
          </a:ln>
          <a:effectLst>
            <a:outerShdw sx="100000" sy="100000" kx="0" ky="0" algn="bl" rotWithShape="0" blurRad="101600" dist="25400" dir="8100000">
              <a:srgbClr val="000000">
                <a:alpha val="10000"/>
              </a:srgbClr>
            </a:outerShdw>
          </a:effectLst>
        </p:spPr>
      </p:sp>
      <p:sp>
        <p:nvSpPr>
          <p:cNvPr id="17" name="Text 15"/>
          <p:cNvSpPr/>
          <p:nvPr/>
        </p:nvSpPr>
        <p:spPr>
          <a:xfrm>
            <a:off x="4846320" y="1188720"/>
            <a:ext cx="54864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5440680" y="1124712"/>
            <a:ext cx="3291840" cy="347472"/>
          </a:xfrm>
          <a:prstGeom prst="rect">
            <a:avLst/>
          </a:prstGeom>
          <a:noFill/>
          <a:ln/>
        </p:spPr>
        <p:txBody>
          <a:bodyPr wrap="square" rtlCol="0" anchor="ctr"/>
          <a:lstStyle/>
          <a:p>
            <a:pPr indent="0" marL="0">
              <a:buNone/>
            </a:pPr>
            <a:r>
              <a:rPr lang="en-US" sz="1300" b="1" dirty="0">
                <a:solidFill>
                  <a:srgbClr val="E63946"/>
                </a:solidFill>
                <a:latin typeface="Arial Black" pitchFamily="34" charset="0"/>
                <a:ea typeface="Arial Black" pitchFamily="34" charset="-122"/>
                <a:cs typeface="Arial Black" pitchFamily="34" charset="-120"/>
              </a:rPr>
              <a:t>Your real job (eventually)</a:t>
            </a:r>
            <a:endParaRPr lang="en-US" sz="1300" dirty="0"/>
          </a:p>
        </p:txBody>
      </p:sp>
      <p:sp>
        <p:nvSpPr>
          <p:cNvPr id="19" name="Text 17"/>
          <p:cNvSpPr/>
          <p:nvPr/>
        </p:nvSpPr>
        <p:spPr>
          <a:xfrm>
            <a:off x="5440680" y="1444752"/>
            <a:ext cx="3291840"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Boeing, SpaceX, your local hospital. Society depends on engineers who follow the process. Save punk rock for personal projects.</a:t>
            </a:r>
            <a:endParaRPr lang="en-US" sz="1100" dirty="0"/>
          </a:p>
        </p:txBody>
      </p:sp>
      <p:sp>
        <p:nvSpPr>
          <p:cNvPr id="20" name="Shape 18"/>
          <p:cNvSpPr/>
          <p:nvPr/>
        </p:nvSpPr>
        <p:spPr>
          <a:xfrm>
            <a:off x="4754880" y="2130552"/>
            <a:ext cx="4160520" cy="914400"/>
          </a:xfrm>
          <a:prstGeom prst="rect">
            <a:avLst/>
          </a:prstGeom>
          <a:solidFill>
            <a:srgbClr val="2A0D0D"/>
          </a:solidFill>
          <a:ln w="12700">
            <a:solidFill>
              <a:srgbClr val="2A0D0D"/>
            </a:solidFill>
            <a:prstDash val="solid"/>
          </a:ln>
          <a:effectLst>
            <a:outerShdw sx="100000" sy="100000" kx="0" ky="0" algn="bl" rotWithShape="0" blurRad="101600" dist="25400" dir="8100000">
              <a:srgbClr val="000000">
                <a:alpha val="10000"/>
              </a:srgbClr>
            </a:outerShdw>
          </a:effectLst>
        </p:spPr>
      </p:sp>
      <p:sp>
        <p:nvSpPr>
          <p:cNvPr id="21" name="Text 19"/>
          <p:cNvSpPr/>
          <p:nvPr/>
        </p:nvSpPr>
        <p:spPr>
          <a:xfrm>
            <a:off x="4846320" y="2267712"/>
            <a:ext cx="54864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5440680" y="2203704"/>
            <a:ext cx="3291840" cy="347472"/>
          </a:xfrm>
          <a:prstGeom prst="rect">
            <a:avLst/>
          </a:prstGeom>
          <a:noFill/>
          <a:ln/>
        </p:spPr>
        <p:txBody>
          <a:bodyPr wrap="square" rtlCol="0" anchor="ctr"/>
          <a:lstStyle/>
          <a:p>
            <a:pPr indent="0" marL="0">
              <a:buNone/>
            </a:pPr>
            <a:r>
              <a:rPr lang="en-US" sz="1300" b="1" dirty="0">
                <a:solidFill>
                  <a:srgbClr val="E63946"/>
                </a:solidFill>
                <a:latin typeface="Arial Black" pitchFamily="34" charset="0"/>
                <a:ea typeface="Arial Black" pitchFamily="34" charset="-122"/>
                <a:cs typeface="Arial Black" pitchFamily="34" charset="-120"/>
              </a:rPr>
              <a:t>Expensive or one-of-a-kind parts</a:t>
            </a:r>
            <a:endParaRPr lang="en-US" sz="1300" dirty="0"/>
          </a:p>
        </p:txBody>
      </p:sp>
      <p:sp>
        <p:nvSpPr>
          <p:cNvPr id="23" name="Text 21"/>
          <p:cNvSpPr/>
          <p:nvPr/>
        </p:nvSpPr>
        <p:spPr>
          <a:xfrm>
            <a:off x="5440680" y="2523744"/>
            <a:ext cx="3291840"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Custom machined parts, sponsored hardware, anything that takes 2 weeks to replace. Simulate first.</a:t>
            </a:r>
            <a:endParaRPr lang="en-US" sz="1100" dirty="0"/>
          </a:p>
        </p:txBody>
      </p:sp>
      <p:sp>
        <p:nvSpPr>
          <p:cNvPr id="24" name="Text 22"/>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5A623"/>
          </a:solidFill>
          <a:ln w="12700">
            <a:solidFill>
              <a:srgbClr val="F5A623"/>
            </a:solidFill>
            <a:prstDash val="solid"/>
          </a:ln>
        </p:spPr>
      </p:sp>
      <p:sp>
        <p:nvSpPr>
          <p:cNvPr id="3" name="Text 1"/>
          <p:cNvSpPr/>
          <p:nvPr/>
        </p:nvSpPr>
        <p:spPr>
          <a:xfrm>
            <a:off x="457200" y="228600"/>
            <a:ext cx="8229600" cy="731520"/>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The Real Takeaway</a:t>
            </a:r>
            <a:endParaRPr lang="en-US" sz="3000" dirty="0"/>
          </a:p>
        </p:txBody>
      </p:sp>
      <p:sp>
        <p:nvSpPr>
          <p:cNvPr id="4" name="Shape 2"/>
          <p:cNvSpPr/>
          <p:nvPr/>
        </p:nvSpPr>
        <p:spPr>
          <a:xfrm>
            <a:off x="320040" y="1005840"/>
            <a:ext cx="594360" cy="594360"/>
          </a:xfrm>
          <a:prstGeom prst="rect">
            <a:avLst/>
          </a:prstGeom>
          <a:solidFill>
            <a:srgbClr val="F5A623"/>
          </a:solidFill>
          <a:ln w="12700">
            <a:solidFill>
              <a:srgbClr val="F5A623"/>
            </a:solidFill>
            <a:prstDash val="solid"/>
          </a:ln>
        </p:spPr>
      </p:sp>
      <p:sp>
        <p:nvSpPr>
          <p:cNvPr id="5" name="Text 3"/>
          <p:cNvSpPr/>
          <p:nvPr/>
        </p:nvSpPr>
        <p:spPr>
          <a:xfrm>
            <a:off x="320040" y="1005840"/>
            <a:ext cx="594360" cy="594360"/>
          </a:xfrm>
          <a:prstGeom prst="rect">
            <a:avLst/>
          </a:prstGeom>
          <a:noFill/>
          <a:ln/>
        </p:spPr>
        <p:txBody>
          <a:bodyPr wrap="square" rtlCol="0" anchor="ctr"/>
          <a:lstStyle/>
          <a:p>
            <a:pPr algn="ctr" indent="0" marL="0">
              <a:buNone/>
            </a:pPr>
            <a:r>
              <a:rPr lang="en-US" sz="1800" b="1" dirty="0">
                <a:solidFill>
                  <a:srgbClr val="0D1B2A"/>
                </a:solidFill>
                <a:latin typeface="Arial Black" pitchFamily="34" charset="0"/>
                <a:ea typeface="Arial Black" pitchFamily="34" charset="-122"/>
                <a:cs typeface="Arial Black" pitchFamily="34" charset="-120"/>
              </a:rPr>
              <a:t>01</a:t>
            </a:r>
            <a:endParaRPr lang="en-US" sz="1800" dirty="0"/>
          </a:p>
        </p:txBody>
      </p:sp>
      <p:sp>
        <p:nvSpPr>
          <p:cNvPr id="6" name="Text 4"/>
          <p:cNvSpPr/>
          <p:nvPr/>
        </p:nvSpPr>
        <p:spPr>
          <a:xfrm>
            <a:off x="1051560" y="1024128"/>
            <a:ext cx="7589520" cy="411480"/>
          </a:xfrm>
          <a:prstGeom prst="rect">
            <a:avLst/>
          </a:prstGeom>
          <a:noFill/>
          <a:ln/>
        </p:spPr>
        <p:txBody>
          <a:bodyPr wrap="square"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Hesitate less.</a:t>
            </a:r>
            <a:endParaRPr lang="en-US" sz="1800" dirty="0"/>
          </a:p>
        </p:txBody>
      </p:sp>
      <p:sp>
        <p:nvSpPr>
          <p:cNvPr id="7" name="Text 5"/>
          <p:cNvSpPr/>
          <p:nvPr/>
        </p:nvSpPr>
        <p:spPr>
          <a:xfrm>
            <a:off x="1051560" y="1417320"/>
            <a:ext cx="7589520" cy="68580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Overthinking kills momentum. If you're stuck, build something — even if it's wrong. The build will tell you what to do next.</a:t>
            </a:r>
            <a:endParaRPr lang="en-US" sz="1300" dirty="0"/>
          </a:p>
        </p:txBody>
      </p:sp>
      <p:sp>
        <p:nvSpPr>
          <p:cNvPr id="8" name="Shape 6"/>
          <p:cNvSpPr/>
          <p:nvPr/>
        </p:nvSpPr>
        <p:spPr>
          <a:xfrm>
            <a:off x="320040" y="2286000"/>
            <a:ext cx="594360" cy="594360"/>
          </a:xfrm>
          <a:prstGeom prst="rect">
            <a:avLst/>
          </a:prstGeom>
          <a:solidFill>
            <a:srgbClr val="F5A623"/>
          </a:solidFill>
          <a:ln w="12700">
            <a:solidFill>
              <a:srgbClr val="F5A623"/>
            </a:solidFill>
            <a:prstDash val="solid"/>
          </a:ln>
        </p:spPr>
      </p:sp>
      <p:sp>
        <p:nvSpPr>
          <p:cNvPr id="9" name="Text 7"/>
          <p:cNvSpPr/>
          <p:nvPr/>
        </p:nvSpPr>
        <p:spPr>
          <a:xfrm>
            <a:off x="320040" y="2286000"/>
            <a:ext cx="594360" cy="594360"/>
          </a:xfrm>
          <a:prstGeom prst="rect">
            <a:avLst/>
          </a:prstGeom>
          <a:noFill/>
          <a:ln/>
        </p:spPr>
        <p:txBody>
          <a:bodyPr wrap="square" rtlCol="0" anchor="ctr"/>
          <a:lstStyle/>
          <a:p>
            <a:pPr algn="ctr" indent="0" marL="0">
              <a:buNone/>
            </a:pPr>
            <a:r>
              <a:rPr lang="en-US" sz="1800" b="1" dirty="0">
                <a:solidFill>
                  <a:srgbClr val="0D1B2A"/>
                </a:solidFill>
                <a:latin typeface="Arial Black" pitchFamily="34" charset="0"/>
                <a:ea typeface="Arial Black" pitchFamily="34" charset="-122"/>
                <a:cs typeface="Arial Black" pitchFamily="34" charset="-120"/>
              </a:rPr>
              <a:t>02</a:t>
            </a:r>
            <a:endParaRPr lang="en-US" sz="1800" dirty="0"/>
          </a:p>
        </p:txBody>
      </p:sp>
      <p:sp>
        <p:nvSpPr>
          <p:cNvPr id="10" name="Text 8"/>
          <p:cNvSpPr/>
          <p:nvPr/>
        </p:nvSpPr>
        <p:spPr>
          <a:xfrm>
            <a:off x="1051560" y="2304288"/>
            <a:ext cx="7589520" cy="411480"/>
          </a:xfrm>
          <a:prstGeom prst="rect">
            <a:avLst/>
          </a:prstGeom>
          <a:noFill/>
          <a:ln/>
        </p:spPr>
        <p:txBody>
          <a:bodyPr wrap="square"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Prototype more.</a:t>
            </a:r>
            <a:endParaRPr lang="en-US" sz="1800" dirty="0"/>
          </a:p>
        </p:txBody>
      </p:sp>
      <p:sp>
        <p:nvSpPr>
          <p:cNvPr id="11" name="Text 9"/>
          <p:cNvSpPr/>
          <p:nvPr/>
        </p:nvSpPr>
        <p:spPr>
          <a:xfrm>
            <a:off x="1051560" y="2697480"/>
            <a:ext cx="7589520" cy="68580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Every prototype teaches you something a simulation won't. The physical world is the ultimate test environment.</a:t>
            </a:r>
            <a:endParaRPr lang="en-US" sz="1300" dirty="0"/>
          </a:p>
        </p:txBody>
      </p:sp>
      <p:sp>
        <p:nvSpPr>
          <p:cNvPr id="12" name="Shape 10"/>
          <p:cNvSpPr/>
          <p:nvPr/>
        </p:nvSpPr>
        <p:spPr>
          <a:xfrm>
            <a:off x="320040" y="3566160"/>
            <a:ext cx="594360" cy="594360"/>
          </a:xfrm>
          <a:prstGeom prst="rect">
            <a:avLst/>
          </a:prstGeom>
          <a:solidFill>
            <a:srgbClr val="F5A623"/>
          </a:solidFill>
          <a:ln w="12700">
            <a:solidFill>
              <a:srgbClr val="F5A623"/>
            </a:solidFill>
            <a:prstDash val="solid"/>
          </a:ln>
        </p:spPr>
      </p:sp>
      <p:sp>
        <p:nvSpPr>
          <p:cNvPr id="13" name="Text 11"/>
          <p:cNvSpPr/>
          <p:nvPr/>
        </p:nvSpPr>
        <p:spPr>
          <a:xfrm>
            <a:off x="320040" y="3566160"/>
            <a:ext cx="594360" cy="594360"/>
          </a:xfrm>
          <a:prstGeom prst="rect">
            <a:avLst/>
          </a:prstGeom>
          <a:noFill/>
          <a:ln/>
        </p:spPr>
        <p:txBody>
          <a:bodyPr wrap="square" rtlCol="0" anchor="ctr"/>
          <a:lstStyle/>
          <a:p>
            <a:pPr algn="ctr" indent="0" marL="0">
              <a:buNone/>
            </a:pPr>
            <a:r>
              <a:rPr lang="en-US" sz="1800" b="1" dirty="0">
                <a:solidFill>
                  <a:srgbClr val="0D1B2A"/>
                </a:solidFill>
                <a:latin typeface="Arial Black" pitchFamily="34" charset="0"/>
                <a:ea typeface="Arial Black" pitchFamily="34" charset="-122"/>
                <a:cs typeface="Arial Black" pitchFamily="34" charset="-120"/>
              </a:rPr>
              <a:t>03</a:t>
            </a:r>
            <a:endParaRPr lang="en-US" sz="1800" dirty="0"/>
          </a:p>
        </p:txBody>
      </p:sp>
      <p:sp>
        <p:nvSpPr>
          <p:cNvPr id="14" name="Text 12"/>
          <p:cNvSpPr/>
          <p:nvPr/>
        </p:nvSpPr>
        <p:spPr>
          <a:xfrm>
            <a:off x="1051560" y="3584448"/>
            <a:ext cx="7589520" cy="411480"/>
          </a:xfrm>
          <a:prstGeom prst="rect">
            <a:avLst/>
          </a:prstGeom>
          <a:noFill/>
          <a:ln/>
        </p:spPr>
        <p:txBody>
          <a:bodyPr wrap="square"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Know when to switch gears.</a:t>
            </a:r>
            <a:endParaRPr lang="en-US" sz="1800" dirty="0"/>
          </a:p>
        </p:txBody>
      </p:sp>
      <p:sp>
        <p:nvSpPr>
          <p:cNvPr id="15" name="Text 13"/>
          <p:cNvSpPr/>
          <p:nvPr/>
        </p:nvSpPr>
        <p:spPr>
          <a:xfrm>
            <a:off x="1051560" y="3977640"/>
            <a:ext cx="7589520" cy="68580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Punk rock is for exploration. Traditional engineering is for execution. Great engineers do both — and know which mode they're in.</a:t>
            </a:r>
            <a:endParaRPr lang="en-US" sz="1300" dirty="0"/>
          </a:p>
        </p:txBody>
      </p:sp>
      <p:sp>
        <p:nvSpPr>
          <p:cNvPr id="16" name="Text 14"/>
          <p:cNvSpPr/>
          <p:nvPr/>
        </p:nvSpPr>
        <p:spPr>
          <a:xfrm>
            <a:off x="457200" y="4663440"/>
            <a:ext cx="8229600" cy="365760"/>
          </a:xfrm>
          <a:prstGeom prst="rect">
            <a:avLst/>
          </a:prstGeom>
          <a:noFill/>
          <a:ln/>
        </p:spPr>
        <p:txBody>
          <a:bodyPr wrap="square" rtlCol="0" anchor="ctr"/>
          <a:lstStyle/>
          <a:p>
            <a:pPr algn="ctr" indent="0" marL="0">
              <a:buNone/>
            </a:pPr>
            <a:r>
              <a:rPr lang="en-US" sz="1300" b="1" i="1" dirty="0">
                <a:solidFill>
                  <a:srgbClr val="F5A623"/>
                </a:solidFill>
                <a:latin typeface="Calibri" pitchFamily="34" charset="0"/>
                <a:ea typeface="Calibri" pitchFamily="34" charset="-122"/>
                <a:cs typeface="Calibri" pitchFamily="34" charset="-120"/>
              </a:rPr>
              <a:t>Both approaches are engineering. Neither one alone makes a great engineer.</a:t>
            </a:r>
            <a:endParaRPr lang="en-US" sz="1300" dirty="0"/>
          </a:p>
        </p:txBody>
      </p:sp>
      <p:sp>
        <p:nvSpPr>
          <p:cNvPr id="17" name="Text 15"/>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5A623"/>
          </a:solidFill>
          <a:ln w="12700">
            <a:solidFill>
              <a:srgbClr val="F5A623"/>
            </a:solidFill>
            <a:prstDash val="solid"/>
          </a:ln>
        </p:spPr>
      </p:sp>
      <p:sp>
        <p:nvSpPr>
          <p:cNvPr id="3" name="Text 1"/>
          <p:cNvSpPr/>
          <p:nvPr/>
        </p:nvSpPr>
        <p:spPr>
          <a:xfrm>
            <a:off x="457200" y="228600"/>
            <a:ext cx="8229600" cy="731520"/>
          </a:xfrm>
          <a:prstGeom prst="rect">
            <a:avLst/>
          </a:prstGeom>
          <a:noFill/>
          <a:ln/>
        </p:spPr>
        <p:txBody>
          <a:bodyPr wrap="square" rtlCol="0" anchor="ctr"/>
          <a:lstStyle/>
          <a:p>
            <a:pPr indent="0" marL="0">
              <a:buNone/>
            </a:pPr>
            <a:r>
              <a:rPr lang="en-US" sz="3000" b="1" dirty="0">
                <a:solidFill>
                  <a:srgbClr val="0D1B2A"/>
                </a:solidFill>
                <a:latin typeface="Arial Black" pitchFamily="34" charset="0"/>
                <a:ea typeface="Arial Black" pitchFamily="34" charset="-122"/>
                <a:cs typeface="Arial Black" pitchFamily="34" charset="-120"/>
              </a:rPr>
              <a:t>Discussion &amp; Activity</a:t>
            </a:r>
            <a:endParaRPr lang="en-US" sz="3000" dirty="0"/>
          </a:p>
        </p:txBody>
      </p:sp>
      <p:sp>
        <p:nvSpPr>
          <p:cNvPr id="4" name="Text 2"/>
          <p:cNvSpPr/>
          <p:nvPr/>
        </p:nvSpPr>
        <p:spPr>
          <a:xfrm>
            <a:off x="457200" y="868680"/>
            <a:ext cx="8229600" cy="365760"/>
          </a:xfrm>
          <a:prstGeom prst="rect">
            <a:avLst/>
          </a:prstGeom>
          <a:noFill/>
          <a:ln/>
        </p:spPr>
        <p:txBody>
          <a:bodyPr wrap="square" rtlCol="0" anchor="ctr"/>
          <a:lstStyle/>
          <a:p>
            <a:pPr indent="0" marL="0">
              <a:buNone/>
            </a:pPr>
            <a:r>
              <a:rPr lang="en-US" sz="1400" b="1" i="1" dirty="0">
                <a:solidFill>
                  <a:srgbClr val="4A5568"/>
                </a:solidFill>
                <a:latin typeface="Calibri" pitchFamily="34" charset="0"/>
                <a:ea typeface="Calibri" pitchFamily="34" charset="-122"/>
                <a:cs typeface="Calibri" pitchFamily="34" charset="-120"/>
              </a:rPr>
              <a:t>Group Exercise — 5 Minutes</a:t>
            </a:r>
            <a:endParaRPr lang="en-US" sz="1400" dirty="0"/>
          </a:p>
        </p:txBody>
      </p:sp>
      <p:sp>
        <p:nvSpPr>
          <p:cNvPr id="5" name="Shape 3"/>
          <p:cNvSpPr/>
          <p:nvPr/>
        </p:nvSpPr>
        <p:spPr>
          <a:xfrm>
            <a:off x="365760" y="1325880"/>
            <a:ext cx="8412480" cy="1005840"/>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6" name="Shape 4"/>
          <p:cNvSpPr/>
          <p:nvPr/>
        </p:nvSpPr>
        <p:spPr>
          <a:xfrm>
            <a:off x="411480" y="1417320"/>
            <a:ext cx="411480" cy="411480"/>
          </a:xfrm>
          <a:prstGeom prst="ellipse">
            <a:avLst/>
          </a:prstGeom>
          <a:solidFill>
            <a:srgbClr val="F5A623"/>
          </a:solidFill>
          <a:ln w="12700">
            <a:solidFill>
              <a:srgbClr val="F5A623"/>
            </a:solidFill>
            <a:prstDash val="solid"/>
          </a:ln>
        </p:spPr>
      </p:sp>
      <p:sp>
        <p:nvSpPr>
          <p:cNvPr id="7" name="Text 5"/>
          <p:cNvSpPr/>
          <p:nvPr/>
        </p:nvSpPr>
        <p:spPr>
          <a:xfrm>
            <a:off x="411480" y="1417320"/>
            <a:ext cx="411480" cy="411480"/>
          </a:xfrm>
          <a:prstGeom prst="rect">
            <a:avLst/>
          </a:prstGeom>
          <a:noFill/>
          <a:ln/>
        </p:spPr>
        <p:txBody>
          <a:bodyPr wrap="square" rtlCol="0" anchor="ctr"/>
          <a:lstStyle/>
          <a:p>
            <a:pPr algn="ctr" indent="0" marL="0">
              <a:buNone/>
            </a:pPr>
            <a:r>
              <a:rPr lang="en-US" sz="1500" b="1" dirty="0">
                <a:solidFill>
                  <a:srgbClr val="0D1B2A"/>
                </a:solidFill>
                <a:latin typeface="Arial Black" pitchFamily="34" charset="0"/>
                <a:ea typeface="Arial Black" pitchFamily="34" charset="-122"/>
                <a:cs typeface="Arial Black" pitchFamily="34" charset="-120"/>
              </a:rPr>
              <a:t>1</a:t>
            </a:r>
            <a:endParaRPr lang="en-US" sz="1500" dirty="0"/>
          </a:p>
        </p:txBody>
      </p:sp>
      <p:sp>
        <p:nvSpPr>
          <p:cNvPr id="8" name="Text 6"/>
          <p:cNvSpPr/>
          <p:nvPr/>
        </p:nvSpPr>
        <p:spPr>
          <a:xfrm>
            <a:off x="960120" y="1371600"/>
            <a:ext cx="7498080" cy="960120"/>
          </a:xfrm>
          <a:prstGeom prst="rect">
            <a:avLst/>
          </a:prstGeom>
          <a:noFill/>
          <a:ln/>
        </p:spPr>
        <p:txBody>
          <a:bodyPr wrap="square" rtlCol="0" anchor="ctr"/>
          <a:lstStyle/>
          <a:p>
            <a:pPr indent="0" marL="0">
              <a:buNone/>
            </a:pPr>
            <a:r>
              <a:rPr lang="en-US" sz="1350" dirty="0">
                <a:solidFill>
                  <a:srgbClr val="0D1B2A"/>
                </a:solidFill>
                <a:latin typeface="Calibri" pitchFamily="34" charset="0"/>
                <a:ea typeface="Calibri" pitchFamily="34" charset="-122"/>
                <a:cs typeface="Calibri" pitchFamily="34" charset="-120"/>
              </a:rPr>
              <a:t>Think of a time you were stuck on a design decision. What was holding you back? How could a quick prototype have helped?</a:t>
            </a:r>
            <a:endParaRPr lang="en-US" sz="1350" dirty="0"/>
          </a:p>
        </p:txBody>
      </p:sp>
      <p:sp>
        <p:nvSpPr>
          <p:cNvPr id="9" name="Shape 7"/>
          <p:cNvSpPr/>
          <p:nvPr/>
        </p:nvSpPr>
        <p:spPr>
          <a:xfrm>
            <a:off x="365760" y="2468880"/>
            <a:ext cx="8412480" cy="1005840"/>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11480" y="2560320"/>
            <a:ext cx="411480" cy="411480"/>
          </a:xfrm>
          <a:prstGeom prst="ellipse">
            <a:avLst/>
          </a:prstGeom>
          <a:solidFill>
            <a:srgbClr val="F5A623"/>
          </a:solidFill>
          <a:ln w="12700">
            <a:solidFill>
              <a:srgbClr val="F5A623"/>
            </a:solidFill>
            <a:prstDash val="solid"/>
          </a:ln>
        </p:spPr>
      </p:sp>
      <p:sp>
        <p:nvSpPr>
          <p:cNvPr id="11" name="Text 9"/>
          <p:cNvSpPr/>
          <p:nvPr/>
        </p:nvSpPr>
        <p:spPr>
          <a:xfrm>
            <a:off x="411480" y="2560320"/>
            <a:ext cx="411480" cy="411480"/>
          </a:xfrm>
          <a:prstGeom prst="rect">
            <a:avLst/>
          </a:prstGeom>
          <a:noFill/>
          <a:ln/>
        </p:spPr>
        <p:txBody>
          <a:bodyPr wrap="square" rtlCol="0" anchor="ctr"/>
          <a:lstStyle/>
          <a:p>
            <a:pPr algn="ctr" indent="0" marL="0">
              <a:buNone/>
            </a:pPr>
            <a:r>
              <a:rPr lang="en-US" sz="1500" b="1" dirty="0">
                <a:solidFill>
                  <a:srgbClr val="0D1B2A"/>
                </a:solidFill>
                <a:latin typeface="Arial Black" pitchFamily="34" charset="0"/>
                <a:ea typeface="Arial Black" pitchFamily="34" charset="-122"/>
                <a:cs typeface="Arial Black" pitchFamily="34" charset="-120"/>
              </a:rPr>
              <a:t>2</a:t>
            </a:r>
            <a:endParaRPr lang="en-US" sz="1500" dirty="0"/>
          </a:p>
        </p:txBody>
      </p:sp>
      <p:sp>
        <p:nvSpPr>
          <p:cNvPr id="12" name="Text 10"/>
          <p:cNvSpPr/>
          <p:nvPr/>
        </p:nvSpPr>
        <p:spPr>
          <a:xfrm>
            <a:off x="960120" y="2514600"/>
            <a:ext cx="7498080" cy="960120"/>
          </a:xfrm>
          <a:prstGeom prst="rect">
            <a:avLst/>
          </a:prstGeom>
          <a:noFill/>
          <a:ln/>
        </p:spPr>
        <p:txBody>
          <a:bodyPr wrap="square" rtlCol="0" anchor="ctr"/>
          <a:lstStyle/>
          <a:p>
            <a:pPr indent="0" marL="0">
              <a:buNone/>
            </a:pPr>
            <a:r>
              <a:rPr lang="en-US" sz="1350" dirty="0">
                <a:solidFill>
                  <a:srgbClr val="0D1B2A"/>
                </a:solidFill>
                <a:latin typeface="Calibri" pitchFamily="34" charset="0"/>
                <a:ea typeface="Calibri" pitchFamily="34" charset="-122"/>
                <a:cs typeface="Calibri" pitchFamily="34" charset="-120"/>
              </a:rPr>
              <a:t>This year's game: pick one subsystem. Which approach would you use first — traditional or punk rock? Why?</a:t>
            </a:r>
            <a:endParaRPr lang="en-US" sz="1350" dirty="0"/>
          </a:p>
        </p:txBody>
      </p:sp>
      <p:sp>
        <p:nvSpPr>
          <p:cNvPr id="13" name="Shape 11"/>
          <p:cNvSpPr/>
          <p:nvPr/>
        </p:nvSpPr>
        <p:spPr>
          <a:xfrm>
            <a:off x="365760" y="3611880"/>
            <a:ext cx="8412480" cy="1005840"/>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411480" y="3703320"/>
            <a:ext cx="411480" cy="411480"/>
          </a:xfrm>
          <a:prstGeom prst="ellipse">
            <a:avLst/>
          </a:prstGeom>
          <a:solidFill>
            <a:srgbClr val="F5A623"/>
          </a:solidFill>
          <a:ln w="12700">
            <a:solidFill>
              <a:srgbClr val="F5A623"/>
            </a:solidFill>
            <a:prstDash val="solid"/>
          </a:ln>
        </p:spPr>
      </p:sp>
      <p:sp>
        <p:nvSpPr>
          <p:cNvPr id="15" name="Text 13"/>
          <p:cNvSpPr/>
          <p:nvPr/>
        </p:nvSpPr>
        <p:spPr>
          <a:xfrm>
            <a:off x="411480" y="3703320"/>
            <a:ext cx="411480" cy="411480"/>
          </a:xfrm>
          <a:prstGeom prst="rect">
            <a:avLst/>
          </a:prstGeom>
          <a:noFill/>
          <a:ln/>
        </p:spPr>
        <p:txBody>
          <a:bodyPr wrap="square" rtlCol="0" anchor="ctr"/>
          <a:lstStyle/>
          <a:p>
            <a:pPr algn="ctr" indent="0" marL="0">
              <a:buNone/>
            </a:pPr>
            <a:r>
              <a:rPr lang="en-US" sz="1500" b="1" dirty="0">
                <a:solidFill>
                  <a:srgbClr val="0D1B2A"/>
                </a:solidFill>
                <a:latin typeface="Arial Black" pitchFamily="34" charset="0"/>
                <a:ea typeface="Arial Black" pitchFamily="34" charset="-122"/>
                <a:cs typeface="Arial Black" pitchFamily="34" charset="-120"/>
              </a:rPr>
              <a:t>3</a:t>
            </a:r>
            <a:endParaRPr lang="en-US" sz="1500" dirty="0"/>
          </a:p>
        </p:txBody>
      </p:sp>
      <p:sp>
        <p:nvSpPr>
          <p:cNvPr id="16" name="Text 14"/>
          <p:cNvSpPr/>
          <p:nvPr/>
        </p:nvSpPr>
        <p:spPr>
          <a:xfrm>
            <a:off x="960120" y="3657600"/>
            <a:ext cx="7498080" cy="960120"/>
          </a:xfrm>
          <a:prstGeom prst="rect">
            <a:avLst/>
          </a:prstGeom>
          <a:noFill/>
          <a:ln/>
        </p:spPr>
        <p:txBody>
          <a:bodyPr wrap="square" rtlCol="0" anchor="ctr"/>
          <a:lstStyle/>
          <a:p>
            <a:pPr indent="0" marL="0">
              <a:buNone/>
            </a:pPr>
            <a:r>
              <a:rPr lang="en-US" sz="1350" dirty="0">
                <a:solidFill>
                  <a:srgbClr val="0D1B2A"/>
                </a:solidFill>
                <a:latin typeface="Calibri" pitchFamily="34" charset="0"/>
                <a:ea typeface="Calibri" pitchFamily="34" charset="-122"/>
                <a:cs typeface="Calibri" pitchFamily="34" charset="-120"/>
              </a:rPr>
              <a:t>SuperfastMatt says he'd "rather just build something and see what happens, even knowing he might have to build it twice." Agree or disagree?</a:t>
            </a:r>
            <a:endParaRPr lang="en-US" sz="1350" dirty="0"/>
          </a:p>
        </p:txBody>
      </p:sp>
      <p:sp>
        <p:nvSpPr>
          <p:cNvPr id="17" name="Text 15"/>
          <p:cNvSpPr/>
          <p:nvPr/>
        </p:nvSpPr>
        <p:spPr>
          <a:xfrm>
            <a:off x="365760" y="4572000"/>
            <a:ext cx="8412480" cy="365760"/>
          </a:xfrm>
          <a:prstGeom prst="rect">
            <a:avLst/>
          </a:prstGeom>
          <a:noFill/>
          <a:ln/>
        </p:spPr>
        <p:txBody>
          <a:bodyPr wrap="square" rtlCol="0" anchor="ctr"/>
          <a:lstStyle/>
          <a:p>
            <a:pPr algn="ctr" indent="0" marL="0">
              <a:buNone/>
            </a:pPr>
            <a:r>
              <a:rPr lang="en-US" sz="1300" b="1" i="1" dirty="0">
                <a:solidFill>
                  <a:srgbClr val="1B6FD8"/>
                </a:solidFill>
                <a:latin typeface="Calibri" pitchFamily="34" charset="0"/>
                <a:ea typeface="Calibri" pitchFamily="34" charset="-122"/>
                <a:cs typeface="Calibri" pitchFamily="34" charset="-120"/>
              </a:rPr>
              <a:t>Then: as a team, write one sentence: "We will use punk rock engineering when __________."</a:t>
            </a:r>
            <a:endParaRPr lang="en-US" sz="1300" dirty="0"/>
          </a:p>
        </p:txBody>
      </p:sp>
      <p:sp>
        <p:nvSpPr>
          <p:cNvPr id="18" name="Text 16"/>
          <p:cNvSpPr/>
          <p:nvPr/>
        </p:nvSpPr>
        <p:spPr>
          <a:xfrm>
            <a:off x="8686800" y="4892040"/>
            <a:ext cx="365760" cy="182880"/>
          </a:xfrm>
          <a:prstGeom prst="rect">
            <a:avLst/>
          </a:prstGeom>
          <a:noFill/>
          <a:ln/>
        </p:spPr>
        <p:txBody>
          <a:bodyPr wrap="square" rtlCol="0" anchor="ctr"/>
          <a:lstStyle/>
          <a:p>
            <a:pPr algn="r" indent="0" marL="0">
              <a:buNone/>
            </a:pPr>
            <a:r>
              <a:rPr lang="en-US" sz="900" dirty="0">
                <a:solidFill>
                  <a:srgbClr val="94A3B8"/>
                </a:solidFill>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Punk Rock Engineering</dc:title>
  <dc:subject>PptxGenJS Presentation</dc:subject>
  <dc:creator>PptxGenJS</dc:creator>
  <cp:lastModifiedBy>PptxGenJS</cp:lastModifiedBy>
  <cp:revision>1</cp:revision>
  <dcterms:created xsi:type="dcterms:W3CDTF">2026-05-12T08:50:18Z</dcterms:created>
  <dcterms:modified xsi:type="dcterms:W3CDTF">2026-05-12T08:50:18Z</dcterms:modified>
</cp:coreProperties>
</file>