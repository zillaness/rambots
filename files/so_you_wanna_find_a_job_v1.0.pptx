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Amatic SC"/>
      <p:regular r:id="rId34"/>
      <p:bold r:id="rId35"/>
    </p:embeddedFont>
    <p:embeddedFont>
      <p:font typeface="Source Code Pr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AmaticSC-bold.fntdata"/><Relationship Id="rId12" Type="http://schemas.openxmlformats.org/officeDocument/2006/relationships/slide" Target="slides/slide7.xml"/><Relationship Id="rId34" Type="http://schemas.openxmlformats.org/officeDocument/2006/relationships/font" Target="fonts/AmaticSC-regular.fntdata"/><Relationship Id="rId15" Type="http://schemas.openxmlformats.org/officeDocument/2006/relationships/slide" Target="slides/slide10.xml"/><Relationship Id="rId37" Type="http://schemas.openxmlformats.org/officeDocument/2006/relationships/font" Target="fonts/SourceCodePro-bold.fntdata"/><Relationship Id="rId14" Type="http://schemas.openxmlformats.org/officeDocument/2006/relationships/slide" Target="slides/slide9.xml"/><Relationship Id="rId36" Type="http://schemas.openxmlformats.org/officeDocument/2006/relationships/font" Target="fonts/SourceCodePro-regular.fntdata"/><Relationship Id="rId17" Type="http://schemas.openxmlformats.org/officeDocument/2006/relationships/slide" Target="slides/slide12.xml"/><Relationship Id="rId39" Type="http://schemas.openxmlformats.org/officeDocument/2006/relationships/font" Target="fonts/SourceCodePro-boldItalic.fntdata"/><Relationship Id="rId16" Type="http://schemas.openxmlformats.org/officeDocument/2006/relationships/slide" Target="slides/slide11.xml"/><Relationship Id="rId38" Type="http://schemas.openxmlformats.org/officeDocument/2006/relationships/font" Target="fonts/SourceCodePr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22a541756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22a541756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22a541756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22a541756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22a541756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22a541756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22a541756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22a541756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22a541756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22a541756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2a541756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2a541756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22a541756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22a541756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22a541756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22a541756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2a541756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22a541756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22a541756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22a541756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22a541756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22a541756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22a541756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22a541756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22a541756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22a541756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2a541756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22a541756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2a5417567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2a5417567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2a541756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2a541756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22a541756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22a541756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22a5417567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22a541756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22a541756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22a541756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2a5417567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2a5417567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22a541756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22a541756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22a541756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22a541756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2a541756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22a541756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2a541756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22a541756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2a541756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2a541756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29277a9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29277a9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2a541756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22a541756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www.learnreligions.com/book-of-ecclesiastes-701123" TargetMode="External"/><Relationship Id="rId4" Type="http://schemas.openxmlformats.org/officeDocument/2006/relationships/hyperlink" Target="https://www.learnreligions.com/god-the-father-701152" TargetMode="External"/><Relationship Id="rId5" Type="http://schemas.openxmlformats.org/officeDocument/2006/relationships/hyperlink" Target="https://www.learnreligions.com/book-of-colossians-70103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learnreligions.com/book-of-ecclesiastes-701123" TargetMode="External"/><Relationship Id="rId4" Type="http://schemas.openxmlformats.org/officeDocument/2006/relationships/hyperlink" Target="https://www.learnreligions.com/book-of-colossians-701038" TargetMode="Externa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careercram.com/blog/6-debunked-myths-about-unemployment-after-college"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www.youtube.com/c/MindYourDecisions/featur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www.themuse.com/advice/185-powerful-verbs-that-will-make-your-resume-awesome" TargetMode="External"/><Relationship Id="rId4" Type="http://schemas.openxmlformats.org/officeDocument/2006/relationships/hyperlink" Target="https://novoresume.com/?noRedirect=tru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hyperlink" Target="https://www.careerorganic.com/blog/from-youtuber-to-scientific-writer-4-tips-i-learned-in-my-career-transition" TargetMode="External"/><Relationship Id="rId4" Type="http://schemas.openxmlformats.org/officeDocument/2006/relationships/hyperlink" Target="https://www.careerorganic.com/blog/graduating-from-intern-to-employee-as-told-by-hamilton-lyrics" TargetMode="External"/><Relationship Id="rId5" Type="http://schemas.openxmlformats.org/officeDocument/2006/relationships/hyperlink" Target="https://www.careerorganic.com/blog/11-disney-gifs-to-help-you-achieve-your-dream-job-goal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So you wanna Find a Job?</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Tips, Tricks, and Tales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Choosing a Path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 do you want to do?</a:t>
            </a:r>
            <a:endParaRPr/>
          </a:p>
        </p:txBody>
      </p:sp>
      <p:sp>
        <p:nvSpPr>
          <p:cNvPr id="68" name="Google Shape;68;p15"/>
          <p:cNvSpPr txBox="1"/>
          <p:nvPr>
            <p:ph idx="1" type="body"/>
          </p:nvPr>
        </p:nvSpPr>
        <p:spPr>
          <a:xfrm>
            <a:off x="311700" y="1389600"/>
            <a:ext cx="35004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Ikigai</a:t>
            </a:r>
            <a:endParaRPr/>
          </a:p>
          <a:p>
            <a:pPr indent="-304800" lvl="1" marL="914400" rtl="0" algn="l">
              <a:spcBef>
                <a:spcPts val="0"/>
              </a:spcBef>
              <a:spcAft>
                <a:spcPts val="0"/>
              </a:spcAft>
              <a:buSzPts val="1200"/>
              <a:buChar char="○"/>
            </a:pPr>
            <a:r>
              <a:rPr lang="en"/>
              <a:t>No Direct English Translation</a:t>
            </a:r>
            <a:endParaRPr/>
          </a:p>
          <a:p>
            <a:pPr indent="-304800" lvl="1" marL="914400" rtl="0" algn="l">
              <a:spcBef>
                <a:spcPts val="0"/>
              </a:spcBef>
              <a:spcAft>
                <a:spcPts val="0"/>
              </a:spcAft>
              <a:buSzPts val="1200"/>
              <a:buChar char="○"/>
            </a:pPr>
            <a:r>
              <a:rPr lang="en"/>
              <a:t>Happiness and Fulfilment in your Life</a:t>
            </a:r>
            <a:endParaRPr/>
          </a:p>
          <a:p>
            <a:pPr indent="-304800" lvl="1" marL="914400" rtl="0" algn="l">
              <a:spcBef>
                <a:spcPts val="0"/>
              </a:spcBef>
              <a:spcAft>
                <a:spcPts val="0"/>
              </a:spcAft>
              <a:buSzPts val="1200"/>
              <a:buChar char="○"/>
            </a:pPr>
            <a:r>
              <a:rPr lang="en"/>
              <a:t>Reason you want to get up in the Morning</a:t>
            </a:r>
            <a:endParaRPr/>
          </a:p>
        </p:txBody>
      </p:sp>
      <p:pic>
        <p:nvPicPr>
          <p:cNvPr id="69" name="Google Shape;69;p15"/>
          <p:cNvPicPr preferRelativeResize="0"/>
          <p:nvPr/>
        </p:nvPicPr>
        <p:blipFill>
          <a:blip r:embed="rId3">
            <a:alphaModFix/>
          </a:blip>
          <a:stretch>
            <a:fillRect/>
          </a:stretch>
        </p:blipFill>
        <p:spPr>
          <a:xfrm>
            <a:off x="3812188" y="152400"/>
            <a:ext cx="5116369" cy="48387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2013813" y="152400"/>
            <a:ext cx="5116369" cy="48387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Verses</a:t>
            </a:r>
            <a:endParaRPr/>
          </a:p>
        </p:txBody>
      </p:sp>
      <p:sp>
        <p:nvSpPr>
          <p:cNvPr id="80" name="Google Shape;80;p17"/>
          <p:cNvSpPr txBox="1"/>
          <p:nvPr>
            <p:ph idx="1" type="body"/>
          </p:nvPr>
        </p:nvSpPr>
        <p:spPr>
          <a:xfrm>
            <a:off x="311700" y="1389600"/>
            <a:ext cx="82806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n">
                <a:solidFill>
                  <a:srgbClr val="464646"/>
                </a:solidFill>
                <a:highlight>
                  <a:srgbClr val="FFFFFF"/>
                </a:highlight>
                <a:latin typeface="Arial"/>
                <a:ea typeface="Arial"/>
                <a:cs typeface="Arial"/>
                <a:sym typeface="Arial"/>
              </a:rPr>
              <a:t>Psalm 128:2 </a:t>
            </a:r>
            <a:r>
              <a:rPr lang="en">
                <a:solidFill>
                  <a:srgbClr val="464646"/>
                </a:solidFill>
                <a:highlight>
                  <a:srgbClr val="FFFFFF"/>
                </a:highlight>
                <a:latin typeface="Arial"/>
                <a:ea typeface="Arial"/>
                <a:cs typeface="Arial"/>
                <a:sym typeface="Arial"/>
              </a:rPr>
              <a:t>You will eat the fruit of your labor; blessings and prosperity will be yours.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12:11 </a:t>
            </a:r>
            <a:r>
              <a:rPr lang="en">
                <a:solidFill>
                  <a:srgbClr val="464646"/>
                </a:solidFill>
                <a:highlight>
                  <a:srgbClr val="FFFFFF"/>
                </a:highlight>
                <a:latin typeface="Arial"/>
                <a:ea typeface="Arial"/>
                <a:cs typeface="Arial"/>
                <a:sym typeface="Arial"/>
              </a:rPr>
              <a:t>Those who work their land will have abundant food, but those who chase fantasies have no sense.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14:23 </a:t>
            </a:r>
            <a:r>
              <a:rPr lang="en">
                <a:solidFill>
                  <a:srgbClr val="464646"/>
                </a:solidFill>
                <a:highlight>
                  <a:srgbClr val="FFFFFF"/>
                </a:highlight>
                <a:latin typeface="Arial"/>
                <a:ea typeface="Arial"/>
                <a:cs typeface="Arial"/>
                <a:sym typeface="Arial"/>
              </a:rPr>
              <a:t>All hard work brings a profit, but mere talk leads only to poverty.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16:</a:t>
            </a:r>
            <a:r>
              <a:rPr b="1" lang="en">
                <a:solidFill>
                  <a:srgbClr val="464646"/>
                </a:solidFill>
                <a:highlight>
                  <a:srgbClr val="FFFFFF"/>
                </a:highlight>
                <a:latin typeface="Arial"/>
                <a:ea typeface="Arial"/>
                <a:cs typeface="Arial"/>
                <a:sym typeface="Arial"/>
              </a:rPr>
              <a:t>3 </a:t>
            </a:r>
            <a:r>
              <a:rPr lang="en">
                <a:solidFill>
                  <a:srgbClr val="464646"/>
                </a:solidFill>
                <a:highlight>
                  <a:srgbClr val="FFFFFF"/>
                </a:highlight>
                <a:latin typeface="Arial"/>
                <a:ea typeface="Arial"/>
                <a:cs typeface="Arial"/>
                <a:sym typeface="Arial"/>
              </a:rPr>
              <a:t>Commit your work to the Lord, and your plans will be established. (ESV)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uFill>
                  <a:noFill/>
                </a:uFill>
                <a:latin typeface="Arial"/>
                <a:ea typeface="Arial"/>
                <a:cs typeface="Arial"/>
                <a:sym typeface="Arial"/>
                <a:hlinkClick r:id="rId3">
                  <a:extLst>
                    <a:ext uri="{A12FA001-AC4F-418D-AE19-62706E023703}">
                      <ahyp:hlinkClr val="tx"/>
                    </a:ext>
                  </a:extLst>
                </a:hlinkClick>
              </a:rPr>
              <a:t>Ecclesiastes</a:t>
            </a:r>
            <a:r>
              <a:rPr b="1" lang="en">
                <a:solidFill>
                  <a:srgbClr val="464646"/>
                </a:solidFill>
                <a:highlight>
                  <a:srgbClr val="FFFFFF"/>
                </a:highlight>
                <a:latin typeface="Arial"/>
                <a:ea typeface="Arial"/>
                <a:cs typeface="Arial"/>
                <a:sym typeface="Arial"/>
              </a:rPr>
              <a:t> 3:22 </a:t>
            </a:r>
            <a:r>
              <a:rPr lang="en">
                <a:solidFill>
                  <a:srgbClr val="464646"/>
                </a:solidFill>
                <a:highlight>
                  <a:srgbClr val="FFFFFF"/>
                </a:highlight>
                <a:latin typeface="Arial"/>
                <a:ea typeface="Arial"/>
                <a:cs typeface="Arial"/>
                <a:sym typeface="Arial"/>
              </a:rPr>
              <a:t>So I saw that there is nothing better for a person than to enjoy their work, because that is their lot. For who can bring them to see what will happen after them?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Ecclesiastes 9:10 </a:t>
            </a:r>
            <a:r>
              <a:rPr lang="en">
                <a:solidFill>
                  <a:srgbClr val="464646"/>
                </a:solidFill>
                <a:highlight>
                  <a:srgbClr val="FFFFFF"/>
                </a:highlight>
                <a:latin typeface="Arial"/>
                <a:ea typeface="Arial"/>
                <a:cs typeface="Arial"/>
                <a:sym typeface="Arial"/>
              </a:rPr>
              <a:t>Whatever your hand finds to do, do it with all your might, for in the realm of the dead, where you are going, there is neither working nor planning nor knowledge nor wisdom.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John 6:27 </a:t>
            </a:r>
            <a:r>
              <a:rPr lang="en">
                <a:solidFill>
                  <a:srgbClr val="464646"/>
                </a:solidFill>
                <a:highlight>
                  <a:srgbClr val="FFFFFF"/>
                </a:highlight>
                <a:latin typeface="Arial"/>
                <a:ea typeface="Arial"/>
                <a:cs typeface="Arial"/>
                <a:sym typeface="Arial"/>
              </a:rPr>
              <a:t>Do not work for food that spoils, but for food that endures to eternal life, which the Son of Man will give you. For on him </a:t>
            </a:r>
            <a:r>
              <a:rPr lang="en">
                <a:solidFill>
                  <a:srgbClr val="464646"/>
                </a:solidFill>
                <a:uFill>
                  <a:noFill/>
                </a:uFill>
                <a:latin typeface="Arial"/>
                <a:ea typeface="Arial"/>
                <a:cs typeface="Arial"/>
                <a:sym typeface="Arial"/>
                <a:hlinkClick r:id="rId4">
                  <a:extLst>
                    <a:ext uri="{A12FA001-AC4F-418D-AE19-62706E023703}">
                      <ahyp:hlinkClr val="tx"/>
                    </a:ext>
                  </a:extLst>
                </a:hlinkClick>
              </a:rPr>
              <a:t>God the Father</a:t>
            </a:r>
            <a:r>
              <a:rPr lang="en">
                <a:solidFill>
                  <a:srgbClr val="464646"/>
                </a:solidFill>
                <a:highlight>
                  <a:srgbClr val="FFFFFF"/>
                </a:highlight>
                <a:latin typeface="Arial"/>
                <a:ea typeface="Arial"/>
                <a:cs typeface="Arial"/>
                <a:sym typeface="Arial"/>
              </a:rPr>
              <a:t> has placed his seal of approval. (NIV)</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uFill>
                  <a:noFill/>
                </a:uFill>
                <a:latin typeface="Arial"/>
                <a:ea typeface="Arial"/>
                <a:cs typeface="Arial"/>
                <a:sym typeface="Arial"/>
                <a:hlinkClick r:id="rId5">
                  <a:extLst>
                    <a:ext uri="{A12FA001-AC4F-418D-AE19-62706E023703}">
                      <ahyp:hlinkClr val="tx"/>
                    </a:ext>
                  </a:extLst>
                </a:hlinkClick>
              </a:rPr>
              <a:t>Colossians</a:t>
            </a:r>
            <a:r>
              <a:rPr b="1" lang="en">
                <a:solidFill>
                  <a:srgbClr val="464646"/>
                </a:solidFill>
                <a:highlight>
                  <a:srgbClr val="FFFFFF"/>
                </a:highlight>
                <a:latin typeface="Arial"/>
                <a:ea typeface="Arial"/>
                <a:cs typeface="Arial"/>
                <a:sym typeface="Arial"/>
              </a:rPr>
              <a:t> 3:23 </a:t>
            </a:r>
            <a:r>
              <a:rPr lang="en">
                <a:solidFill>
                  <a:srgbClr val="464646"/>
                </a:solidFill>
                <a:highlight>
                  <a:srgbClr val="FFFFFF"/>
                </a:highlight>
                <a:latin typeface="Arial"/>
                <a:ea typeface="Arial"/>
                <a:cs typeface="Arial"/>
                <a:sym typeface="Arial"/>
              </a:rPr>
              <a:t>Whatever you do, work at it with all your heart, as working for the Lord, not for human masters, (NIV)</a:t>
            </a:r>
            <a:endParaRPr>
              <a:solidFill>
                <a:srgbClr val="464646"/>
              </a:solidFill>
              <a:highlight>
                <a:srgbClr val="FFFFFF"/>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555600"/>
            <a:ext cx="29667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 Does that Mean For us?</a:t>
            </a:r>
            <a:endParaRPr/>
          </a:p>
        </p:txBody>
      </p:sp>
      <p:sp>
        <p:nvSpPr>
          <p:cNvPr id="86" name="Google Shape;86;p18"/>
          <p:cNvSpPr txBox="1"/>
          <p:nvPr>
            <p:ph idx="1" type="body"/>
          </p:nvPr>
        </p:nvSpPr>
        <p:spPr>
          <a:xfrm>
            <a:off x="311700" y="1389600"/>
            <a:ext cx="82806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n">
                <a:solidFill>
                  <a:srgbClr val="464646"/>
                </a:solidFill>
                <a:highlight>
                  <a:srgbClr val="FFFFFF"/>
                </a:highlight>
                <a:latin typeface="Arial"/>
                <a:ea typeface="Arial"/>
                <a:cs typeface="Arial"/>
                <a:sym typeface="Arial"/>
              </a:rPr>
              <a:t>Psalm 128:2 </a:t>
            </a:r>
            <a:r>
              <a:rPr lang="en">
                <a:solidFill>
                  <a:srgbClr val="464646"/>
                </a:solidFill>
                <a:highlight>
                  <a:srgbClr val="FFFFFF"/>
                </a:highlight>
                <a:latin typeface="Arial"/>
                <a:ea typeface="Arial"/>
                <a:cs typeface="Arial"/>
                <a:sym typeface="Arial"/>
              </a:rPr>
              <a:t>You get what you put in.</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12:11 </a:t>
            </a:r>
            <a:r>
              <a:rPr lang="en">
                <a:solidFill>
                  <a:srgbClr val="464646"/>
                </a:solidFill>
                <a:highlight>
                  <a:srgbClr val="FFFFFF"/>
                </a:highlight>
                <a:latin typeface="Arial"/>
                <a:ea typeface="Arial"/>
                <a:cs typeface="Arial"/>
                <a:sym typeface="Arial"/>
              </a:rPr>
              <a:t>Don’t just dream and fantasize, work toward your goals.</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14:23 </a:t>
            </a:r>
            <a:r>
              <a:rPr lang="en">
                <a:solidFill>
                  <a:srgbClr val="464646"/>
                </a:solidFill>
                <a:highlight>
                  <a:srgbClr val="FFFFFF"/>
                </a:highlight>
                <a:latin typeface="Arial"/>
                <a:ea typeface="Arial"/>
                <a:cs typeface="Arial"/>
                <a:sym typeface="Arial"/>
              </a:rPr>
              <a:t>Don’t just talk about it.  Just Do It!</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Proverbs 16:3 </a:t>
            </a:r>
            <a:r>
              <a:rPr lang="en">
                <a:solidFill>
                  <a:srgbClr val="464646"/>
                </a:solidFill>
                <a:highlight>
                  <a:srgbClr val="FFFFFF"/>
                </a:highlight>
                <a:latin typeface="Arial"/>
                <a:ea typeface="Arial"/>
                <a:cs typeface="Arial"/>
                <a:sym typeface="Arial"/>
              </a:rPr>
              <a:t>Even when you feel listless and directionless in life, keep faith in God, continue to serve him and he will make your plans clear.</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uFill>
                  <a:noFill/>
                </a:uFill>
                <a:latin typeface="Arial"/>
                <a:ea typeface="Arial"/>
                <a:cs typeface="Arial"/>
                <a:sym typeface="Arial"/>
                <a:hlinkClick r:id="rId3">
                  <a:extLst>
                    <a:ext uri="{A12FA001-AC4F-418D-AE19-62706E023703}">
                      <ahyp:hlinkClr val="tx"/>
                    </a:ext>
                  </a:extLst>
                </a:hlinkClick>
              </a:rPr>
              <a:t>Ecclesiastes</a:t>
            </a:r>
            <a:r>
              <a:rPr b="1" lang="en">
                <a:solidFill>
                  <a:srgbClr val="464646"/>
                </a:solidFill>
                <a:highlight>
                  <a:srgbClr val="FFFFFF"/>
                </a:highlight>
                <a:latin typeface="Arial"/>
                <a:ea typeface="Arial"/>
                <a:cs typeface="Arial"/>
                <a:sym typeface="Arial"/>
              </a:rPr>
              <a:t> 3:22, Ecclesiastes 9:10 </a:t>
            </a:r>
            <a:r>
              <a:rPr lang="en">
                <a:solidFill>
                  <a:srgbClr val="464646"/>
                </a:solidFill>
                <a:highlight>
                  <a:srgbClr val="FFFFFF"/>
                </a:highlight>
                <a:latin typeface="Arial"/>
                <a:ea typeface="Arial"/>
                <a:cs typeface="Arial"/>
                <a:sym typeface="Arial"/>
              </a:rPr>
              <a:t>Work hard and enjoy your work, because your time here is short and you can’t bring it with you.  You’re not going to be worrying about that stuff when you’re dead.</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latin typeface="Arial"/>
                <a:ea typeface="Arial"/>
                <a:cs typeface="Arial"/>
                <a:sym typeface="Arial"/>
              </a:rPr>
              <a:t>John 6:27 </a:t>
            </a:r>
            <a:r>
              <a:rPr lang="en">
                <a:solidFill>
                  <a:srgbClr val="464646"/>
                </a:solidFill>
                <a:highlight>
                  <a:srgbClr val="FFFFFF"/>
                </a:highlight>
                <a:latin typeface="Arial"/>
                <a:ea typeface="Arial"/>
                <a:cs typeface="Arial"/>
                <a:sym typeface="Arial"/>
              </a:rPr>
              <a:t>Don’t worry too much about earthly awards, recognition, promotion because that pales in comparison to what God has planned for you in heaven.  Sometimes it’s enough to know that God knows what you’re doing.</a:t>
            </a:r>
            <a:endParaRPr>
              <a:solidFill>
                <a:srgbClr val="464646"/>
              </a:solidFill>
              <a:highlight>
                <a:srgbClr val="FFFFFF"/>
              </a:highlight>
              <a:latin typeface="Arial"/>
              <a:ea typeface="Arial"/>
              <a:cs typeface="Arial"/>
              <a:sym typeface="Arial"/>
            </a:endParaRPr>
          </a:p>
          <a:p>
            <a:pPr indent="-304800" lvl="0" marL="457200" rtl="0" algn="l">
              <a:spcBef>
                <a:spcPts val="0"/>
              </a:spcBef>
              <a:spcAft>
                <a:spcPts val="0"/>
              </a:spcAft>
              <a:buClr>
                <a:srgbClr val="464646"/>
              </a:buClr>
              <a:buSzPts val="1200"/>
              <a:buFont typeface="Arial"/>
              <a:buChar char="●"/>
            </a:pPr>
            <a:r>
              <a:rPr b="1" lang="en">
                <a:solidFill>
                  <a:srgbClr val="464646"/>
                </a:solidFill>
                <a:highlight>
                  <a:srgbClr val="FFFFFF"/>
                </a:highlight>
                <a:uFill>
                  <a:noFill/>
                </a:uFill>
                <a:latin typeface="Arial"/>
                <a:ea typeface="Arial"/>
                <a:cs typeface="Arial"/>
                <a:sym typeface="Arial"/>
                <a:hlinkClick r:id="rId4">
                  <a:extLst>
                    <a:ext uri="{A12FA001-AC4F-418D-AE19-62706E023703}">
                      <ahyp:hlinkClr val="tx"/>
                    </a:ext>
                  </a:extLst>
                </a:hlinkClick>
              </a:rPr>
              <a:t>Colossians</a:t>
            </a:r>
            <a:r>
              <a:rPr b="1" lang="en">
                <a:solidFill>
                  <a:srgbClr val="464646"/>
                </a:solidFill>
                <a:highlight>
                  <a:srgbClr val="FFFFFF"/>
                </a:highlight>
                <a:latin typeface="Arial"/>
                <a:ea typeface="Arial"/>
                <a:cs typeface="Arial"/>
                <a:sym typeface="Arial"/>
              </a:rPr>
              <a:t> 3:23 </a:t>
            </a:r>
            <a:r>
              <a:rPr lang="en">
                <a:solidFill>
                  <a:srgbClr val="464646"/>
                </a:solidFill>
                <a:highlight>
                  <a:srgbClr val="FFFFFF"/>
                </a:highlight>
                <a:latin typeface="Arial"/>
                <a:ea typeface="Arial"/>
                <a:cs typeface="Arial"/>
                <a:sym typeface="Arial"/>
              </a:rPr>
              <a:t>Whatever you do, work at it with all your heart, as working for the Lord, not for human masters. Pretty self explanatory</a:t>
            </a:r>
            <a:endParaRPr>
              <a:solidFill>
                <a:srgbClr val="464646"/>
              </a:solidFill>
              <a:highlight>
                <a:srgbClr val="FFFFFF"/>
              </a:highlight>
              <a:latin typeface="Arial"/>
              <a:ea typeface="Arial"/>
              <a:cs typeface="Arial"/>
              <a:sym typeface="Arial"/>
            </a:endParaRPr>
          </a:p>
        </p:txBody>
      </p:sp>
      <p:pic>
        <p:nvPicPr>
          <p:cNvPr id="87" name="Google Shape;87;p18"/>
          <p:cNvPicPr preferRelativeResize="0"/>
          <p:nvPr/>
        </p:nvPicPr>
        <p:blipFill>
          <a:blip r:embed="rId5">
            <a:alphaModFix/>
          </a:blip>
          <a:stretch>
            <a:fillRect/>
          </a:stretch>
        </p:blipFill>
        <p:spPr>
          <a:xfrm>
            <a:off x="4358750" y="1887914"/>
            <a:ext cx="642000" cy="22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The Hunt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Good Fast Cheap</a:t>
            </a:r>
            <a:endParaRPr/>
          </a:p>
        </p:txBody>
      </p:sp>
      <p:sp>
        <p:nvSpPr>
          <p:cNvPr id="98" name="Google Shape;98;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u="sng">
                <a:solidFill>
                  <a:schemeClr val="hlink"/>
                </a:solidFill>
                <a:hlinkClick r:id="rId3"/>
              </a:rPr>
              <a:t>https://www.careercram.com/blog/6-debunked-myths-about-unemployment-after-college</a:t>
            </a:r>
            <a:endParaRPr/>
          </a:p>
          <a:p>
            <a:pPr indent="-304800" lvl="0" marL="457200" rtl="0" algn="l">
              <a:spcBef>
                <a:spcPts val="0"/>
              </a:spcBef>
              <a:spcAft>
                <a:spcPts val="0"/>
              </a:spcAft>
              <a:buSzPts val="1200"/>
              <a:buChar char="●"/>
            </a:pPr>
            <a:r>
              <a:rPr lang="en"/>
              <a:t>Written by Cat Siu advice from Sam Cao</a:t>
            </a:r>
            <a:endParaRPr/>
          </a:p>
          <a:p>
            <a:pPr indent="-304800" lvl="0" marL="457200" rtl="0" algn="l">
              <a:spcBef>
                <a:spcPts val="0"/>
              </a:spcBef>
              <a:spcAft>
                <a:spcPts val="0"/>
              </a:spcAft>
              <a:buSzPts val="1200"/>
              <a:buChar char="●"/>
            </a:pPr>
            <a:r>
              <a:rPr b="1" lang="en"/>
              <a:t>Good</a:t>
            </a:r>
            <a:r>
              <a:rPr lang="en"/>
              <a:t>-Rewarding Interesting Work, Exactly what your were looking for</a:t>
            </a:r>
            <a:endParaRPr/>
          </a:p>
          <a:p>
            <a:pPr indent="-304800" lvl="0" marL="457200" rtl="0" algn="l">
              <a:spcBef>
                <a:spcPts val="0"/>
              </a:spcBef>
              <a:spcAft>
                <a:spcPts val="0"/>
              </a:spcAft>
              <a:buSzPts val="1200"/>
              <a:buChar char="●"/>
            </a:pPr>
            <a:r>
              <a:rPr b="1" lang="en"/>
              <a:t>Fast</a:t>
            </a:r>
            <a:r>
              <a:rPr lang="en"/>
              <a:t>-Hired Quickly, Easy Interview Process</a:t>
            </a:r>
            <a:endParaRPr/>
          </a:p>
          <a:p>
            <a:pPr indent="-304800" lvl="0" marL="457200" rtl="0" algn="l">
              <a:spcBef>
                <a:spcPts val="0"/>
              </a:spcBef>
              <a:spcAft>
                <a:spcPts val="0"/>
              </a:spcAft>
              <a:buSzPts val="1200"/>
              <a:buChar char="●"/>
            </a:pPr>
            <a:r>
              <a:rPr b="1" lang="en"/>
              <a:t>Cheap</a:t>
            </a:r>
            <a:r>
              <a:rPr lang="en"/>
              <a:t>-Low Pay</a:t>
            </a:r>
            <a:endParaRPr/>
          </a:p>
        </p:txBody>
      </p:sp>
      <p:pic>
        <p:nvPicPr>
          <p:cNvPr id="99" name="Google Shape;99;p20"/>
          <p:cNvPicPr preferRelativeResize="0"/>
          <p:nvPr/>
        </p:nvPicPr>
        <p:blipFill>
          <a:blip r:embed="rId4">
            <a:alphaModFix/>
          </a:blip>
          <a:stretch>
            <a:fillRect/>
          </a:stretch>
        </p:blipFill>
        <p:spPr>
          <a:xfrm>
            <a:off x="3272100" y="152400"/>
            <a:ext cx="5221323" cy="4838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2020 Graduate</a:t>
            </a:r>
            <a:endParaRPr/>
          </a:p>
        </p:txBody>
      </p:sp>
      <p:pic>
        <p:nvPicPr>
          <p:cNvPr id="105" name="Google Shape;105;p21"/>
          <p:cNvPicPr preferRelativeResize="0"/>
          <p:nvPr/>
        </p:nvPicPr>
        <p:blipFill>
          <a:blip r:embed="rId3">
            <a:alphaModFix/>
          </a:blip>
          <a:stretch>
            <a:fillRect/>
          </a:stretch>
        </p:blipFill>
        <p:spPr>
          <a:xfrm>
            <a:off x="2152650" y="152400"/>
            <a:ext cx="4838700"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4 Month Job Hunt</a:t>
            </a:r>
            <a:endParaRPr/>
          </a:p>
        </p:txBody>
      </p:sp>
      <p:pic>
        <p:nvPicPr>
          <p:cNvPr id="111" name="Google Shape;111;p22"/>
          <p:cNvPicPr preferRelativeResize="0"/>
          <p:nvPr/>
        </p:nvPicPr>
        <p:blipFill>
          <a:blip r:embed="rId3">
            <a:alphaModFix/>
          </a:blip>
          <a:stretch>
            <a:fillRect/>
          </a:stretch>
        </p:blipFill>
        <p:spPr>
          <a:xfrm>
            <a:off x="2458025" y="152400"/>
            <a:ext cx="5529940" cy="48386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p:cNvPicPr preferRelativeResize="0"/>
          <p:nvPr/>
        </p:nvPicPr>
        <p:blipFill>
          <a:blip r:embed="rId3">
            <a:alphaModFix/>
          </a:blip>
          <a:stretch>
            <a:fillRect/>
          </a:stretch>
        </p:blipFill>
        <p:spPr>
          <a:xfrm>
            <a:off x="775200" y="152400"/>
            <a:ext cx="7593610" cy="48387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1240275"/>
            <a:ext cx="8520600" cy="1981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3/135 </a:t>
            </a:r>
            <a:endParaRPr/>
          </a:p>
        </p:txBody>
      </p:sp>
      <p:sp>
        <p:nvSpPr>
          <p:cNvPr id="122" name="Google Shape;122;p24"/>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Seems Scary Right?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1240275"/>
            <a:ext cx="8520600" cy="1981800"/>
          </a:xfrm>
          <a:prstGeom prst="rect">
            <a:avLst/>
          </a:prstGeom>
        </p:spPr>
        <p:txBody>
          <a:bodyPr anchorCtr="0" anchor="t" bIns="91425" lIns="91425" spcFirstLastPara="1" rIns="91425" wrap="square" tIns="91425">
            <a:normAutofit fontScale="90000"/>
          </a:bodyPr>
          <a:lstStyle/>
          <a:p>
            <a:pPr indent="-502920" lvl="0" marL="457200" rtl="0" algn="l">
              <a:lnSpc>
                <a:spcPct val="150000"/>
              </a:lnSpc>
              <a:spcBef>
                <a:spcPts val="0"/>
              </a:spcBef>
              <a:spcAft>
                <a:spcPts val="0"/>
              </a:spcAft>
              <a:buSzPct val="100000"/>
              <a:buChar char="●"/>
            </a:pPr>
            <a:r>
              <a:rPr lang="en" sz="4800"/>
              <a:t>1/2</a:t>
            </a:r>
            <a:r>
              <a:rPr lang="en" sz="4800"/>
              <a:t>  Direct Referrals Led to a PHone Interview</a:t>
            </a:r>
            <a:endParaRPr sz="4800"/>
          </a:p>
          <a:p>
            <a:pPr indent="-502920" lvl="0" marL="457200" rtl="0" algn="l">
              <a:lnSpc>
                <a:spcPct val="150000"/>
              </a:lnSpc>
              <a:spcBef>
                <a:spcPts val="0"/>
              </a:spcBef>
              <a:spcAft>
                <a:spcPts val="0"/>
              </a:spcAft>
              <a:buSzPct val="100000"/>
              <a:buChar char="●"/>
            </a:pPr>
            <a:r>
              <a:rPr lang="en" sz="4800"/>
              <a:t> </a:t>
            </a:r>
            <a:r>
              <a:rPr lang="en" sz="4800"/>
              <a:t>2/5</a:t>
            </a:r>
            <a:r>
              <a:rPr lang="en" sz="4800"/>
              <a:t>  PHone INterviews Led to ONsite INterviews</a:t>
            </a:r>
            <a:endParaRPr sz="4800"/>
          </a:p>
          <a:p>
            <a:pPr indent="-502920" lvl="0" marL="457200" rtl="0" algn="l">
              <a:lnSpc>
                <a:spcPct val="150000"/>
              </a:lnSpc>
              <a:spcBef>
                <a:spcPts val="0"/>
              </a:spcBef>
              <a:spcAft>
                <a:spcPts val="0"/>
              </a:spcAft>
              <a:buSzPct val="100000"/>
              <a:buChar char="●"/>
            </a:pPr>
            <a:r>
              <a:rPr lang="en" sz="4800"/>
              <a:t>3/4</a:t>
            </a:r>
            <a:r>
              <a:rPr lang="en" sz="4800"/>
              <a:t>  Onsite Interviews Led to Hires</a:t>
            </a:r>
            <a:endParaRPr sz="4800"/>
          </a:p>
        </p:txBody>
      </p:sp>
      <p:sp>
        <p:nvSpPr>
          <p:cNvPr id="128" name="Google Shape;128;p25"/>
          <p:cNvSpPr txBox="1"/>
          <p:nvPr>
            <p:ph idx="1" type="body"/>
          </p:nvPr>
        </p:nvSpPr>
        <p:spPr>
          <a:xfrm>
            <a:off x="311700" y="0"/>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That whole thing was a misleading Lie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Showing YOu know What you Say You KNow</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Diploma/Certificate</a:t>
            </a:r>
            <a:endParaRPr/>
          </a:p>
        </p:txBody>
      </p:sp>
      <p:sp>
        <p:nvSpPr>
          <p:cNvPr id="139" name="Google Shape;139;p27"/>
          <p:cNvSpPr txBox="1"/>
          <p:nvPr>
            <p:ph idx="1" type="body"/>
          </p:nvPr>
        </p:nvSpPr>
        <p:spPr>
          <a:xfrm>
            <a:off x="311700" y="1389600"/>
            <a:ext cx="8117700" cy="3179400"/>
          </a:xfrm>
          <a:prstGeom prst="rect">
            <a:avLst/>
          </a:prstGeom>
        </p:spPr>
        <p:txBody>
          <a:bodyPr anchorCtr="0" anchor="t" bIns="91425" lIns="91425" spcFirstLastPara="1" rIns="91425" wrap="square" tIns="91425">
            <a:normAutofit lnSpcReduction="20000"/>
          </a:bodyPr>
          <a:lstStyle/>
          <a:p>
            <a:pPr indent="-381000" lvl="0" marL="457200" rtl="0" algn="l">
              <a:spcBef>
                <a:spcPts val="0"/>
              </a:spcBef>
              <a:spcAft>
                <a:spcPts val="0"/>
              </a:spcAft>
              <a:buSzPts val="2400"/>
              <a:buChar char="●"/>
            </a:pPr>
            <a:r>
              <a:rPr lang="en" sz="2400"/>
              <a:t>Most Common Route</a:t>
            </a:r>
            <a:endParaRPr sz="2400"/>
          </a:p>
          <a:p>
            <a:pPr indent="-381000" lvl="0" marL="457200" rtl="0" algn="l">
              <a:spcBef>
                <a:spcPts val="0"/>
              </a:spcBef>
              <a:spcAft>
                <a:spcPts val="0"/>
              </a:spcAft>
              <a:buSzPts val="2400"/>
              <a:buChar char="●"/>
            </a:pPr>
            <a:r>
              <a:rPr lang="en" sz="2400"/>
              <a:t>The University Vouches that they taught you X things, and you passed classes on those subjects.</a:t>
            </a:r>
            <a:endParaRPr sz="2400"/>
          </a:p>
          <a:p>
            <a:pPr indent="-381000" lvl="0" marL="457200" rtl="0" algn="l">
              <a:spcBef>
                <a:spcPts val="0"/>
              </a:spcBef>
              <a:spcAft>
                <a:spcPts val="0"/>
              </a:spcAft>
              <a:buSzPts val="2400"/>
              <a:buChar char="●"/>
            </a:pPr>
            <a:r>
              <a:rPr lang="en" sz="2400"/>
              <a:t>In the case of a certificate, its the issuing body.</a:t>
            </a:r>
            <a:endParaRPr sz="2400"/>
          </a:p>
          <a:p>
            <a:pPr indent="-381000" lvl="0" marL="457200" rtl="0" algn="l">
              <a:spcBef>
                <a:spcPts val="0"/>
              </a:spcBef>
              <a:spcAft>
                <a:spcPts val="0"/>
              </a:spcAft>
              <a:buSzPts val="2400"/>
              <a:buChar char="●"/>
            </a:pPr>
            <a:r>
              <a:rPr lang="en" sz="2400"/>
              <a:t>Just like diplomas, where you got it from matters… kinda.</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Technical INterview</a:t>
            </a:r>
            <a:endParaRPr/>
          </a:p>
        </p:txBody>
      </p:sp>
      <p:sp>
        <p:nvSpPr>
          <p:cNvPr id="145" name="Google Shape;145;p28"/>
          <p:cNvSpPr txBox="1"/>
          <p:nvPr>
            <p:ph idx="1" type="body"/>
          </p:nvPr>
        </p:nvSpPr>
        <p:spPr>
          <a:xfrm>
            <a:off x="311700" y="1389600"/>
            <a:ext cx="8117700" cy="3179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Demonstrate to us RIGHT NOW that you know what you say you know</a:t>
            </a:r>
            <a:endParaRPr sz="2400"/>
          </a:p>
          <a:p>
            <a:pPr indent="-381000" lvl="0" marL="457200" rtl="0" algn="l">
              <a:spcBef>
                <a:spcPts val="0"/>
              </a:spcBef>
              <a:spcAft>
                <a:spcPts val="0"/>
              </a:spcAft>
              <a:buSzPts val="2400"/>
              <a:buChar char="●"/>
            </a:pPr>
            <a:r>
              <a:rPr lang="en" sz="2400"/>
              <a:t>Programming interviews are </a:t>
            </a:r>
            <a:r>
              <a:rPr lang="en" sz="2400"/>
              <a:t>infamous</a:t>
            </a:r>
            <a:r>
              <a:rPr lang="en" sz="2400"/>
              <a:t> for this.</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555600"/>
            <a:ext cx="39807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Technical INterview-Logic Problems</a:t>
            </a:r>
            <a:endParaRPr/>
          </a:p>
        </p:txBody>
      </p:sp>
      <p:sp>
        <p:nvSpPr>
          <p:cNvPr id="151" name="Google Shape;151;p29"/>
          <p:cNvSpPr txBox="1"/>
          <p:nvPr>
            <p:ph idx="1" type="body"/>
          </p:nvPr>
        </p:nvSpPr>
        <p:spPr>
          <a:xfrm>
            <a:off x="311700" y="1389600"/>
            <a:ext cx="8569200" cy="3657600"/>
          </a:xfrm>
          <a:prstGeom prst="rect">
            <a:avLst/>
          </a:prstGeom>
        </p:spPr>
        <p:txBody>
          <a:bodyPr anchorCtr="0" anchor="t" bIns="91425" lIns="91425" spcFirstLastPara="1" rIns="91425" wrap="square" tIns="91425">
            <a:normAutofit lnSpcReduction="20000"/>
          </a:bodyPr>
          <a:lstStyle/>
          <a:p>
            <a:pPr indent="-304800" lvl="0" marL="457200" rtl="0" algn="l">
              <a:lnSpc>
                <a:spcPct val="100000"/>
              </a:lnSpc>
              <a:spcBef>
                <a:spcPts val="0"/>
              </a:spcBef>
              <a:spcAft>
                <a:spcPts val="0"/>
              </a:spcAft>
              <a:buSzPts val="1200"/>
              <a:buChar char="●"/>
            </a:pPr>
            <a:r>
              <a:rPr lang="en"/>
              <a:t>I walk one mile south, one mile west, and one mile north.  I’m exactly back where I started. Where am I?</a:t>
            </a:r>
            <a:endParaRPr/>
          </a:p>
          <a:p>
            <a:pPr indent="-304800" lvl="0" marL="457200" rtl="0" algn="l">
              <a:lnSpc>
                <a:spcPct val="100000"/>
              </a:lnSpc>
              <a:spcBef>
                <a:spcPts val="1000"/>
              </a:spcBef>
              <a:spcAft>
                <a:spcPts val="0"/>
              </a:spcAft>
              <a:buSzPts val="1200"/>
              <a:buChar char="●"/>
            </a:pPr>
            <a:r>
              <a:rPr lang="en"/>
              <a:t>There are 25 horses.  What is the minimum number of races needed so you can identify the fastest 3 horses?  You can race up to 5 horses at a time, but you do not have a watch.</a:t>
            </a:r>
            <a:endParaRPr/>
          </a:p>
          <a:p>
            <a:pPr indent="-304800" lvl="0" marL="457200" rtl="0" algn="l">
              <a:lnSpc>
                <a:spcPct val="100000"/>
              </a:lnSpc>
              <a:spcBef>
                <a:spcPts val="1000"/>
              </a:spcBef>
              <a:spcAft>
                <a:spcPts val="0"/>
              </a:spcAft>
              <a:buSzPts val="1200"/>
              <a:buChar char="●"/>
            </a:pPr>
            <a:r>
              <a:rPr lang="en"/>
              <a:t>There are 12 men on an island. 11 weigh exactly the same amount, but one of them is slightly lighter or heavier. You must figure out which. The island has no escapes, but there is a seesaw. The exciting catch? You can only use it three times.</a:t>
            </a:r>
            <a:endParaRPr/>
          </a:p>
          <a:p>
            <a:pPr indent="-304800" lvl="0" marL="457200" rtl="0" algn="l">
              <a:lnSpc>
                <a:spcPct val="100000"/>
              </a:lnSpc>
              <a:spcBef>
                <a:spcPts val="1000"/>
              </a:spcBef>
              <a:spcAft>
                <a:spcPts val="0"/>
              </a:spcAft>
              <a:buSzPts val="1200"/>
              <a:buChar char="●"/>
            </a:pPr>
            <a:r>
              <a:rPr lang="en"/>
              <a:t>A cat hides in five boxes numbered 1 to 5 and placed in a row close to each other.Each night the cat must jump to an adjacent box.Each morning, you open a box to catch the cat. The cat knows which box you will open.It plans its jump accordingly to escape you.How can you catch the cat and win the game of hide and seek?</a:t>
            </a:r>
            <a:endParaRPr/>
          </a:p>
          <a:p>
            <a:pPr indent="-304800" lvl="0" marL="457200" rtl="0" algn="l">
              <a:lnSpc>
                <a:spcPct val="100000"/>
              </a:lnSpc>
              <a:spcBef>
                <a:spcPts val="1000"/>
              </a:spcBef>
              <a:spcAft>
                <a:spcPts val="0"/>
              </a:spcAft>
              <a:buSzPts val="1200"/>
              <a:buChar char="●"/>
            </a:pPr>
            <a:r>
              <a:rPr lang="en"/>
              <a:t>There is a lightbulb inside a closet. The door is closed, and you cannot see if the light is on or off through the door. However, you know the light is off to start. Outside of the closet, there are three light switches.One of the door light switches controls the lightbulb in the closet. You can flip the switches however you want, but once you open the door, you can no longer touch the switches. </a:t>
            </a:r>
            <a:endParaRPr/>
          </a:p>
          <a:p>
            <a:pPr indent="-304800" lvl="0" marL="457200" rtl="0" algn="l">
              <a:lnSpc>
                <a:spcPct val="100000"/>
              </a:lnSpc>
              <a:spcBef>
                <a:spcPts val="1000"/>
              </a:spcBef>
              <a:spcAft>
                <a:spcPts val="1000"/>
              </a:spcAft>
              <a:buSzPts val="1200"/>
              <a:buChar char="●"/>
            </a:pPr>
            <a:r>
              <a:rPr lang="en" u="sng">
                <a:solidFill>
                  <a:schemeClr val="hlink"/>
                </a:solidFill>
                <a:hlinkClick r:id="rId3"/>
              </a:rPr>
              <a:t>https://www.youtube.com/c/MindYourDecisions/featured</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Resume Writing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Tips</a:t>
            </a:r>
            <a:endParaRPr/>
          </a:p>
        </p:txBody>
      </p:sp>
      <p:sp>
        <p:nvSpPr>
          <p:cNvPr id="162" name="Google Shape;162;p31"/>
          <p:cNvSpPr txBox="1"/>
          <p:nvPr>
            <p:ph idx="1" type="body"/>
          </p:nvPr>
        </p:nvSpPr>
        <p:spPr>
          <a:xfrm>
            <a:off x="311700" y="1389600"/>
            <a:ext cx="81177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Action Verbs: </a:t>
            </a:r>
            <a:r>
              <a:rPr lang="en" u="sng">
                <a:solidFill>
                  <a:schemeClr val="hlink"/>
                </a:solidFill>
                <a:hlinkClick r:id="rId3"/>
              </a:rPr>
              <a:t>https://www.themuse.com/advice/185-powerful-verbs-that-will-make-your-resume-awesome</a:t>
            </a:r>
            <a:r>
              <a:rPr lang="en"/>
              <a:t> </a:t>
            </a:r>
            <a:endParaRPr/>
          </a:p>
          <a:p>
            <a:pPr indent="-304800" lvl="0" marL="457200" rtl="0" algn="l">
              <a:spcBef>
                <a:spcPts val="0"/>
              </a:spcBef>
              <a:spcAft>
                <a:spcPts val="0"/>
              </a:spcAft>
              <a:buSzPts val="1200"/>
              <a:buChar char="●"/>
            </a:pPr>
            <a:r>
              <a:rPr lang="en"/>
              <a:t>Stats and Numbers</a:t>
            </a:r>
            <a:endParaRPr/>
          </a:p>
          <a:p>
            <a:pPr indent="-304800" lvl="0" marL="457200" rtl="0" algn="l">
              <a:spcBef>
                <a:spcPts val="0"/>
              </a:spcBef>
              <a:spcAft>
                <a:spcPts val="0"/>
              </a:spcAft>
              <a:buSzPts val="1200"/>
              <a:buChar char="●"/>
            </a:pPr>
            <a:r>
              <a:rPr lang="en"/>
              <a:t>Show how you added Value to a company</a:t>
            </a:r>
            <a:endParaRPr/>
          </a:p>
          <a:p>
            <a:pPr indent="-304800" lvl="0" marL="457200" rtl="0" algn="l">
              <a:spcBef>
                <a:spcPts val="0"/>
              </a:spcBef>
              <a:spcAft>
                <a:spcPts val="0"/>
              </a:spcAft>
              <a:buSzPts val="1200"/>
              <a:buChar char="●"/>
            </a:pPr>
            <a:r>
              <a:rPr lang="en"/>
              <a:t>Resume Programs are helpful </a:t>
            </a:r>
            <a:r>
              <a:rPr lang="en" u="sng">
                <a:solidFill>
                  <a:schemeClr val="hlink"/>
                </a:solidFill>
                <a:hlinkClick r:id="rId4"/>
              </a:rPr>
              <a:t>https://novoresume.com/?noRedirect=true</a:t>
            </a:r>
            <a:r>
              <a:rPr lang="en"/>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Linked In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Tips</a:t>
            </a:r>
            <a:endParaRPr/>
          </a:p>
        </p:txBody>
      </p:sp>
      <p:sp>
        <p:nvSpPr>
          <p:cNvPr id="173" name="Google Shape;173;p33"/>
          <p:cNvSpPr txBox="1"/>
          <p:nvPr>
            <p:ph idx="1" type="body"/>
          </p:nvPr>
        </p:nvSpPr>
        <p:spPr>
          <a:xfrm>
            <a:off x="311700" y="1389600"/>
            <a:ext cx="81177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You should add a picture, either a professional looking headshot, or potentially a picture of you doing something you enjoy that employers might connect with.  (hiking, with dogs, first competition)</a:t>
            </a:r>
            <a:endParaRPr/>
          </a:p>
          <a:p>
            <a:pPr indent="-304800" lvl="0" marL="457200" rtl="0" algn="l">
              <a:spcBef>
                <a:spcPts val="0"/>
              </a:spcBef>
              <a:spcAft>
                <a:spcPts val="0"/>
              </a:spcAft>
              <a:buSzPts val="1200"/>
              <a:buChar char="●"/>
            </a:pPr>
            <a:r>
              <a:rPr lang="en"/>
              <a:t>Treat LinkedIn as sort of a CV, you're not limited to a page, so fill out your experience with more details than you would put on your resume.  In the future you can reference this, and pick and choose which details you'd like to include depending on the job you're applying for.</a:t>
            </a:r>
            <a:endParaRPr/>
          </a:p>
          <a:p>
            <a:pPr indent="-304800" lvl="0" marL="457200" rtl="0" algn="l">
              <a:spcBef>
                <a:spcPts val="0"/>
              </a:spcBef>
              <a:spcAft>
                <a:spcPts val="0"/>
              </a:spcAft>
              <a:buSzPts val="1200"/>
              <a:buChar char="●"/>
            </a:pPr>
            <a:r>
              <a:rPr lang="en"/>
              <a:t>Add your technical expertise there.  I think there are even some quick 10 question linkedin evaluations you can do to show that you know the bare minimum.</a:t>
            </a:r>
            <a:endParaRPr/>
          </a:p>
          <a:p>
            <a:pPr indent="-304800" lvl="0" marL="457200" rtl="0" algn="l">
              <a:spcBef>
                <a:spcPts val="0"/>
              </a:spcBef>
              <a:spcAft>
                <a:spcPts val="0"/>
              </a:spcAft>
              <a:buSzPts val="1200"/>
              <a:buChar char="●"/>
            </a:pPr>
            <a:r>
              <a:rPr lang="en"/>
              <a:t>Get a few more connections.  Just go down the suggestions and connect with anyone you genuinely know.  Don't worry too much about rejection on linkedin.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THe Interview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to Bring</a:t>
            </a:r>
            <a:endParaRPr/>
          </a:p>
        </p:txBody>
      </p:sp>
      <p:sp>
        <p:nvSpPr>
          <p:cNvPr id="184" name="Google Shape;184;p35"/>
          <p:cNvSpPr txBox="1"/>
          <p:nvPr>
            <p:ph idx="1" type="body"/>
          </p:nvPr>
        </p:nvSpPr>
        <p:spPr>
          <a:xfrm>
            <a:off x="311700" y="1389600"/>
            <a:ext cx="81177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Bring a pen and paper to take notes on</a:t>
            </a:r>
            <a:endParaRPr/>
          </a:p>
          <a:p>
            <a:pPr indent="-304800" lvl="0" marL="457200" rtl="0" algn="l">
              <a:spcBef>
                <a:spcPts val="0"/>
              </a:spcBef>
              <a:spcAft>
                <a:spcPts val="0"/>
              </a:spcAft>
              <a:buSzPts val="1200"/>
              <a:buChar char="●"/>
            </a:pPr>
            <a:r>
              <a:rPr lang="en"/>
              <a:t>Bring pre-prepared GOOD questions to ask your interviewers</a:t>
            </a:r>
            <a:endParaRPr/>
          </a:p>
          <a:p>
            <a:pPr indent="-304800" lvl="0" marL="457200" rtl="0" algn="l">
              <a:spcBef>
                <a:spcPts val="0"/>
              </a:spcBef>
              <a:spcAft>
                <a:spcPts val="0"/>
              </a:spcAft>
              <a:buSzPts val="1200"/>
              <a:buChar char="●"/>
            </a:pPr>
            <a:r>
              <a:rPr lang="en"/>
              <a:t>Bring a </a:t>
            </a:r>
            <a:r>
              <a:rPr lang="en"/>
              <a:t>water bottle</a:t>
            </a:r>
            <a:endParaRPr/>
          </a:p>
          <a:p>
            <a:pPr indent="-304800" lvl="0" marL="457200" rtl="0" algn="l">
              <a:spcBef>
                <a:spcPts val="0"/>
              </a:spcBef>
              <a:spcAft>
                <a:spcPts val="0"/>
              </a:spcAft>
              <a:buSzPts val="1200"/>
              <a:buChar char="●"/>
            </a:pPr>
            <a:r>
              <a:rPr lang="en"/>
              <a:t>Bring a Folder containing</a:t>
            </a:r>
            <a:endParaRPr/>
          </a:p>
          <a:p>
            <a:pPr indent="-304800" lvl="1" marL="914400" rtl="0" algn="l">
              <a:spcBef>
                <a:spcPts val="0"/>
              </a:spcBef>
              <a:spcAft>
                <a:spcPts val="0"/>
              </a:spcAft>
              <a:buSzPts val="1200"/>
              <a:buChar char="○"/>
            </a:pPr>
            <a:r>
              <a:rPr lang="en"/>
              <a:t>1 resume/CV (cover letter optional)for each person that will be at the interview.  This includes yourself.  E.g. 4 person panel, bring 5 copies</a:t>
            </a:r>
            <a:endParaRPr/>
          </a:p>
          <a:p>
            <a:pPr indent="-304800" lvl="0" marL="457200" rtl="0" algn="l">
              <a:spcBef>
                <a:spcPts val="0"/>
              </a:spcBef>
              <a:spcAft>
                <a:spcPts val="0"/>
              </a:spcAft>
              <a:buSzPts val="1200"/>
              <a:buChar char="●"/>
            </a:pPr>
            <a:r>
              <a:rPr lang="en"/>
              <a:t>Wear Nice Clothes</a:t>
            </a:r>
            <a:endParaRPr/>
          </a:p>
          <a:p>
            <a:pPr indent="-304800" lvl="1" marL="914400" rtl="0" algn="l">
              <a:spcBef>
                <a:spcPts val="0"/>
              </a:spcBef>
              <a:spcAft>
                <a:spcPts val="0"/>
              </a:spcAft>
              <a:buSzPts val="1200"/>
              <a:buChar char="○"/>
            </a:pPr>
            <a:r>
              <a:rPr lang="en"/>
              <a:t>Good rule of thumb is to dress one step higher than what you would wear to work there.</a:t>
            </a:r>
            <a:endParaRPr/>
          </a:p>
          <a:p>
            <a:pPr indent="-304800" lvl="1" marL="914400" rtl="0" algn="l">
              <a:spcBef>
                <a:spcPts val="0"/>
              </a:spcBef>
              <a:spcAft>
                <a:spcPts val="0"/>
              </a:spcAft>
              <a:buSzPts val="1200"/>
              <a:buChar char="○"/>
            </a:pPr>
            <a:r>
              <a:rPr lang="en"/>
              <a:t>If in doubt, overdress, better to be overdressed and look eager than to underdress and look like you don’t care about the job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Tips</a:t>
            </a:r>
            <a:endParaRPr/>
          </a:p>
        </p:txBody>
      </p:sp>
      <p:sp>
        <p:nvSpPr>
          <p:cNvPr id="190" name="Google Shape;190;p36"/>
          <p:cNvSpPr txBox="1"/>
          <p:nvPr>
            <p:ph idx="1" type="body"/>
          </p:nvPr>
        </p:nvSpPr>
        <p:spPr>
          <a:xfrm>
            <a:off x="311700" y="1389600"/>
            <a:ext cx="81177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PRAAAACTICE PRACTICE PRACTICE</a:t>
            </a:r>
            <a:endParaRPr/>
          </a:p>
          <a:p>
            <a:pPr indent="-304800" lvl="0" marL="457200" rtl="0" algn="l">
              <a:spcBef>
                <a:spcPts val="0"/>
              </a:spcBef>
              <a:spcAft>
                <a:spcPts val="0"/>
              </a:spcAft>
              <a:buSzPts val="1200"/>
              <a:buChar char="●"/>
            </a:pPr>
            <a:r>
              <a:rPr lang="en"/>
              <a:t>Do mock interviews</a:t>
            </a:r>
            <a:endParaRPr/>
          </a:p>
          <a:p>
            <a:pPr indent="-304800" lvl="0" marL="457200" rtl="0" algn="l">
              <a:spcBef>
                <a:spcPts val="0"/>
              </a:spcBef>
              <a:spcAft>
                <a:spcPts val="0"/>
              </a:spcAft>
              <a:buSzPts val="1200"/>
              <a:buChar char="●"/>
            </a:pPr>
            <a:r>
              <a:rPr lang="en"/>
              <a:t>W</a:t>
            </a:r>
            <a:r>
              <a:rPr lang="en"/>
              <a:t>ear and use all the stuff you'll actually wear and use in the actual interview</a:t>
            </a:r>
            <a:endParaRPr/>
          </a:p>
          <a:p>
            <a:pPr indent="-304800" lvl="1" marL="914400" rtl="0" algn="l">
              <a:spcBef>
                <a:spcPts val="0"/>
              </a:spcBef>
              <a:spcAft>
                <a:spcPts val="0"/>
              </a:spcAft>
              <a:buSzPts val="1200"/>
              <a:buChar char="○"/>
            </a:pPr>
            <a:r>
              <a:rPr lang="en"/>
              <a:t>For example if you practice in comfortable clothes and on your computer over zoom, You might not realize how much you play with your collar, play with your water bottle, and fiddle with your pen when you're nervous and thinking</a:t>
            </a:r>
            <a:endParaRPr/>
          </a:p>
          <a:p>
            <a:pPr indent="-304800" lvl="0" marL="457200" rtl="0" algn="l">
              <a:spcBef>
                <a:spcPts val="0"/>
              </a:spcBef>
              <a:spcAft>
                <a:spcPts val="0"/>
              </a:spcAft>
              <a:buSzPts val="1200"/>
              <a:buChar char="●"/>
            </a:pPr>
            <a:r>
              <a:rPr lang="en"/>
              <a:t>If you're doing your interview over zoom make sure all your computer stuff works ahead of time</a:t>
            </a:r>
            <a:endParaRPr/>
          </a:p>
          <a:p>
            <a:pPr indent="-304800" lvl="0" marL="457200" rtl="0" algn="l">
              <a:spcBef>
                <a:spcPts val="0"/>
              </a:spcBef>
              <a:spcAft>
                <a:spcPts val="0"/>
              </a:spcAft>
              <a:buSzPts val="1200"/>
              <a:buChar char="●"/>
            </a:pPr>
            <a:r>
              <a:rPr lang="en"/>
              <a:t>A slow well considered answer is better than a rushed answer</a:t>
            </a:r>
            <a:endParaRPr/>
          </a:p>
          <a:p>
            <a:pPr indent="-304800" lvl="0" marL="457200" rtl="0" algn="l">
              <a:spcBef>
                <a:spcPts val="0"/>
              </a:spcBef>
              <a:spcAft>
                <a:spcPts val="0"/>
              </a:spcAft>
              <a:buSzPts val="1200"/>
              <a:buChar char="●"/>
            </a:pPr>
            <a:r>
              <a:rPr lang="en"/>
              <a:t>If you need a slight break, a sip of water will give you a second</a:t>
            </a:r>
            <a:endParaRPr/>
          </a:p>
          <a:p>
            <a:pPr indent="-304800" lvl="0" marL="457200" rtl="0" algn="l">
              <a:spcBef>
                <a:spcPts val="0"/>
              </a:spcBef>
              <a:spcAft>
                <a:spcPts val="0"/>
              </a:spcAft>
              <a:buSzPts val="1200"/>
              <a:buChar char="●"/>
            </a:pPr>
            <a:r>
              <a:rPr lang="en"/>
              <a:t>BREATHE!!!!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Salary Negotiation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type="title"/>
          </p:nvPr>
        </p:nvSpPr>
        <p:spPr>
          <a:xfrm>
            <a:off x="311700" y="111575"/>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Tips</a:t>
            </a:r>
            <a:endParaRPr/>
          </a:p>
        </p:txBody>
      </p:sp>
      <p:sp>
        <p:nvSpPr>
          <p:cNvPr id="201" name="Google Shape;201;p38"/>
          <p:cNvSpPr txBox="1"/>
          <p:nvPr>
            <p:ph idx="1" type="body"/>
          </p:nvPr>
        </p:nvSpPr>
        <p:spPr>
          <a:xfrm>
            <a:off x="311700" y="821475"/>
            <a:ext cx="8117700" cy="4322100"/>
          </a:xfrm>
          <a:prstGeom prst="rect">
            <a:avLst/>
          </a:prstGeom>
        </p:spPr>
        <p:txBody>
          <a:bodyPr anchorCtr="0" anchor="t" bIns="91425" lIns="91425" spcFirstLastPara="1" rIns="91425" wrap="square" tIns="91425">
            <a:normAutofit fontScale="77500" lnSpcReduction="10000"/>
          </a:bodyPr>
          <a:lstStyle/>
          <a:p>
            <a:pPr indent="-295905" lvl="0" marL="457200" rtl="0" algn="l">
              <a:spcBef>
                <a:spcPts val="0"/>
              </a:spcBef>
              <a:spcAft>
                <a:spcPts val="0"/>
              </a:spcAft>
              <a:buClr>
                <a:srgbClr val="222222"/>
              </a:buClr>
              <a:buSzPct val="100000"/>
              <a:buChar char="●"/>
            </a:pPr>
            <a:r>
              <a:rPr lang="en" sz="1368">
                <a:solidFill>
                  <a:srgbClr val="222222"/>
                </a:solidFill>
                <a:highlight>
                  <a:srgbClr val="FFFFFF"/>
                </a:highlight>
              </a:rPr>
              <a:t>To be able to negotiate salary effectively is like haggling at a market. If you're willing to walk away, you're going to do a lot better.</a:t>
            </a:r>
            <a:endParaRPr sz="1368">
              <a:solidFill>
                <a:srgbClr val="222222"/>
              </a:solidFill>
              <a:highlight>
                <a:srgbClr val="FFFFFF"/>
              </a:highlight>
            </a:endParaRPr>
          </a:p>
          <a:p>
            <a:pPr indent="-295905" lvl="0" marL="457200" rtl="0" algn="l">
              <a:spcBef>
                <a:spcPts val="0"/>
              </a:spcBef>
              <a:spcAft>
                <a:spcPts val="0"/>
              </a:spcAft>
              <a:buClr>
                <a:srgbClr val="222222"/>
              </a:buClr>
              <a:buSzPct val="100000"/>
              <a:buChar char="●"/>
            </a:pPr>
            <a:r>
              <a:rPr lang="en" sz="1368">
                <a:solidFill>
                  <a:srgbClr val="222222"/>
                </a:solidFill>
                <a:highlight>
                  <a:srgbClr val="FFFFFF"/>
                </a:highlight>
              </a:rPr>
              <a:t>Rule #1 be willing to walk away if you can. </a:t>
            </a:r>
            <a:endParaRPr sz="1368">
              <a:solidFill>
                <a:srgbClr val="222222"/>
              </a:solidFill>
              <a:highlight>
                <a:srgbClr val="FFFFFF"/>
              </a:highlight>
            </a:endParaRPr>
          </a:p>
          <a:p>
            <a:pPr indent="-295905" lvl="1" marL="914400" rtl="0" algn="l">
              <a:spcBef>
                <a:spcPts val="0"/>
              </a:spcBef>
              <a:spcAft>
                <a:spcPts val="0"/>
              </a:spcAft>
              <a:buClr>
                <a:srgbClr val="222222"/>
              </a:buClr>
              <a:buSzPct val="100000"/>
              <a:buChar char="○"/>
            </a:pPr>
            <a:r>
              <a:rPr lang="en" sz="1368">
                <a:solidFill>
                  <a:srgbClr val="222222"/>
                </a:solidFill>
                <a:highlight>
                  <a:srgbClr val="FFFFFF"/>
                </a:highlight>
              </a:rPr>
              <a:t>If you're currently living at home, and the job market is fairly competitive walking away if things don't go your way isn't too painful. </a:t>
            </a:r>
            <a:endParaRPr sz="1368">
              <a:solidFill>
                <a:srgbClr val="222222"/>
              </a:solidFill>
              <a:highlight>
                <a:srgbClr val="FFFFFF"/>
              </a:highlight>
            </a:endParaRPr>
          </a:p>
          <a:p>
            <a:pPr indent="-295905" lvl="1" marL="914400" rtl="0" algn="l">
              <a:spcBef>
                <a:spcPts val="0"/>
              </a:spcBef>
              <a:spcAft>
                <a:spcPts val="0"/>
              </a:spcAft>
              <a:buClr>
                <a:srgbClr val="222222"/>
              </a:buClr>
              <a:buSzPct val="100000"/>
              <a:buChar char="○"/>
            </a:pPr>
            <a:r>
              <a:rPr lang="en" sz="1368">
                <a:solidFill>
                  <a:srgbClr val="222222"/>
                </a:solidFill>
                <a:highlight>
                  <a:srgbClr val="FFFFFF"/>
                </a:highlight>
              </a:rPr>
              <a:t>Your ability to walk away is determined by your savings, your spouse's income, and maybe other job offers</a:t>
            </a:r>
            <a:endParaRPr sz="1368">
              <a:solidFill>
                <a:srgbClr val="222222"/>
              </a:solidFill>
              <a:highlight>
                <a:srgbClr val="FFFFFF"/>
              </a:highlight>
            </a:endParaRPr>
          </a:p>
          <a:p>
            <a:pPr indent="-295905" lvl="1" marL="914400" rtl="0" algn="l">
              <a:spcBef>
                <a:spcPts val="0"/>
              </a:spcBef>
              <a:spcAft>
                <a:spcPts val="0"/>
              </a:spcAft>
              <a:buClr>
                <a:srgbClr val="222222"/>
              </a:buClr>
              <a:buSzPct val="100000"/>
              <a:buChar char="○"/>
            </a:pPr>
            <a:r>
              <a:rPr lang="en" sz="1368">
                <a:solidFill>
                  <a:srgbClr val="222222"/>
                </a:solidFill>
                <a:highlight>
                  <a:srgbClr val="FFFFFF"/>
                </a:highlight>
              </a:rPr>
              <a:t>If you’re unemployed, and need to pay bills this limits your bargaining power</a:t>
            </a:r>
            <a:endParaRPr sz="1368">
              <a:solidFill>
                <a:srgbClr val="222222"/>
              </a:solidFill>
              <a:highlight>
                <a:srgbClr val="FFFFFF"/>
              </a:highlight>
            </a:endParaRPr>
          </a:p>
          <a:p>
            <a:pPr indent="-295905" lvl="0" marL="457200" rtl="0" algn="l">
              <a:spcBef>
                <a:spcPts val="0"/>
              </a:spcBef>
              <a:spcAft>
                <a:spcPts val="0"/>
              </a:spcAft>
              <a:buClr>
                <a:srgbClr val="222222"/>
              </a:buClr>
              <a:buSzPct val="100000"/>
              <a:buChar char="●"/>
            </a:pPr>
            <a:r>
              <a:rPr lang="en" sz="1368">
                <a:solidFill>
                  <a:srgbClr val="222222"/>
                </a:solidFill>
              </a:rPr>
              <a:t>Rule #2 is whoever gives a number first loses</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When someone throws out a number it sets the expectation. If you give a number first and it's lower than what they were thinking, they'll just agree and you'll have lost out on potential income.</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This part ties into rule 3</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If they give their number first, you can counter with a reasonable increase</a:t>
            </a:r>
            <a:endParaRPr sz="1368">
              <a:solidFill>
                <a:srgbClr val="222222"/>
              </a:solidFill>
            </a:endParaRPr>
          </a:p>
          <a:p>
            <a:pPr indent="-295905" lvl="0" marL="457200" rtl="0" algn="l">
              <a:spcBef>
                <a:spcPts val="0"/>
              </a:spcBef>
              <a:spcAft>
                <a:spcPts val="0"/>
              </a:spcAft>
              <a:buClr>
                <a:srgbClr val="222222"/>
              </a:buClr>
              <a:buSzPct val="100000"/>
              <a:buChar char="●"/>
            </a:pPr>
            <a:r>
              <a:rPr lang="en" sz="1368">
                <a:solidFill>
                  <a:srgbClr val="222222"/>
                </a:solidFill>
              </a:rPr>
              <a:t>Rule #3 highballing strategy</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This is a psych trick/sales technique</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It's a form of anchoring, unfortunately anchoring goes both ways since if you already work for the company. That's why your biggest raises come when you switch companies</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Let's say they want to pay you 70k a year and you want 80k</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If you counter their 70k with 80k they'll counter with 75k maybe</a:t>
            </a:r>
            <a:endParaRPr sz="1368">
              <a:solidFill>
                <a:srgbClr val="222222"/>
              </a:solidFill>
            </a:endParaRPr>
          </a:p>
          <a:p>
            <a:pPr indent="-295905" lvl="1" marL="914400" rtl="0" algn="l">
              <a:spcBef>
                <a:spcPts val="0"/>
              </a:spcBef>
              <a:spcAft>
                <a:spcPts val="0"/>
              </a:spcAft>
              <a:buClr>
                <a:srgbClr val="222222"/>
              </a:buClr>
              <a:buSzPct val="100000"/>
              <a:buChar char="○"/>
            </a:pPr>
            <a:r>
              <a:rPr lang="en" sz="1368">
                <a:solidFill>
                  <a:srgbClr val="222222"/>
                </a:solidFill>
              </a:rPr>
              <a:t>If you counter with the highest reasonable #. For example 90k. 80k will sound much more attractive to them.</a:t>
            </a:r>
            <a:endParaRPr sz="1368">
              <a:solidFill>
                <a:srgbClr val="222222"/>
              </a:solidFill>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txBox="1"/>
          <p:nvPr>
            <p:ph type="title"/>
          </p:nvPr>
        </p:nvSpPr>
        <p:spPr>
          <a:xfrm>
            <a:off x="311700" y="111575"/>
            <a:ext cx="47187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Retention Offers and How to Handle Them</a:t>
            </a:r>
            <a:endParaRPr/>
          </a:p>
        </p:txBody>
      </p:sp>
      <p:sp>
        <p:nvSpPr>
          <p:cNvPr id="207" name="Google Shape;207;p39"/>
          <p:cNvSpPr txBox="1"/>
          <p:nvPr>
            <p:ph idx="1" type="body"/>
          </p:nvPr>
        </p:nvSpPr>
        <p:spPr>
          <a:xfrm>
            <a:off x="311700" y="821475"/>
            <a:ext cx="8117700" cy="4322100"/>
          </a:xfrm>
          <a:prstGeom prst="rect">
            <a:avLst/>
          </a:prstGeom>
        </p:spPr>
        <p:txBody>
          <a:bodyPr anchorCtr="0" anchor="t" bIns="91425" lIns="91425" spcFirstLastPara="1" rIns="91425" wrap="square" tIns="91425">
            <a:normAutofit/>
          </a:bodyPr>
          <a:lstStyle/>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Its always a good time to ask for more money when you’re planning on quitting anyways</a:t>
            </a:r>
            <a:endParaRPr sz="1368">
              <a:solidFill>
                <a:srgbClr val="222222"/>
              </a:solidFill>
              <a:highlight>
                <a:srgbClr val="FFFFFF"/>
              </a:highlight>
            </a:endParaRPr>
          </a:p>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Who knows they might offer you something that makes you happy to work there again.</a:t>
            </a:r>
            <a:endParaRPr sz="1368">
              <a:solidFill>
                <a:srgbClr val="222222"/>
              </a:solidFill>
              <a:highlight>
                <a:srgbClr val="FFFFFF"/>
              </a:highlight>
            </a:endParaRPr>
          </a:p>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Don’t stay at a company you told you’re leaving</a:t>
            </a:r>
            <a:endParaRPr sz="1368">
              <a:solidFill>
                <a:srgbClr val="222222"/>
              </a:solidFill>
              <a:highlight>
                <a:srgbClr val="FFFFFF"/>
              </a:highlight>
            </a:endParaRPr>
          </a:p>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They may just use the time you gave them by staying to find your replacement</a:t>
            </a:r>
            <a:endParaRPr sz="1368">
              <a:solidFill>
                <a:srgbClr val="222222"/>
              </a:solidFill>
              <a:highlight>
                <a:srgbClr val="FFFFFF"/>
              </a:highlight>
            </a:endParaRPr>
          </a:p>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Entertain their offer, try to get more money than your current offer from your new employer.</a:t>
            </a:r>
            <a:endParaRPr sz="1368">
              <a:solidFill>
                <a:srgbClr val="222222"/>
              </a:solidFill>
              <a:highlight>
                <a:srgbClr val="FFFFFF"/>
              </a:highlight>
            </a:endParaRPr>
          </a:p>
          <a:p>
            <a:pPr indent="-315446" lvl="0" marL="457200" rtl="0" algn="l">
              <a:spcBef>
                <a:spcPts val="0"/>
              </a:spcBef>
              <a:spcAft>
                <a:spcPts val="0"/>
              </a:spcAft>
              <a:buClr>
                <a:srgbClr val="222222"/>
              </a:buClr>
              <a:buSzPts val="1368"/>
              <a:buChar char="●"/>
            </a:pPr>
            <a:r>
              <a:rPr lang="en" sz="1368">
                <a:solidFill>
                  <a:srgbClr val="222222"/>
                </a:solidFill>
                <a:highlight>
                  <a:srgbClr val="FFFFFF"/>
                </a:highlight>
              </a:rPr>
              <a:t>Take that offer, and ask your new employer if they can match or beat it.</a:t>
            </a:r>
            <a:endParaRPr sz="1368">
              <a:solidFill>
                <a:srgbClr val="222222"/>
              </a:solidFill>
              <a:highlight>
                <a:srgbClr val="FFFFFF"/>
              </a:highlight>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Other Stuff From Cat</a:t>
            </a:r>
            <a:endParaRPr/>
          </a:p>
        </p:txBody>
      </p:sp>
      <p:sp>
        <p:nvSpPr>
          <p:cNvPr id="213" name="Google Shape;213;p40"/>
          <p:cNvSpPr txBox="1"/>
          <p:nvPr>
            <p:ph idx="1" type="body"/>
          </p:nvPr>
        </p:nvSpPr>
        <p:spPr>
          <a:xfrm>
            <a:off x="311700" y="1389600"/>
            <a:ext cx="76071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u="sng">
                <a:solidFill>
                  <a:schemeClr val="hlink"/>
                </a:solidFill>
                <a:hlinkClick r:id="rId3"/>
              </a:rPr>
              <a:t>https://www.careerorganic.com/blog/from-youtuber-to-scientific-writer-4-tips-i-learned-in-my-career-transition</a:t>
            </a:r>
            <a:endParaRPr/>
          </a:p>
          <a:p>
            <a:pPr indent="-304800" lvl="0" marL="457200" rtl="0" algn="l">
              <a:spcBef>
                <a:spcPts val="0"/>
              </a:spcBef>
              <a:spcAft>
                <a:spcPts val="0"/>
              </a:spcAft>
              <a:buSzPts val="1200"/>
              <a:buChar char="●"/>
            </a:pPr>
            <a:r>
              <a:rPr lang="en" u="sng">
                <a:solidFill>
                  <a:schemeClr val="hlink"/>
                </a:solidFill>
                <a:hlinkClick r:id="rId4"/>
              </a:rPr>
              <a:t>https://www.careerorganic.com/blog/graduating-from-intern-to-employee-as-told-by-hamilton-lyrics</a:t>
            </a:r>
            <a:endParaRPr/>
          </a:p>
          <a:p>
            <a:pPr indent="-304800" lvl="0" marL="457200" rtl="0" algn="l">
              <a:spcBef>
                <a:spcPts val="0"/>
              </a:spcBef>
              <a:spcAft>
                <a:spcPts val="0"/>
              </a:spcAft>
              <a:buSzPts val="1200"/>
              <a:buChar char="●"/>
            </a:pPr>
            <a:r>
              <a:rPr lang="en" u="sng">
                <a:solidFill>
                  <a:schemeClr val="hlink"/>
                </a:solidFill>
                <a:hlinkClick r:id="rId5"/>
              </a:rPr>
              <a:t>https://www.careerorganic.com/blog/11-disney-gifs-to-help-you-achieve-your-dream-job-goals</a:t>
            </a:r>
            <a:r>
              <a:rPr lang="en"/>
              <a:t> </a:t>
            </a:r>
            <a:endParaRPr/>
          </a:p>
          <a:p>
            <a:pPr indent="0" lvl="0" marL="4572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