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jQGi2nxI+xhfb2XvSTIzNTV6KS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C7D8A60-8819-47AD-AC98-8979D3194A4D}">
  <a:tblStyle styleId="{FC7D8A60-8819-47AD-AC98-8979D3194A4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92e6f0be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g3e92e6f0be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g3e92e6f0be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e92e6f0be2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3e92e6f0be2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g3e92e6f0be2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e92e6f0be2_0_4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3e92e6f0be2_0_4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g3e92e6f0be2_0_4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e92e6f0be2_0_4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g3e92e6f0be2_0_4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g3e92e6f0be2_0_4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 name="Google Shape;58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e92e6f0be2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e92e6f0be2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5" name="Google Shape;635;g3e92e6f0be2_0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e92e6f0be2_0_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g3e92e6f0be2_0_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g3e92e6f0be2_0_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e92e6f0be2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g3e92e6f0be2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g3e92e6f0be2_0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 name="Google Shape;74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 name="Google Shape;74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6" name="Google Shape;78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2" name="Google Shape;84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e92e6f0be2_0_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8" name="Google Shape;888;g3e92e6f0be2_0_2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9" name="Google Shape;889;g3e92e6f0be2_0_2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 name="Google Shape;89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e92e6f0be2_0_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g3e92e6f0be2_0_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 name="Google Shape;938;g3e92e6f0be2_0_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e92e6f0be2_0_2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8" name="Google Shape;978;g3e92e6f0be2_0_2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9" name="Google Shape;979;g3e92e6f0be2_0_2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e92e6f0be2_0_2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9" name="Google Shape;1019;g3e92e6f0be2_0_2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0" name="Google Shape;1020;g3e92e6f0be2_0_2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e92e6f0be2_0_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8" name="Google Shape;1048;g3e92e6f0be2_0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9" name="Google Shape;1049;g3e92e6f0be2_0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e92e6f0be2_0_3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g3e92e6f0be2_0_3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5" name="Google Shape;1085;g3e92e6f0be2_0_3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9" name="Google Shape;11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0" name="Google Shape;11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5852160" y="73152"/>
            <a:ext cx="3291840" cy="4997196"/>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5486400" y="73152"/>
            <a:ext cx="457200" cy="4997196"/>
          </a:xfrm>
          <a:prstGeom prst="rect">
            <a:avLst/>
          </a:prstGeom>
          <a:solidFill>
            <a:srgbClr val="3A6BC4">
              <a:alpha val="54901"/>
            </a:srgbClr>
          </a:solidFill>
          <a:ln cap="flat" cmpd="sng" w="12700">
            <a:solidFill>
              <a:srgbClr val="3A6BC4">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457200" y="914400"/>
            <a:ext cx="51206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C0A"/>
              </a:buClr>
              <a:buSzPts val="1000"/>
              <a:buFont typeface="Calibri"/>
              <a:buNone/>
            </a:pPr>
            <a:r>
              <a:rPr b="1" i="0" lang="en-US" sz="1000" u="none" cap="none" strike="noStrike">
                <a:solidFill>
                  <a:srgbClr val="E87C0A"/>
                </a:solidFill>
                <a:latin typeface="Calibri"/>
                <a:ea typeface="Calibri"/>
                <a:cs typeface="Calibri"/>
                <a:sym typeface="Calibri"/>
              </a:rPr>
              <a:t>FIRST ROBOTICS COMPETITION</a:t>
            </a:r>
            <a:endParaRPr b="0" i="0" sz="1000" u="none" cap="none" strike="noStrike">
              <a:solidFill>
                <a:schemeClr val="dk1"/>
              </a:solidFill>
              <a:latin typeface="Calibri"/>
              <a:ea typeface="Calibri"/>
              <a:cs typeface="Calibri"/>
              <a:sym typeface="Calibri"/>
            </a:endParaRPr>
          </a:p>
        </p:txBody>
      </p:sp>
      <p:sp>
        <p:nvSpPr>
          <p:cNvPr id="21" name="Google Shape;21;p1"/>
          <p:cNvSpPr/>
          <p:nvPr/>
        </p:nvSpPr>
        <p:spPr>
          <a:xfrm>
            <a:off x="457200" y="1298448"/>
            <a:ext cx="512064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00"/>
              <a:buFont typeface="Calibri"/>
              <a:buNone/>
            </a:pPr>
            <a:r>
              <a:rPr b="1" i="0" lang="en-US" sz="4600" u="none" cap="none" strike="noStrike">
                <a:solidFill>
                  <a:srgbClr val="FFFFFF"/>
                </a:solidFill>
                <a:latin typeface="Calibri"/>
                <a:ea typeface="Calibri"/>
                <a:cs typeface="Calibri"/>
                <a:sym typeface="Calibri"/>
              </a:rPr>
              <a:t>The </a:t>
            </a:r>
            <a:r>
              <a:rPr b="1" lang="en-US" sz="4600">
                <a:solidFill>
                  <a:srgbClr val="FFFFFF"/>
                </a:solidFill>
                <a:latin typeface="Calibri"/>
                <a:ea typeface="Calibri"/>
                <a:cs typeface="Calibri"/>
                <a:sym typeface="Calibri"/>
              </a:rPr>
              <a:t>Introductory</a:t>
            </a:r>
            <a:endParaRPr b="0" i="0" sz="4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600"/>
              <a:buFont typeface="Calibri"/>
              <a:buNone/>
            </a:pPr>
            <a:r>
              <a:rPr b="1" i="0" lang="en-US" sz="4600" u="none" cap="none" strike="noStrike">
                <a:solidFill>
                  <a:srgbClr val="FFFFFF"/>
                </a:solidFill>
                <a:latin typeface="Calibri"/>
                <a:ea typeface="Calibri"/>
                <a:cs typeface="Calibri"/>
                <a:sym typeface="Calibri"/>
              </a:rPr>
              <a:t>Guide</a:t>
            </a:r>
            <a:endParaRPr b="0" i="0" sz="4600" u="none" cap="none" strike="noStrike">
              <a:solidFill>
                <a:schemeClr val="dk1"/>
              </a:solidFill>
              <a:latin typeface="Calibri"/>
              <a:ea typeface="Calibri"/>
              <a:cs typeface="Calibri"/>
              <a:sym typeface="Calibri"/>
            </a:endParaRPr>
          </a:p>
        </p:txBody>
      </p:sp>
      <p:sp>
        <p:nvSpPr>
          <p:cNvPr id="22" name="Google Shape;22;p1"/>
          <p:cNvSpPr/>
          <p:nvPr/>
        </p:nvSpPr>
        <p:spPr>
          <a:xfrm>
            <a:off x="457200" y="3200400"/>
            <a:ext cx="49377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E4F0"/>
              </a:buClr>
              <a:buSzPts val="1400"/>
              <a:buFont typeface="Calibri"/>
              <a:buNone/>
            </a:pPr>
            <a:r>
              <a:rPr b="0" i="0" lang="en-US" sz="1400" u="none" cap="none" strike="noStrike">
                <a:solidFill>
                  <a:srgbClr val="D8E4F0"/>
                </a:solidFill>
                <a:latin typeface="Calibri"/>
                <a:ea typeface="Calibri"/>
                <a:cs typeface="Calibri"/>
                <a:sym typeface="Calibri"/>
              </a:rPr>
              <a:t>History · Games · Legendary Teams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D8E4F0"/>
              </a:buClr>
              <a:buSzPts val="1400"/>
              <a:buFont typeface="Calibri"/>
              <a:buNone/>
            </a:pPr>
            <a:r>
              <a:rPr b="0" i="0" lang="en-US" sz="1400" u="none" cap="none" strike="noStrike">
                <a:solidFill>
                  <a:srgbClr val="D8E4F0"/>
                </a:solidFill>
                <a:latin typeface="Calibri"/>
                <a:ea typeface="Calibri"/>
                <a:cs typeface="Calibri"/>
                <a:sym typeface="Calibri"/>
              </a:rPr>
              <a:t>Values · Suppliers · Competitive Meta</a:t>
            </a:r>
            <a:endParaRPr b="0" i="0" sz="1400" u="none" cap="none" strike="noStrike">
              <a:solidFill>
                <a:schemeClr val="dk1"/>
              </a:solidFill>
              <a:latin typeface="Calibri"/>
              <a:ea typeface="Calibri"/>
              <a:cs typeface="Calibri"/>
              <a:sym typeface="Calibri"/>
            </a:endParaRPr>
          </a:p>
        </p:txBody>
      </p:sp>
      <p:sp>
        <p:nvSpPr>
          <p:cNvPr id="23" name="Google Shape;23;p1"/>
          <p:cNvSpPr/>
          <p:nvPr/>
        </p:nvSpPr>
        <p:spPr>
          <a:xfrm>
            <a:off x="5989320" y="1051560"/>
            <a:ext cx="2651760" cy="594360"/>
          </a:xfrm>
          <a:prstGeom prst="rect">
            <a:avLst/>
          </a:prstGeom>
          <a:solidFill>
            <a:srgbClr val="0D1B2A">
              <a:alpha val="70196"/>
            </a:srgbClr>
          </a:solidFill>
          <a:ln cap="flat" cmpd="sng" w="9525">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6080760" y="1051560"/>
            <a:ext cx="2468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1. FIRST History &amp; Values</a:t>
            </a:r>
            <a:endParaRPr b="0" i="0" sz="1100" u="none" cap="none" strike="noStrike">
              <a:solidFill>
                <a:schemeClr val="dk1"/>
              </a:solidFill>
              <a:latin typeface="Calibri"/>
              <a:ea typeface="Calibri"/>
              <a:cs typeface="Calibri"/>
              <a:sym typeface="Calibri"/>
            </a:endParaRPr>
          </a:p>
        </p:txBody>
      </p:sp>
      <p:sp>
        <p:nvSpPr>
          <p:cNvPr id="25" name="Google Shape;25;p1"/>
          <p:cNvSpPr/>
          <p:nvPr/>
        </p:nvSpPr>
        <p:spPr>
          <a:xfrm>
            <a:off x="5989320" y="1764792"/>
            <a:ext cx="2651760" cy="594360"/>
          </a:xfrm>
          <a:prstGeom prst="rect">
            <a:avLst/>
          </a:prstGeom>
          <a:solidFill>
            <a:srgbClr val="0D1B2A">
              <a:alpha val="70196"/>
            </a:srgbClr>
          </a:solidFill>
          <a:ln cap="flat" cmpd="sng" w="9525">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6080760" y="1764792"/>
            <a:ext cx="2468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2. Game History 1992–2026</a:t>
            </a:r>
            <a:endParaRPr b="0" i="0" sz="1100" u="none" cap="none" strike="noStrike">
              <a:solidFill>
                <a:schemeClr val="dk1"/>
              </a:solidFill>
              <a:latin typeface="Calibri"/>
              <a:ea typeface="Calibri"/>
              <a:cs typeface="Calibri"/>
              <a:sym typeface="Calibri"/>
            </a:endParaRPr>
          </a:p>
        </p:txBody>
      </p:sp>
      <p:sp>
        <p:nvSpPr>
          <p:cNvPr id="27" name="Google Shape;27;p1"/>
          <p:cNvSpPr/>
          <p:nvPr/>
        </p:nvSpPr>
        <p:spPr>
          <a:xfrm>
            <a:off x="5989320" y="2478024"/>
            <a:ext cx="2651760" cy="594360"/>
          </a:xfrm>
          <a:prstGeom prst="rect">
            <a:avLst/>
          </a:prstGeom>
          <a:solidFill>
            <a:srgbClr val="0D1B2A">
              <a:alpha val="70196"/>
            </a:srgbClr>
          </a:solidFill>
          <a:ln cap="flat" cmpd="sng" w="9525">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6080760" y="2478024"/>
            <a:ext cx="2468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3. Legendary Teams</a:t>
            </a:r>
            <a:endParaRPr b="0" i="0" sz="1100" u="none" cap="none" strike="noStrike">
              <a:solidFill>
                <a:schemeClr val="dk1"/>
              </a:solidFill>
              <a:latin typeface="Calibri"/>
              <a:ea typeface="Calibri"/>
              <a:cs typeface="Calibri"/>
              <a:sym typeface="Calibri"/>
            </a:endParaRPr>
          </a:p>
        </p:txBody>
      </p:sp>
      <p:sp>
        <p:nvSpPr>
          <p:cNvPr id="29" name="Google Shape;29;p1"/>
          <p:cNvSpPr/>
          <p:nvPr/>
        </p:nvSpPr>
        <p:spPr>
          <a:xfrm>
            <a:off x="5989320" y="3191256"/>
            <a:ext cx="2651760" cy="594360"/>
          </a:xfrm>
          <a:prstGeom prst="rect">
            <a:avLst/>
          </a:prstGeom>
          <a:solidFill>
            <a:srgbClr val="0D1B2A">
              <a:alpha val="70196"/>
            </a:srgbClr>
          </a:solidFill>
          <a:ln cap="flat" cmpd="sng" w="9525">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6080760" y="3191256"/>
            <a:ext cx="2468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4. Current Meta &amp; Open Alliance</a:t>
            </a:r>
            <a:endParaRPr b="0" i="0" sz="1100" u="none" cap="none" strike="noStrike">
              <a:solidFill>
                <a:schemeClr val="dk1"/>
              </a:solidFill>
              <a:latin typeface="Calibri"/>
              <a:ea typeface="Calibri"/>
              <a:cs typeface="Calibri"/>
              <a:sym typeface="Calibri"/>
            </a:endParaRPr>
          </a:p>
        </p:txBody>
      </p:sp>
      <p:sp>
        <p:nvSpPr>
          <p:cNvPr id="31" name="Google Shape;31;p1"/>
          <p:cNvSpPr/>
          <p:nvPr/>
        </p:nvSpPr>
        <p:spPr>
          <a:xfrm>
            <a:off x="5989320" y="3904488"/>
            <a:ext cx="2651760" cy="594360"/>
          </a:xfrm>
          <a:prstGeom prst="rect">
            <a:avLst/>
          </a:prstGeom>
          <a:solidFill>
            <a:srgbClr val="0D1B2A">
              <a:alpha val="70196"/>
            </a:srgbClr>
          </a:solidFill>
          <a:ln cap="flat" cmpd="sng" w="9525">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a:off x="6080760" y="3904488"/>
            <a:ext cx="2468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5. Supplier Guide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37" name="Shape 37"/>
        <p:cNvGrpSpPr/>
        <p:nvPr/>
      </p:nvGrpSpPr>
      <p:grpSpPr>
        <a:xfrm>
          <a:off x="0" y="0"/>
          <a:ext cx="0" cy="0"/>
          <a:chOff x="0" y="0"/>
          <a:chExt cx="0" cy="0"/>
        </a:xfrm>
      </p:grpSpPr>
      <p:sp>
        <p:nvSpPr>
          <p:cNvPr id="38" name="Google Shape;38;p2"/>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The Origins of FIRST</a:t>
            </a:r>
            <a:endParaRPr b="0" i="0" sz="2100" u="none" cap="none" strike="noStrike">
              <a:solidFill>
                <a:schemeClr val="dk1"/>
              </a:solidFill>
              <a:latin typeface="Calibri"/>
              <a:ea typeface="Calibri"/>
              <a:cs typeface="Calibri"/>
              <a:sym typeface="Calibri"/>
            </a:endParaRPr>
          </a:p>
        </p:txBody>
      </p:sp>
      <p:sp>
        <p:nvSpPr>
          <p:cNvPr id="40" name="Google Shape;40;p2"/>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HISTORY</a:t>
            </a:r>
            <a:endParaRPr b="0" i="0" sz="1100" u="none" cap="none" strike="noStrike">
              <a:solidFill>
                <a:schemeClr val="dk1"/>
              </a:solidFill>
              <a:latin typeface="Calibri"/>
              <a:ea typeface="Calibri"/>
              <a:cs typeface="Calibri"/>
              <a:sym typeface="Calibri"/>
            </a:endParaRPr>
          </a:p>
        </p:txBody>
      </p:sp>
      <p:sp>
        <p:nvSpPr>
          <p:cNvPr id="42" name="Google Shape;42;p2"/>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457200" y="77724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FIRST — For Inspiration and Recognition of Science and Technology — was founded by inventor Dean Kamen in 1989. His vision: create a world where science and technology are celebrated as cool, important, and life-changing.</a:t>
            </a:r>
            <a:endParaRPr b="0" i="0" sz="1300" u="none" cap="none" strike="noStrike">
              <a:solidFill>
                <a:schemeClr val="dk1"/>
              </a:solidFill>
              <a:latin typeface="Calibri"/>
              <a:ea typeface="Calibri"/>
              <a:cs typeface="Calibri"/>
              <a:sym typeface="Calibri"/>
            </a:endParaRPr>
          </a:p>
        </p:txBody>
      </p:sp>
      <p:sp>
        <p:nvSpPr>
          <p:cNvPr id="44" name="Google Shape;44;p2"/>
          <p:cNvSpPr/>
          <p:nvPr/>
        </p:nvSpPr>
        <p:spPr>
          <a:xfrm>
            <a:off x="365760" y="1481328"/>
            <a:ext cx="4251960" cy="7498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365760" y="1481328"/>
            <a:ext cx="749808" cy="74980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365760" y="1481328"/>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1400"/>
              <a:buFont typeface="Calibri"/>
              <a:buNone/>
            </a:pPr>
            <a:r>
              <a:rPr b="1" i="0" lang="en-US" sz="1400" u="none" cap="none" strike="noStrike">
                <a:solidFill>
                  <a:srgbClr val="E87C0A"/>
                </a:solidFill>
                <a:latin typeface="Calibri"/>
                <a:ea typeface="Calibri"/>
                <a:cs typeface="Calibri"/>
                <a:sym typeface="Calibri"/>
              </a:rPr>
              <a:t>1989</a:t>
            </a:r>
            <a:endParaRPr b="0" i="0" sz="1400" u="none" cap="none" strike="noStrike">
              <a:solidFill>
                <a:schemeClr val="dk1"/>
              </a:solidFill>
              <a:latin typeface="Calibri"/>
              <a:ea typeface="Calibri"/>
              <a:cs typeface="Calibri"/>
              <a:sym typeface="Calibri"/>
            </a:endParaRPr>
          </a:p>
        </p:txBody>
      </p:sp>
      <p:sp>
        <p:nvSpPr>
          <p:cNvPr id="47" name="Google Shape;47;p2"/>
          <p:cNvSpPr/>
          <p:nvPr/>
        </p:nvSpPr>
        <p:spPr>
          <a:xfrm>
            <a:off x="1188720" y="1527048"/>
            <a:ext cx="33375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Dean Kamen founds FIRST with Woodie Flowers. Mission: inspire youth toward science &amp; technology.</a:t>
            </a:r>
            <a:endParaRPr b="0" i="0" sz="1050" u="none" cap="none" strike="noStrike">
              <a:solidFill>
                <a:schemeClr val="dk1"/>
              </a:solidFill>
              <a:latin typeface="Calibri"/>
              <a:ea typeface="Calibri"/>
              <a:cs typeface="Calibri"/>
              <a:sym typeface="Calibri"/>
            </a:endParaRPr>
          </a:p>
        </p:txBody>
      </p:sp>
      <p:sp>
        <p:nvSpPr>
          <p:cNvPr id="48" name="Google Shape;48;p2"/>
          <p:cNvSpPr/>
          <p:nvPr/>
        </p:nvSpPr>
        <p:spPr>
          <a:xfrm>
            <a:off x="4800600" y="1481328"/>
            <a:ext cx="4251960" cy="7498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4800600" y="1481328"/>
            <a:ext cx="749808" cy="74980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4800600" y="1481328"/>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1400"/>
              <a:buFont typeface="Calibri"/>
              <a:buNone/>
            </a:pPr>
            <a:r>
              <a:rPr b="1" i="0" lang="en-US" sz="1400" u="none" cap="none" strike="noStrike">
                <a:solidFill>
                  <a:srgbClr val="E87C0A"/>
                </a:solidFill>
                <a:latin typeface="Calibri"/>
                <a:ea typeface="Calibri"/>
                <a:cs typeface="Calibri"/>
                <a:sym typeface="Calibri"/>
              </a:rPr>
              <a:t>1992</a:t>
            </a:r>
            <a:endParaRPr b="0" i="0" sz="1400" u="none" cap="none" strike="noStrike">
              <a:solidFill>
                <a:schemeClr val="dk1"/>
              </a:solidFill>
              <a:latin typeface="Calibri"/>
              <a:ea typeface="Calibri"/>
              <a:cs typeface="Calibri"/>
              <a:sym typeface="Calibri"/>
            </a:endParaRPr>
          </a:p>
        </p:txBody>
      </p:sp>
      <p:sp>
        <p:nvSpPr>
          <p:cNvPr id="51" name="Google Shape;51;p2"/>
          <p:cNvSpPr/>
          <p:nvPr/>
        </p:nvSpPr>
        <p:spPr>
          <a:xfrm>
            <a:off x="5623560" y="1527048"/>
            <a:ext cx="33375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First FRC competition held at Memorial High School gym, Manchester NH. ~28 teams, wired robots, one event.</a:t>
            </a:r>
            <a:endParaRPr b="0" i="0" sz="1050" u="none" cap="none" strike="noStrike">
              <a:solidFill>
                <a:schemeClr val="dk1"/>
              </a:solidFill>
              <a:latin typeface="Calibri"/>
              <a:ea typeface="Calibri"/>
              <a:cs typeface="Calibri"/>
              <a:sym typeface="Calibri"/>
            </a:endParaRPr>
          </a:p>
        </p:txBody>
      </p:sp>
      <p:sp>
        <p:nvSpPr>
          <p:cNvPr id="52" name="Google Shape;52;p2"/>
          <p:cNvSpPr/>
          <p:nvPr/>
        </p:nvSpPr>
        <p:spPr>
          <a:xfrm>
            <a:off x="365760" y="2340864"/>
            <a:ext cx="4251960" cy="7498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365760" y="2340864"/>
            <a:ext cx="749808" cy="74980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365760" y="2340864"/>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1400"/>
              <a:buFont typeface="Calibri"/>
              <a:buNone/>
            </a:pPr>
            <a:r>
              <a:rPr b="1" i="0" lang="en-US" sz="1400" u="none" cap="none" strike="noStrike">
                <a:solidFill>
                  <a:srgbClr val="E87C0A"/>
                </a:solidFill>
                <a:latin typeface="Calibri"/>
                <a:ea typeface="Calibri"/>
                <a:cs typeface="Calibri"/>
                <a:sym typeface="Calibri"/>
              </a:rPr>
              <a:t>1993</a:t>
            </a:r>
            <a:endParaRPr b="0" i="0" sz="1400" u="none" cap="none" strike="noStrike">
              <a:solidFill>
                <a:schemeClr val="dk1"/>
              </a:solidFill>
              <a:latin typeface="Calibri"/>
              <a:ea typeface="Calibri"/>
              <a:cs typeface="Calibri"/>
              <a:sym typeface="Calibri"/>
            </a:endParaRPr>
          </a:p>
        </p:txBody>
      </p:sp>
      <p:sp>
        <p:nvSpPr>
          <p:cNvPr id="55" name="Google Shape;55;p2"/>
          <p:cNvSpPr/>
          <p:nvPr/>
        </p:nvSpPr>
        <p:spPr>
          <a:xfrm>
            <a:off x="1188720" y="2386584"/>
            <a:ext cx="33375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Transition to wireless radio control. Competition moves to Nashua High School. First use of 'Maize Craze' game.</a:t>
            </a:r>
            <a:endParaRPr b="0" i="0" sz="1050" u="none" cap="none" strike="noStrike">
              <a:solidFill>
                <a:schemeClr val="dk1"/>
              </a:solidFill>
              <a:latin typeface="Calibri"/>
              <a:ea typeface="Calibri"/>
              <a:cs typeface="Calibri"/>
              <a:sym typeface="Calibri"/>
            </a:endParaRPr>
          </a:p>
        </p:txBody>
      </p:sp>
      <p:sp>
        <p:nvSpPr>
          <p:cNvPr id="56" name="Google Shape;56;p2"/>
          <p:cNvSpPr/>
          <p:nvPr/>
        </p:nvSpPr>
        <p:spPr>
          <a:xfrm>
            <a:off x="4800600" y="2340864"/>
            <a:ext cx="4251960" cy="7498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4800600" y="2340864"/>
            <a:ext cx="749808" cy="74980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4800600" y="2340864"/>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1400"/>
              <a:buFont typeface="Calibri"/>
              <a:buNone/>
            </a:pPr>
            <a:r>
              <a:rPr b="1" i="0" lang="en-US" sz="1400" u="none" cap="none" strike="noStrike">
                <a:solidFill>
                  <a:srgbClr val="E87C0A"/>
                </a:solidFill>
                <a:latin typeface="Calibri"/>
                <a:ea typeface="Calibri"/>
                <a:cs typeface="Calibri"/>
                <a:sym typeface="Calibri"/>
              </a:rPr>
              <a:t>1995</a:t>
            </a:r>
            <a:endParaRPr b="0" i="0" sz="1400" u="none" cap="none" strike="noStrike">
              <a:solidFill>
                <a:schemeClr val="dk1"/>
              </a:solidFill>
              <a:latin typeface="Calibri"/>
              <a:ea typeface="Calibri"/>
              <a:cs typeface="Calibri"/>
              <a:sym typeface="Calibri"/>
            </a:endParaRPr>
          </a:p>
        </p:txBody>
      </p:sp>
      <p:sp>
        <p:nvSpPr>
          <p:cNvPr id="59" name="Google Shape;59;p2"/>
          <p:cNvSpPr/>
          <p:nvPr/>
        </p:nvSpPr>
        <p:spPr>
          <a:xfrm>
            <a:off x="5623560" y="2386584"/>
            <a:ext cx="33375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FIRST outgrows single-event format. Regional system introduced. First FIRST Championship held at EPCOT Center, Orlando.</a:t>
            </a:r>
            <a:endParaRPr b="0" i="0" sz="1050" u="none" cap="none" strike="noStrike">
              <a:solidFill>
                <a:schemeClr val="dk1"/>
              </a:solidFill>
              <a:latin typeface="Calibri"/>
              <a:ea typeface="Calibri"/>
              <a:cs typeface="Calibri"/>
              <a:sym typeface="Calibri"/>
            </a:endParaRPr>
          </a:p>
        </p:txBody>
      </p:sp>
      <p:sp>
        <p:nvSpPr>
          <p:cNvPr id="60" name="Google Shape;60;p2"/>
          <p:cNvSpPr/>
          <p:nvPr/>
        </p:nvSpPr>
        <p:spPr>
          <a:xfrm>
            <a:off x="365760" y="3200400"/>
            <a:ext cx="4251960" cy="7498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365760" y="3200400"/>
            <a:ext cx="749808" cy="74980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365760" y="3200400"/>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1400"/>
              <a:buFont typeface="Calibri"/>
              <a:buNone/>
            </a:pPr>
            <a:r>
              <a:rPr b="1" i="0" lang="en-US" sz="1400" u="none" cap="none" strike="noStrike">
                <a:solidFill>
                  <a:srgbClr val="E87C0A"/>
                </a:solidFill>
                <a:latin typeface="Calibri"/>
                <a:ea typeface="Calibri"/>
                <a:cs typeface="Calibri"/>
                <a:sym typeface="Calibri"/>
              </a:rPr>
              <a:t>2002</a:t>
            </a:r>
            <a:endParaRPr b="0" i="0" sz="1400" u="none" cap="none" strike="noStrike">
              <a:solidFill>
                <a:schemeClr val="dk1"/>
              </a:solidFill>
              <a:latin typeface="Calibri"/>
              <a:ea typeface="Calibri"/>
              <a:cs typeface="Calibri"/>
              <a:sym typeface="Calibri"/>
            </a:endParaRPr>
          </a:p>
        </p:txBody>
      </p:sp>
      <p:sp>
        <p:nvSpPr>
          <p:cNvPr id="63" name="Google Shape;63;p2"/>
          <p:cNvSpPr/>
          <p:nvPr/>
        </p:nvSpPr>
        <p:spPr>
          <a:xfrm>
            <a:off x="1188720" y="3246120"/>
            <a:ext cx="33375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FIRST begins international expansion. Canadian teams begin joining in growing numbers.</a:t>
            </a:r>
            <a:endParaRPr b="0" i="0" sz="1050" u="none" cap="none" strike="noStrike">
              <a:solidFill>
                <a:schemeClr val="dk1"/>
              </a:solidFill>
              <a:latin typeface="Calibri"/>
              <a:ea typeface="Calibri"/>
              <a:cs typeface="Calibri"/>
              <a:sym typeface="Calibri"/>
            </a:endParaRPr>
          </a:p>
        </p:txBody>
      </p:sp>
      <p:sp>
        <p:nvSpPr>
          <p:cNvPr id="64" name="Google Shape;64;p2"/>
          <p:cNvSpPr/>
          <p:nvPr/>
        </p:nvSpPr>
        <p:spPr>
          <a:xfrm>
            <a:off x="4800600" y="3200400"/>
            <a:ext cx="4251960" cy="7498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4800600" y="3200400"/>
            <a:ext cx="749808" cy="74980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4800600" y="3200400"/>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1400"/>
              <a:buFont typeface="Calibri"/>
              <a:buNone/>
            </a:pPr>
            <a:r>
              <a:rPr b="1" i="0" lang="en-US" sz="1400" u="none" cap="none" strike="noStrike">
                <a:solidFill>
                  <a:srgbClr val="E87C0A"/>
                </a:solidFill>
                <a:latin typeface="Calibri"/>
                <a:ea typeface="Calibri"/>
                <a:cs typeface="Calibri"/>
                <a:sym typeface="Calibri"/>
              </a:rPr>
              <a:t>2011</a:t>
            </a:r>
            <a:endParaRPr b="0" i="0" sz="1400" u="none" cap="none" strike="noStrike">
              <a:solidFill>
                <a:schemeClr val="dk1"/>
              </a:solidFill>
              <a:latin typeface="Calibri"/>
              <a:ea typeface="Calibri"/>
              <a:cs typeface="Calibri"/>
              <a:sym typeface="Calibri"/>
            </a:endParaRPr>
          </a:p>
        </p:txBody>
      </p:sp>
      <p:sp>
        <p:nvSpPr>
          <p:cNvPr id="67" name="Google Shape;67;p2"/>
          <p:cNvSpPr/>
          <p:nvPr/>
        </p:nvSpPr>
        <p:spPr>
          <a:xfrm>
            <a:off x="5623560" y="3246120"/>
            <a:ext cx="33375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Competition splits into two tracks: District Events (MI, MAR, PNW, NE) and Regional Events.</a:t>
            </a:r>
            <a:endParaRPr b="0" i="0" sz="1050" u="none" cap="none" strike="noStrike">
              <a:solidFill>
                <a:schemeClr val="dk1"/>
              </a:solidFill>
              <a:latin typeface="Calibri"/>
              <a:ea typeface="Calibri"/>
              <a:cs typeface="Calibri"/>
              <a:sym typeface="Calibri"/>
            </a:endParaRPr>
          </a:p>
        </p:txBody>
      </p:sp>
      <p:sp>
        <p:nvSpPr>
          <p:cNvPr id="68" name="Google Shape;68;p2"/>
          <p:cNvSpPr/>
          <p:nvPr/>
        </p:nvSpPr>
        <p:spPr>
          <a:xfrm>
            <a:off x="365760" y="4059936"/>
            <a:ext cx="4251960" cy="7498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365760" y="4059936"/>
            <a:ext cx="749808" cy="74980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365760" y="4059936"/>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1400"/>
              <a:buFont typeface="Calibri"/>
              <a:buNone/>
            </a:pPr>
            <a:r>
              <a:rPr b="1" i="0" lang="en-US" sz="1400" u="none" cap="none" strike="noStrike">
                <a:solidFill>
                  <a:srgbClr val="E87C0A"/>
                </a:solidFill>
                <a:latin typeface="Calibri"/>
                <a:ea typeface="Calibri"/>
                <a:cs typeface="Calibri"/>
                <a:sym typeface="Calibri"/>
              </a:rPr>
              <a:t>2017</a:t>
            </a:r>
            <a:endParaRPr b="0" i="0" sz="1400" u="none" cap="none" strike="noStrike">
              <a:solidFill>
                <a:schemeClr val="dk1"/>
              </a:solidFill>
              <a:latin typeface="Calibri"/>
              <a:ea typeface="Calibri"/>
              <a:cs typeface="Calibri"/>
              <a:sym typeface="Calibri"/>
            </a:endParaRPr>
          </a:p>
        </p:txBody>
      </p:sp>
      <p:sp>
        <p:nvSpPr>
          <p:cNvPr id="71" name="Google Shape;71;p2"/>
          <p:cNvSpPr/>
          <p:nvPr/>
        </p:nvSpPr>
        <p:spPr>
          <a:xfrm>
            <a:off x="1188720" y="4105656"/>
            <a:ext cx="33375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Championship splits into two events: Houston, TX and Detroit, MI to accommodate explosive team growth.</a:t>
            </a:r>
            <a:endParaRPr b="0" i="0" sz="1050" u="none" cap="none" strike="noStrike">
              <a:solidFill>
                <a:schemeClr val="dk1"/>
              </a:solidFill>
              <a:latin typeface="Calibri"/>
              <a:ea typeface="Calibri"/>
              <a:cs typeface="Calibri"/>
              <a:sym typeface="Calibri"/>
            </a:endParaRPr>
          </a:p>
        </p:txBody>
      </p:sp>
      <p:sp>
        <p:nvSpPr>
          <p:cNvPr id="72" name="Google Shape;72;p2"/>
          <p:cNvSpPr/>
          <p:nvPr/>
        </p:nvSpPr>
        <p:spPr>
          <a:xfrm>
            <a:off x="4800600" y="4059936"/>
            <a:ext cx="4251960" cy="7498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4800600" y="4059936"/>
            <a:ext cx="749808" cy="74980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4800600" y="4059936"/>
            <a:ext cx="749808" cy="7498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1400"/>
              <a:buFont typeface="Calibri"/>
              <a:buNone/>
            </a:pPr>
            <a:r>
              <a:rPr b="1" i="0" lang="en-US" sz="1400" u="none" cap="none" strike="noStrike">
                <a:solidFill>
                  <a:srgbClr val="E87C0A"/>
                </a:solidFill>
                <a:latin typeface="Calibri"/>
                <a:ea typeface="Calibri"/>
                <a:cs typeface="Calibri"/>
                <a:sym typeface="Calibri"/>
              </a:rPr>
              <a:t>2024</a:t>
            </a:r>
            <a:endParaRPr b="0" i="0" sz="1400" u="none" cap="none" strike="noStrike">
              <a:solidFill>
                <a:schemeClr val="dk1"/>
              </a:solidFill>
              <a:latin typeface="Calibri"/>
              <a:ea typeface="Calibri"/>
              <a:cs typeface="Calibri"/>
              <a:sym typeface="Calibri"/>
            </a:endParaRPr>
          </a:p>
        </p:txBody>
      </p:sp>
      <p:sp>
        <p:nvSpPr>
          <p:cNvPr id="75" name="Google Shape;75;p2"/>
          <p:cNvSpPr/>
          <p:nvPr/>
        </p:nvSpPr>
        <p:spPr>
          <a:xfrm>
            <a:off x="5623560" y="4105656"/>
            <a:ext cx="333756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33rd year of FRC. 3,468 teams from 28 countries, 86,700+ students, 27,700+ mentors worldwide.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80" name="Shape 80"/>
        <p:cNvGrpSpPr/>
        <p:nvPr/>
      </p:nvGrpSpPr>
      <p:grpSpPr>
        <a:xfrm>
          <a:off x="0" y="0"/>
          <a:ext cx="0" cy="0"/>
          <a:chOff x="0" y="0"/>
          <a:chExt cx="0" cy="0"/>
        </a:xfrm>
      </p:grpSpPr>
      <p:sp>
        <p:nvSpPr>
          <p:cNvPr id="81" name="Google Shape;81;p3"/>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Core Values: Gracious Professionalism &amp; Coopertition</a:t>
            </a:r>
            <a:endParaRPr b="0" i="0" sz="2100" u="none" cap="none" strike="noStrike">
              <a:solidFill>
                <a:schemeClr val="dk1"/>
              </a:solidFill>
              <a:latin typeface="Calibri"/>
              <a:ea typeface="Calibri"/>
              <a:cs typeface="Calibri"/>
              <a:sym typeface="Calibri"/>
            </a:endParaRPr>
          </a:p>
        </p:txBody>
      </p:sp>
      <p:sp>
        <p:nvSpPr>
          <p:cNvPr id="83" name="Google Shape;83;p3"/>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CULTURE</a:t>
            </a:r>
            <a:endParaRPr b="0" i="0" sz="1100" u="none" cap="none" strike="noStrike">
              <a:solidFill>
                <a:schemeClr val="dk1"/>
              </a:solidFill>
              <a:latin typeface="Calibri"/>
              <a:ea typeface="Calibri"/>
              <a:cs typeface="Calibri"/>
              <a:sym typeface="Calibri"/>
            </a:endParaRPr>
          </a:p>
        </p:txBody>
      </p:sp>
      <p:sp>
        <p:nvSpPr>
          <p:cNvPr id="85" name="Google Shape;85;p3"/>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365760" y="777240"/>
            <a:ext cx="4206240" cy="420624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365760" y="777240"/>
            <a:ext cx="4206240" cy="41148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457200" y="777240"/>
            <a:ext cx="4023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Gracious Professionalism®</a:t>
            </a:r>
            <a:endParaRPr b="0" i="0" sz="1400" u="none" cap="none" strike="noStrike">
              <a:solidFill>
                <a:schemeClr val="dk1"/>
              </a:solidFill>
              <a:latin typeface="Calibri"/>
              <a:ea typeface="Calibri"/>
              <a:cs typeface="Calibri"/>
              <a:sym typeface="Calibri"/>
            </a:endParaRPr>
          </a:p>
        </p:txBody>
      </p:sp>
      <p:sp>
        <p:nvSpPr>
          <p:cNvPr id="89" name="Google Shape;89;p3"/>
          <p:cNvSpPr/>
          <p:nvPr/>
        </p:nvSpPr>
        <p:spPr>
          <a:xfrm>
            <a:off x="502920" y="1261872"/>
            <a:ext cx="3931920" cy="3611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Coined by Dr. Woodie Flowers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1" lang="en-US" sz="1100" u="none" cap="none" strike="noStrike">
                <a:solidFill>
                  <a:srgbClr val="5B6B80"/>
                </a:solidFill>
                <a:latin typeface="Calibri"/>
                <a:ea typeface="Calibri"/>
                <a:cs typeface="Calibri"/>
                <a:sym typeface="Calibri"/>
              </a:rPr>
              <a:t>(MIT professor, FIRST co-founder)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The principle that teams compete hard and try to win, but always treat other teams, referees, and spectators with respect and kindness — even rivals.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What it looks like in practice: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Helping a competitor repair their robot before a match</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Sharing parts, tools, or knowledge with any team</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Cheering for great play — including by opponents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No trash talk, no gloating, no excuses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A6BC4"/>
              </a:buClr>
              <a:buSzPts val="1100"/>
              <a:buFont typeface="Calibri"/>
              <a:buNone/>
            </a:pPr>
            <a:r>
              <a:rPr b="0" i="1" lang="en-US" sz="1100" u="none" cap="none" strike="noStrike">
                <a:solidFill>
                  <a:srgbClr val="3A6BC4"/>
                </a:solidFill>
                <a:latin typeface="Calibri"/>
                <a:ea typeface="Calibri"/>
                <a:cs typeface="Calibri"/>
                <a:sym typeface="Calibri"/>
              </a:rPr>
              <a:t>"It's a way of doing your best work while treating others well." — Woodie Flowers</a:t>
            </a:r>
            <a:endParaRPr b="0" i="0" sz="1200" u="none" cap="none" strike="noStrike">
              <a:solidFill>
                <a:schemeClr val="dk1"/>
              </a:solidFill>
              <a:latin typeface="Calibri"/>
              <a:ea typeface="Calibri"/>
              <a:cs typeface="Calibri"/>
              <a:sym typeface="Calibri"/>
            </a:endParaRPr>
          </a:p>
        </p:txBody>
      </p:sp>
      <p:sp>
        <p:nvSpPr>
          <p:cNvPr id="90" name="Google Shape;90;p3"/>
          <p:cNvSpPr/>
          <p:nvPr/>
        </p:nvSpPr>
        <p:spPr>
          <a:xfrm>
            <a:off x="4754880" y="777240"/>
            <a:ext cx="4206240" cy="420624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4754880" y="777240"/>
            <a:ext cx="4206240" cy="41148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4846320" y="777240"/>
            <a:ext cx="4023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Coopertition®</a:t>
            </a:r>
            <a:endParaRPr b="0" i="0" sz="1400" u="none" cap="none" strike="noStrike">
              <a:solidFill>
                <a:schemeClr val="dk1"/>
              </a:solidFill>
              <a:latin typeface="Calibri"/>
              <a:ea typeface="Calibri"/>
              <a:cs typeface="Calibri"/>
              <a:sym typeface="Calibri"/>
            </a:endParaRPr>
          </a:p>
        </p:txBody>
      </p:sp>
      <p:sp>
        <p:nvSpPr>
          <p:cNvPr id="93" name="Google Shape;93;p3"/>
          <p:cNvSpPr/>
          <p:nvPr/>
        </p:nvSpPr>
        <p:spPr>
          <a:xfrm>
            <a:off x="4892040" y="1261872"/>
            <a:ext cx="3931920" cy="3611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A FIRST-invented word: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1" lang="en-US" sz="1100" u="none" cap="none" strike="noStrike">
                <a:solidFill>
                  <a:srgbClr val="5B6B80"/>
                </a:solidFill>
                <a:latin typeface="Calibri"/>
                <a:ea typeface="Calibri"/>
                <a:cs typeface="Calibri"/>
                <a:sym typeface="Calibri"/>
              </a:rPr>
              <a:t>Cooperation + Competition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The idea that teams can and should cooperate with their competitors while still competing hard. Sharing innovations helps everyone grow — making the whole FRC community stronger.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Examples of Coopertition: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Open Alliance teams publish full CAD &amp; code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Teams sharing design whitepapers on Chief Delphi</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Veteran teams mentoring rookies at competitions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Game rules with Coopertition bonus points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A6BC4"/>
              </a:buClr>
              <a:buSzPts val="1100"/>
              <a:buFont typeface="Calibri"/>
              <a:buNone/>
            </a:pPr>
            <a:r>
              <a:rPr b="0" i="1" lang="en-US" sz="1100" u="none" cap="none" strike="noStrike">
                <a:solidFill>
                  <a:srgbClr val="3A6BC4"/>
                </a:solidFill>
                <a:latin typeface="Calibri"/>
                <a:ea typeface="Calibri"/>
                <a:cs typeface="Calibri"/>
                <a:sym typeface="Calibri"/>
              </a:rPr>
              <a:t>"Powered by FIRST" refers to the entire mentorship ecosystem built on this principle.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98" name="Shape 98"/>
        <p:cNvGrpSpPr/>
        <p:nvPr/>
      </p:nvGrpSpPr>
      <p:grpSpPr>
        <a:xfrm>
          <a:off x="0" y="0"/>
          <a:ext cx="0" cy="0"/>
          <a:chOff x="0" y="0"/>
          <a:chExt cx="0" cy="0"/>
        </a:xfrm>
      </p:grpSpPr>
      <p:sp>
        <p:nvSpPr>
          <p:cNvPr id="99" name="Google Shape;99;p4"/>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"The Hardest Fun" &amp; More Than Robots</a:t>
            </a:r>
            <a:endParaRPr b="0" i="0" sz="2100" u="none" cap="none" strike="noStrike">
              <a:solidFill>
                <a:schemeClr val="dk1"/>
              </a:solidFill>
              <a:latin typeface="Calibri"/>
              <a:ea typeface="Calibri"/>
              <a:cs typeface="Calibri"/>
              <a:sym typeface="Calibri"/>
            </a:endParaRPr>
          </a:p>
        </p:txBody>
      </p:sp>
      <p:sp>
        <p:nvSpPr>
          <p:cNvPr id="101" name="Google Shape;101;p4"/>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CULTURE</a:t>
            </a:r>
            <a:endParaRPr b="0" i="0" sz="1100" u="none" cap="none" strike="noStrike">
              <a:solidFill>
                <a:schemeClr val="dk1"/>
              </a:solidFill>
              <a:latin typeface="Calibri"/>
              <a:ea typeface="Calibri"/>
              <a:cs typeface="Calibri"/>
              <a:sym typeface="Calibri"/>
            </a:endParaRPr>
          </a:p>
        </p:txBody>
      </p:sp>
      <p:sp>
        <p:nvSpPr>
          <p:cNvPr id="103" name="Google Shape;103;p4"/>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457200" y="7772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FRC was famously called 'the hardest fun you'll ever have.' The program is intentionally challenging — 6-week build season, 120-lb robots, tight rules. But it's also transformational. 89% of FRC alumni declare a STEM major.</a:t>
            </a:r>
            <a:endParaRPr b="0" i="0" sz="1300" u="none" cap="none" strike="noStrike">
              <a:solidFill>
                <a:schemeClr val="dk1"/>
              </a:solidFill>
              <a:latin typeface="Calibri"/>
              <a:ea typeface="Calibri"/>
              <a:cs typeface="Calibri"/>
              <a:sym typeface="Calibri"/>
            </a:endParaRPr>
          </a:p>
        </p:txBody>
      </p:sp>
      <p:sp>
        <p:nvSpPr>
          <p:cNvPr id="105" name="Google Shape;105;p4"/>
          <p:cNvSpPr/>
          <p:nvPr/>
        </p:nvSpPr>
        <p:spPr>
          <a:xfrm>
            <a:off x="365760" y="1463040"/>
            <a:ext cx="4251960" cy="164592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365760" y="1463040"/>
            <a:ext cx="4251960" cy="34747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475488" y="1463040"/>
            <a:ext cx="403250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The Hardest Fun</a:t>
            </a:r>
            <a:endParaRPr b="0" i="0" sz="1300" u="none" cap="none" strike="noStrike">
              <a:solidFill>
                <a:schemeClr val="dk1"/>
              </a:solidFill>
              <a:latin typeface="Calibri"/>
              <a:ea typeface="Calibri"/>
              <a:cs typeface="Calibri"/>
              <a:sym typeface="Calibri"/>
            </a:endParaRPr>
          </a:p>
        </p:txBody>
      </p:sp>
      <p:sp>
        <p:nvSpPr>
          <p:cNvPr id="108" name="Google Shape;108;p4"/>
          <p:cNvSpPr/>
          <p:nvPr/>
        </p:nvSpPr>
        <p:spPr>
          <a:xfrm>
            <a:off x="475488" y="1865376"/>
            <a:ext cx="4032504"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Six weeks from kickoff to ship day. Real engineering constraints, real deadlines, real pressure. Teams often work nights and weekends. The challenge is the point — students learn more from failure than any classroom.</a:t>
            </a:r>
            <a:endParaRPr b="0" i="0" sz="1100" u="none" cap="none" strike="noStrike">
              <a:solidFill>
                <a:schemeClr val="dk1"/>
              </a:solidFill>
              <a:latin typeface="Calibri"/>
              <a:ea typeface="Calibri"/>
              <a:cs typeface="Calibri"/>
              <a:sym typeface="Calibri"/>
            </a:endParaRPr>
          </a:p>
        </p:txBody>
      </p:sp>
      <p:sp>
        <p:nvSpPr>
          <p:cNvPr id="109" name="Google Shape;109;p4"/>
          <p:cNvSpPr/>
          <p:nvPr/>
        </p:nvSpPr>
        <p:spPr>
          <a:xfrm>
            <a:off x="4800600" y="1463040"/>
            <a:ext cx="4251960" cy="164592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4800600" y="1463040"/>
            <a:ext cx="4251960" cy="34747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4910328" y="1463040"/>
            <a:ext cx="403250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More Than Robots</a:t>
            </a:r>
            <a:endParaRPr b="0" i="0" sz="1300" u="none" cap="none" strike="noStrike">
              <a:solidFill>
                <a:schemeClr val="dk1"/>
              </a:solidFill>
              <a:latin typeface="Calibri"/>
              <a:ea typeface="Calibri"/>
              <a:cs typeface="Calibri"/>
              <a:sym typeface="Calibri"/>
            </a:endParaRPr>
          </a:p>
        </p:txBody>
      </p:sp>
      <p:sp>
        <p:nvSpPr>
          <p:cNvPr id="112" name="Google Shape;112;p4"/>
          <p:cNvSpPr/>
          <p:nvPr/>
        </p:nvSpPr>
        <p:spPr>
          <a:xfrm>
            <a:off x="4910328" y="1865376"/>
            <a:ext cx="4032504"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FRC is explicitly not just about building robots. It's about teamwork, communication, fundraising, outreach, public speaking, and mentorship. The Chairman's Award (now Impact Award) often outranks the winning alliance.</a:t>
            </a:r>
            <a:endParaRPr b="0" i="0" sz="1100" u="none" cap="none" strike="noStrike">
              <a:solidFill>
                <a:schemeClr val="dk1"/>
              </a:solidFill>
              <a:latin typeface="Calibri"/>
              <a:ea typeface="Calibri"/>
              <a:cs typeface="Calibri"/>
              <a:sym typeface="Calibri"/>
            </a:endParaRPr>
          </a:p>
        </p:txBody>
      </p:sp>
      <p:sp>
        <p:nvSpPr>
          <p:cNvPr id="113" name="Google Shape;113;p4"/>
          <p:cNvSpPr/>
          <p:nvPr/>
        </p:nvSpPr>
        <p:spPr>
          <a:xfrm>
            <a:off x="365760" y="3218688"/>
            <a:ext cx="4251960" cy="164592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365760" y="3218688"/>
            <a:ext cx="4251960" cy="347472"/>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475488" y="3218688"/>
            <a:ext cx="403250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Scholarship Impact</a:t>
            </a:r>
            <a:endParaRPr b="0" i="0" sz="1300" u="none" cap="none" strike="noStrike">
              <a:solidFill>
                <a:schemeClr val="dk1"/>
              </a:solidFill>
              <a:latin typeface="Calibri"/>
              <a:ea typeface="Calibri"/>
              <a:cs typeface="Calibri"/>
              <a:sym typeface="Calibri"/>
            </a:endParaRPr>
          </a:p>
        </p:txBody>
      </p:sp>
      <p:sp>
        <p:nvSpPr>
          <p:cNvPr id="116" name="Google Shape;116;p4"/>
          <p:cNvSpPr/>
          <p:nvPr/>
        </p:nvSpPr>
        <p:spPr>
          <a:xfrm>
            <a:off x="475488" y="3621024"/>
            <a:ext cx="4032504"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$80M+ in scholarships offered annually to FRC participants. 92% of FIRST alumni are more likely to attend college. 99% improve in teamwork. Female FRC alumni are 5.3× more likely to major in Computer Science.</a:t>
            </a:r>
            <a:endParaRPr b="0" i="0" sz="1100" u="none" cap="none" strike="noStrike">
              <a:solidFill>
                <a:schemeClr val="dk1"/>
              </a:solidFill>
              <a:latin typeface="Calibri"/>
              <a:ea typeface="Calibri"/>
              <a:cs typeface="Calibri"/>
              <a:sym typeface="Calibri"/>
            </a:endParaRPr>
          </a:p>
        </p:txBody>
      </p:sp>
      <p:sp>
        <p:nvSpPr>
          <p:cNvPr id="117" name="Google Shape;117;p4"/>
          <p:cNvSpPr/>
          <p:nvPr/>
        </p:nvSpPr>
        <p:spPr>
          <a:xfrm>
            <a:off x="4800600" y="3218688"/>
            <a:ext cx="4251960" cy="164592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4800600" y="3218688"/>
            <a:ext cx="4251960" cy="347472"/>
          </a:xfrm>
          <a:prstGeom prst="rect">
            <a:avLst/>
          </a:prstGeom>
          <a:solidFill>
            <a:srgbClr val="1E5C2E"/>
          </a:solidFill>
          <a:ln cap="flat" cmpd="sng" w="12700">
            <a:solidFill>
              <a:srgbClr val="1E5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4910328" y="3218688"/>
            <a:ext cx="403250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Season Structure</a:t>
            </a:r>
            <a:endParaRPr b="0" i="0" sz="1300" u="none" cap="none" strike="noStrike">
              <a:solidFill>
                <a:schemeClr val="dk1"/>
              </a:solidFill>
              <a:latin typeface="Calibri"/>
              <a:ea typeface="Calibri"/>
              <a:cs typeface="Calibri"/>
              <a:sym typeface="Calibri"/>
            </a:endParaRPr>
          </a:p>
        </p:txBody>
      </p:sp>
      <p:sp>
        <p:nvSpPr>
          <p:cNvPr id="120" name="Google Shape;120;p4"/>
          <p:cNvSpPr/>
          <p:nvPr/>
        </p:nvSpPr>
        <p:spPr>
          <a:xfrm>
            <a:off x="4910328" y="3621024"/>
            <a:ext cx="4032504" cy="11704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Pre-season (Sep–Jan): fundraising, training, outreach. Kickoff (Jan): game revealed simultaneously worldwide. Build Season (Jan–Feb/Mar): 6 weeks. Competition Season (Mar–Apr): regionals/districts. Championship (Apr): Houston, TX.</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6B"/>
        </a:solidFill>
      </p:bgPr>
    </p:bg>
    <p:spTree>
      <p:nvGrpSpPr>
        <p:cNvPr id="125" name="Shape 125"/>
        <p:cNvGrpSpPr/>
        <p:nvPr/>
      </p:nvGrpSpPr>
      <p:grpSpPr>
        <a:xfrm>
          <a:off x="0" y="0"/>
          <a:ext cx="0" cy="0"/>
          <a:chOff x="0" y="0"/>
          <a:chExt cx="0" cy="0"/>
        </a:xfrm>
      </p:grpSpPr>
      <p:sp>
        <p:nvSpPr>
          <p:cNvPr id="126" name="Google Shape;126;p5"/>
          <p:cNvSpPr/>
          <p:nvPr/>
        </p:nvSpPr>
        <p:spPr>
          <a:xfrm>
            <a:off x="0" y="0"/>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731520" y="1371600"/>
            <a:ext cx="76809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Game History</a:t>
            </a:r>
            <a:endParaRPr b="0" i="0" sz="4200" u="none" cap="none" strike="noStrike">
              <a:solidFill>
                <a:schemeClr val="dk1"/>
              </a:solidFill>
              <a:latin typeface="Calibri"/>
              <a:ea typeface="Calibri"/>
              <a:cs typeface="Calibri"/>
              <a:sym typeface="Calibri"/>
            </a:endParaRPr>
          </a:p>
        </p:txBody>
      </p:sp>
      <p:sp>
        <p:nvSpPr>
          <p:cNvPr id="129" name="Google Shape;129;p5"/>
          <p:cNvSpPr/>
          <p:nvPr/>
        </p:nvSpPr>
        <p:spPr>
          <a:xfrm>
            <a:off x="914400" y="2926080"/>
            <a:ext cx="73152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500"/>
              <a:buFont typeface="Calibri"/>
              <a:buNone/>
            </a:pPr>
            <a:r>
              <a:rPr b="0" i="1" lang="en-US" sz="1500" u="none" cap="none" strike="noStrike">
                <a:solidFill>
                  <a:srgbClr val="D8E4F0"/>
                </a:solidFill>
                <a:latin typeface="Calibri"/>
                <a:ea typeface="Calibri"/>
                <a:cs typeface="Calibri"/>
                <a:sym typeface="Calibri"/>
              </a:rPr>
              <a:t>Every FRC season from 1992 to 2026 — what teams built, what they played, and what changed the sport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134" name="Shape 134"/>
        <p:cNvGrpSpPr/>
        <p:nvPr/>
      </p:nvGrpSpPr>
      <p:grpSpPr>
        <a:xfrm>
          <a:off x="0" y="0"/>
          <a:ext cx="0" cy="0"/>
          <a:chOff x="0" y="0"/>
          <a:chExt cx="0" cy="0"/>
        </a:xfrm>
      </p:grpSpPr>
      <p:sp>
        <p:nvSpPr>
          <p:cNvPr id="135" name="Google Shape;135;p6"/>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6"/>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Era 1: The Founding Years (1992–2002)</a:t>
            </a:r>
            <a:endParaRPr b="0" i="0" sz="2100" u="none" cap="none" strike="noStrike">
              <a:solidFill>
                <a:schemeClr val="dk1"/>
              </a:solidFill>
              <a:latin typeface="Calibri"/>
              <a:ea typeface="Calibri"/>
              <a:cs typeface="Calibri"/>
              <a:sym typeface="Calibri"/>
            </a:endParaRPr>
          </a:p>
        </p:txBody>
      </p:sp>
      <p:sp>
        <p:nvSpPr>
          <p:cNvPr id="137" name="Google Shape;137;p6"/>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GAME HISTORY</a:t>
            </a:r>
            <a:endParaRPr b="0" i="0" sz="1100" u="none" cap="none" strike="noStrike">
              <a:solidFill>
                <a:schemeClr val="dk1"/>
              </a:solidFill>
              <a:latin typeface="Calibri"/>
              <a:ea typeface="Calibri"/>
              <a:cs typeface="Calibri"/>
              <a:sym typeface="Calibri"/>
            </a:endParaRPr>
          </a:p>
        </p:txBody>
      </p:sp>
      <p:sp>
        <p:nvSpPr>
          <p:cNvPr id="139" name="Google Shape;139;p6"/>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40" name="Google Shape;140;p6"/>
          <p:cNvGraphicFramePr/>
          <p:nvPr/>
        </p:nvGraphicFramePr>
        <p:xfrm>
          <a:off x="274320" y="749808"/>
          <a:ext cx="3000000" cy="3000000"/>
        </p:xfrm>
        <a:graphic>
          <a:graphicData uri="http://schemas.openxmlformats.org/drawingml/2006/table">
            <a:tbl>
              <a:tblPr>
                <a:noFill/>
                <a:tableStyleId>{FC7D8A60-8819-47AD-AC98-8979D3194A4D}</a:tableStyleId>
              </a:tblPr>
              <a:tblGrid>
                <a:gridCol w="685800"/>
                <a:gridCol w="1600200"/>
                <a:gridCol w="6309350"/>
              </a:tblGrid>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1992</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(Unnamed)</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The very first FRC competition. 28 teams, one gym in Manchester NH. Wired tether control. No official game name.</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1993</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Maize Craze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Teams collected yellow rubber balls. Transition to wireless radios. Still a single event.</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1994</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Rug Rage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Teams pushed carpet squares to score. First hints of pushing matches and defensive play.</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1995</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Tower Power</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First regional + championship system. Championship held at EPCOT Center, Orlando. 100+ teams.</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1996</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Ramp N' Roll</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Teams built ramps and drove onto each other's platforms. Cooperative elements appeared.</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1997</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Hexagon Havoc</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Robots scored balls into hexagonal goals. Alliance structures refined.</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1998</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Toroid Terror</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Rubber rings scored on pegs. First hint of complex game piece manipulation.</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1999</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Ladder Logic</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Robots climbed ladders and balanced on platforms for bonus points.</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2000</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Double Trouble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Balls scored into double-sided goals. First 'ball shooter' designs emerge.</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2001</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Co-opertition FIRST</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Game literally named for the value. Cross-alliance cooperation explicitly rewarded in scoring.</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865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2002</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Zone Zeal</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Robots scored in color-coded zones. 24 regionals, 1,000+ teams competing worldwide.</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145" name="Shape 145"/>
        <p:cNvGrpSpPr/>
        <p:nvPr/>
      </p:nvGrpSpPr>
      <p:grpSpPr>
        <a:xfrm>
          <a:off x="0" y="0"/>
          <a:ext cx="0" cy="0"/>
          <a:chOff x="0" y="0"/>
          <a:chExt cx="0" cy="0"/>
        </a:xfrm>
      </p:grpSpPr>
      <p:sp>
        <p:nvSpPr>
          <p:cNvPr id="146" name="Google Shape;146;p7"/>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Era 2: The Growth Years (2003–2012)</a:t>
            </a:r>
            <a:endParaRPr b="0" i="0" sz="2100" u="none" cap="none" strike="noStrike">
              <a:solidFill>
                <a:schemeClr val="dk1"/>
              </a:solidFill>
              <a:latin typeface="Calibri"/>
              <a:ea typeface="Calibri"/>
              <a:cs typeface="Calibri"/>
              <a:sym typeface="Calibri"/>
            </a:endParaRPr>
          </a:p>
        </p:txBody>
      </p:sp>
      <p:sp>
        <p:nvSpPr>
          <p:cNvPr id="148" name="Google Shape;148;p7"/>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GAME HISTORY</a:t>
            </a:r>
            <a:endParaRPr b="0" i="0" sz="1100" u="none" cap="none" strike="noStrike">
              <a:solidFill>
                <a:schemeClr val="dk1"/>
              </a:solidFill>
              <a:latin typeface="Calibri"/>
              <a:ea typeface="Calibri"/>
              <a:cs typeface="Calibri"/>
              <a:sym typeface="Calibri"/>
            </a:endParaRPr>
          </a:p>
        </p:txBody>
      </p:sp>
      <p:sp>
        <p:nvSpPr>
          <p:cNvPr id="150" name="Google Shape;150;p7"/>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51" name="Google Shape;151;p7"/>
          <p:cNvGraphicFramePr/>
          <p:nvPr/>
        </p:nvGraphicFramePr>
        <p:xfrm>
          <a:off x="274320" y="749808"/>
          <a:ext cx="3000000" cy="3000000"/>
        </p:xfrm>
        <a:graphic>
          <a:graphicData uri="http://schemas.openxmlformats.org/drawingml/2006/table">
            <a:tbl>
              <a:tblPr>
                <a:noFill/>
                <a:tableStyleId>{FC7D8A60-8819-47AD-AC98-8979D3194A4D}</a:tableStyleId>
              </a:tblPr>
              <a:tblGrid>
                <a:gridCol w="685800"/>
                <a:gridCol w="1600200"/>
                <a:gridCol w="6309350"/>
              </a:tblGrid>
              <a:tr h="4252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2003</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Stack Attack</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Robots stacked storage bins as high as possible. Strategy around counterstacking opponents was key.</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4252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2004</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FIRST Frenzy</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Balls, hanging from bars, moving goals. First widespread elevator and hopper designs.</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4252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2005</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Triple Play</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Robots placed tetras (tetrahedra) on top of goals. Spatial reasoning and fast cycle times rewarded.</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4252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2006</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Aim High</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Teams shot foam balls into elevated goals. First major widespread SHOOTER meta in FRC history.</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4252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2007</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Rack 'N' Roll</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Teams placed inner tubes on racks in FIRST logo shapes. Arm and gripper mechanisms emerged.</a:t>
                      </a:r>
                      <a:br>
                        <a:rPr lang="en-US" sz="1000" u="none" cap="none" strike="noStrike">
                          <a:solidFill>
                            <a:srgbClr val="5B6B80"/>
                          </a:solidFill>
                        </a:rPr>
                      </a:br>
                      <a:r>
                        <a:rPr lang="en-US" sz="1000">
                          <a:solidFill>
                            <a:srgbClr val="5B6B80"/>
                          </a:solidFill>
                        </a:rPr>
                        <a:t>Rambot’s first competition.</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4252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2008</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FIRST Overdrive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Robots raced around a track moving giant balls over/under an overpass. Defense-heavy meta.</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4252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2009</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Lunacy</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Played on low-friction plastic — robots slid everywhere to celebrate moon landing anniversary. Widely disliked.</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4252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2010</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Breakaway</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Teams kicked soccer balls into goals through tunnels and over bumps. Robots balanced on towers.</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4252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2011</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LOGO MOTION</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Teams hung tubes to form FIRST logo. 254 wins their first World Championship. Minibot tower climb end-game.</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4252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2012</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Rebound Rumble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Basketball shooting into tiered hoops. Alliance cooperation rewarded. First major 'balance the bridge' end-game.</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156" name="Shape 156"/>
        <p:cNvGrpSpPr/>
        <p:nvPr/>
      </p:nvGrpSpPr>
      <p:grpSpPr>
        <a:xfrm>
          <a:off x="0" y="0"/>
          <a:ext cx="0" cy="0"/>
          <a:chOff x="0" y="0"/>
          <a:chExt cx="0" cy="0"/>
        </a:xfrm>
      </p:grpSpPr>
      <p:sp>
        <p:nvSpPr>
          <p:cNvPr id="157" name="Google Shape;157;p8"/>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Era 3: The Modern Era (2013–2020)</a:t>
            </a:r>
            <a:endParaRPr b="0" i="0" sz="2100" u="none" cap="none" strike="noStrike">
              <a:solidFill>
                <a:schemeClr val="dk1"/>
              </a:solidFill>
              <a:latin typeface="Calibri"/>
              <a:ea typeface="Calibri"/>
              <a:cs typeface="Calibri"/>
              <a:sym typeface="Calibri"/>
            </a:endParaRPr>
          </a:p>
        </p:txBody>
      </p:sp>
      <p:sp>
        <p:nvSpPr>
          <p:cNvPr id="159" name="Google Shape;159;p8"/>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GAME HISTORY</a:t>
            </a:r>
            <a:endParaRPr b="0" i="0" sz="1100" u="none" cap="none" strike="noStrike">
              <a:solidFill>
                <a:schemeClr val="dk1"/>
              </a:solidFill>
              <a:latin typeface="Calibri"/>
              <a:ea typeface="Calibri"/>
              <a:cs typeface="Calibri"/>
              <a:sym typeface="Calibri"/>
            </a:endParaRPr>
          </a:p>
        </p:txBody>
      </p:sp>
      <p:sp>
        <p:nvSpPr>
          <p:cNvPr id="161" name="Google Shape;161;p8"/>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62" name="Google Shape;162;p8"/>
          <p:cNvGraphicFramePr/>
          <p:nvPr/>
        </p:nvGraphicFramePr>
        <p:xfrm>
          <a:off x="274320" y="749808"/>
          <a:ext cx="3000000" cy="3000000"/>
        </p:xfrm>
        <a:graphic>
          <a:graphicData uri="http://schemas.openxmlformats.org/drawingml/2006/table">
            <a:tbl>
              <a:tblPr>
                <a:noFill/>
                <a:tableStyleId>{FC7D8A60-8819-47AD-AC98-8979D3194A4D}</a:tableStyleId>
              </a:tblPr>
              <a:tblGrid>
                <a:gridCol w="685800"/>
                <a:gridCol w="1600200"/>
                <a:gridCol w="6309350"/>
              </a:tblGrid>
              <a:tr h="5315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2013</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Ultimate Ascent</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Flying disc (frisbee) scoring into tiered goals. End-game pyramid climbing. High-skill shooter meta.</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315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2014</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Aerial Assist</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Alliance-based passing game. Teams assisted each other to score. 254's legendary Barrage wins worlds.</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315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2015</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Recycle Rush</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Stacking totes, capping with recycling bins. No defense allowed. 1678 wins worlds. Divisive game design.</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315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2016</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FIRST Stronghold</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Capture-the-flag style. Teams crossed defenses, shot boulders into towers. Heavily defense-oriented.</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315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2017</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FIRST Steamworks</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Gears into airships, steam pressure, climbing ropes. 254 wins. Swerve drive adoption accelerates.</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315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2018</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FIRST Power Up</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Cubes on switches/scales, vault power-ups. 254 wins again. Brushless motor era begins (NEO, Falcon).</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315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2019</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Destination Deep Space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Hatch panels and cargo balls into rockets/ships. 2910 wins. Autonomous sandstorm blind period added.</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3150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2020</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Infinite Recharge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Star Wars themed ball-shooting game. Events ran Feb–Mar before COVID-19 cancelled the championship.</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167" name="Shape 167"/>
        <p:cNvGrpSpPr/>
        <p:nvPr/>
      </p:nvGrpSpPr>
      <p:grpSpPr>
        <a:xfrm>
          <a:off x="0" y="0"/>
          <a:ext cx="0" cy="0"/>
          <a:chOff x="0" y="0"/>
          <a:chExt cx="0" cy="0"/>
        </a:xfrm>
      </p:grpSpPr>
      <p:sp>
        <p:nvSpPr>
          <p:cNvPr id="168" name="Google Shape;168;p9"/>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Era 4: The Swerve &amp; Vision Era (2021–2026)</a:t>
            </a:r>
            <a:endParaRPr b="0" i="0" sz="2100" u="none" cap="none" strike="noStrike">
              <a:solidFill>
                <a:schemeClr val="dk1"/>
              </a:solidFill>
              <a:latin typeface="Calibri"/>
              <a:ea typeface="Calibri"/>
              <a:cs typeface="Calibri"/>
              <a:sym typeface="Calibri"/>
            </a:endParaRPr>
          </a:p>
        </p:txBody>
      </p:sp>
      <p:sp>
        <p:nvSpPr>
          <p:cNvPr id="170" name="Google Shape;170;p9"/>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GAME HISTORY</a:t>
            </a:r>
            <a:endParaRPr b="0" i="0" sz="1100" u="none" cap="none" strike="noStrike">
              <a:solidFill>
                <a:schemeClr val="dk1"/>
              </a:solidFill>
              <a:latin typeface="Calibri"/>
              <a:ea typeface="Calibri"/>
              <a:cs typeface="Calibri"/>
              <a:sym typeface="Calibri"/>
            </a:endParaRPr>
          </a:p>
        </p:txBody>
      </p:sp>
      <p:sp>
        <p:nvSpPr>
          <p:cNvPr id="172" name="Google Shape;172;p9"/>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73" name="Google Shape;173;p9"/>
          <p:cNvGraphicFramePr/>
          <p:nvPr/>
        </p:nvGraphicFramePr>
        <p:xfrm>
          <a:off x="274320" y="749808"/>
          <a:ext cx="3000000" cy="3000000"/>
        </p:xfrm>
        <a:graphic>
          <a:graphicData uri="http://schemas.openxmlformats.org/drawingml/2006/table">
            <a:tbl>
              <a:tblPr>
                <a:noFill/>
                <a:tableStyleId>{FC7D8A60-8819-47AD-AC98-8979D3194A4D}</a:tableStyleId>
              </a:tblPr>
              <a:tblGrid>
                <a:gridCol w="685800"/>
                <a:gridCol w="1920250"/>
                <a:gridCol w="5989325"/>
              </a:tblGrid>
              <a:tr h="5943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2021</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Infinite Recharge</a:t>
                      </a:r>
                      <a:endParaRPr sz="1100" u="none" cap="none" strike="noStrike"/>
                    </a:p>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(At Home)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COVID year. Teams competed with at-home skill challenges — no in-person events. Remote scouting &amp; design culture grows.</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943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2022</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Rapid React</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2-ball shooting into hub, hangar climbing (low/mid/high/traversal bars). 254 wins. Swerve now majority of top teams.</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943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2023</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Charged Up</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Cones &amp; cubes on grid. End-game charging station balance. Vision-based auto alignment becomes standard at top level.</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943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2024</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Crescendo</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Notes (rings) into speaker &amp; amp. Microphone/trap end-game. 1690 Orbit wins. AprilTag field-relative auto dominates.</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943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2025</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Reefscape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Coral (PVC) and algae (ball) scored on reef structure. Deep cage climbing. 2910 wins. Complex multi-state auto routines.</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594350">
                <a:tc>
                  <a:txBody>
                    <a:bodyPr/>
                    <a:lstStyle/>
                    <a:p>
                      <a:pPr indent="0" lvl="0" marL="0" marR="0" rtl="0" algn="ctr">
                        <a:spcBef>
                          <a:spcPts val="0"/>
                        </a:spcBef>
                        <a:spcAft>
                          <a:spcPts val="0"/>
                        </a:spcAft>
                        <a:buClr>
                          <a:srgbClr val="FFFFFF"/>
                        </a:buClr>
                        <a:buSzPts val="1100"/>
                        <a:buFont typeface="Calibri"/>
                        <a:buNone/>
                      </a:pPr>
                      <a:r>
                        <a:rPr b="1" lang="en-US" sz="1100" u="none" cap="none" strike="noStrike">
                          <a:solidFill>
                            <a:srgbClr val="FFFFFF"/>
                          </a:solidFill>
                        </a:rPr>
                        <a:t>2026</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ctr">
                        <a:spcBef>
                          <a:spcPts val="0"/>
                        </a:spcBef>
                        <a:spcAft>
                          <a:spcPts val="0"/>
                        </a:spcAft>
                        <a:buClr>
                          <a:srgbClr val="0D1B2A"/>
                        </a:buClr>
                        <a:buSzPts val="1100"/>
                        <a:buFont typeface="Calibri"/>
                        <a:buNone/>
                      </a:pPr>
                      <a:r>
                        <a:rPr b="1" lang="en-US" sz="1100" u="none" cap="none" strike="noStrike">
                          <a:solidFill>
                            <a:srgbClr val="0D1B2A"/>
                          </a:solidFill>
                        </a:rPr>
                        <a:t>REBUILT™</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B6B80"/>
                        </a:buClr>
                        <a:buSzPts val="1000"/>
                        <a:buFont typeface="Calibri"/>
                        <a:buNone/>
                      </a:pPr>
                      <a:r>
                        <a:rPr lang="en-US" sz="1000" u="none" cap="none" strike="noStrike">
                          <a:solidFill>
                            <a:srgbClr val="5B6B80"/>
                          </a:solidFill>
                        </a:rPr>
                        <a:t>New game announced Jan 10, 2026. FIRST revisits a classic-style game — balls into goals, tower climbing. Retro design.</a:t>
                      </a:r>
                      <a:endParaRPr sz="10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bl>
          </a:graphicData>
        </a:graphic>
      </p:graphicFrame>
      <p:sp>
        <p:nvSpPr>
          <p:cNvPr id="174" name="Google Shape;174;p9"/>
          <p:cNvSpPr/>
          <p:nvPr/>
        </p:nvSpPr>
        <p:spPr>
          <a:xfrm>
            <a:off x="274320" y="4434840"/>
            <a:ext cx="8595360" cy="530352"/>
          </a:xfrm>
          <a:prstGeom prst="rect">
            <a:avLst/>
          </a:prstGeom>
          <a:solidFill>
            <a:srgbClr val="3A6BC4">
              <a:alpha val="20000"/>
            </a:srgbClr>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411480" y="4453128"/>
            <a:ext cx="83210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100"/>
              <a:buFont typeface="Calibri"/>
              <a:buNone/>
            </a:pPr>
            <a:r>
              <a:rPr b="0" i="1" lang="en-US" sz="1100" u="none" cap="none" strike="noStrike">
                <a:solidFill>
                  <a:srgbClr val="0D1B2A"/>
                </a:solidFill>
                <a:latin typeface="Calibri"/>
                <a:ea typeface="Calibri"/>
                <a:cs typeface="Calibri"/>
                <a:sym typeface="Calibri"/>
              </a:rPr>
              <a:t>⚡  The Modern Shift: Swerve drive became near-universal at the top level post-2020. AprilTag vision, path-following autonomous (PathPlanner, Choreo), and continuous logging (AdvantageKit) now define elite robot design.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6B"/>
        </a:solidFill>
      </p:bgPr>
    </p:bg>
    <p:spTree>
      <p:nvGrpSpPr>
        <p:cNvPr id="180" name="Shape 180"/>
        <p:cNvGrpSpPr/>
        <p:nvPr/>
      </p:nvGrpSpPr>
      <p:grpSpPr>
        <a:xfrm>
          <a:off x="0" y="0"/>
          <a:ext cx="0" cy="0"/>
          <a:chOff x="0" y="0"/>
          <a:chExt cx="0" cy="0"/>
        </a:xfrm>
      </p:grpSpPr>
      <p:sp>
        <p:nvSpPr>
          <p:cNvPr id="181" name="Google Shape;181;p10"/>
          <p:cNvSpPr/>
          <p:nvPr/>
        </p:nvSpPr>
        <p:spPr>
          <a:xfrm>
            <a:off x="0" y="0"/>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731520" y="1371600"/>
            <a:ext cx="76809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Legendary Teams</a:t>
            </a:r>
            <a:endParaRPr b="0" i="0" sz="4200" u="none" cap="none" strike="noStrike">
              <a:solidFill>
                <a:schemeClr val="dk1"/>
              </a:solidFill>
              <a:latin typeface="Calibri"/>
              <a:ea typeface="Calibri"/>
              <a:cs typeface="Calibri"/>
              <a:sym typeface="Calibri"/>
            </a:endParaRPr>
          </a:p>
        </p:txBody>
      </p:sp>
      <p:sp>
        <p:nvSpPr>
          <p:cNvPr id="184" name="Google Shape;184;p10"/>
          <p:cNvSpPr/>
          <p:nvPr/>
        </p:nvSpPr>
        <p:spPr>
          <a:xfrm>
            <a:off x="914400" y="2926080"/>
            <a:ext cx="73152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500"/>
              <a:buFont typeface="Calibri"/>
              <a:buNone/>
            </a:pPr>
            <a:r>
              <a:rPr b="0" i="1" lang="en-US" sz="1500" u="none" cap="none" strike="noStrike">
                <a:solidFill>
                  <a:srgbClr val="D8E4F0"/>
                </a:solidFill>
                <a:latin typeface="Calibri"/>
                <a:ea typeface="Calibri"/>
                <a:cs typeface="Calibri"/>
                <a:sym typeface="Calibri"/>
              </a:rPr>
              <a:t>The dynasties, the innovators, and the robots that defined FRC competition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189" name="Shape 189"/>
        <p:cNvGrpSpPr/>
        <p:nvPr/>
      </p:nvGrpSpPr>
      <p:grpSpPr>
        <a:xfrm>
          <a:off x="0" y="0"/>
          <a:ext cx="0" cy="0"/>
          <a:chOff x="0" y="0"/>
          <a:chExt cx="0" cy="0"/>
        </a:xfrm>
      </p:grpSpPr>
      <p:sp>
        <p:nvSpPr>
          <p:cNvPr id="190" name="Google Shape;190;p11"/>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Team 254 — The Cheesy Poofs</a:t>
            </a:r>
            <a:endParaRPr b="0" i="0" sz="2100" u="none" cap="none" strike="noStrike">
              <a:solidFill>
                <a:schemeClr val="dk1"/>
              </a:solidFill>
              <a:latin typeface="Calibri"/>
              <a:ea typeface="Calibri"/>
              <a:cs typeface="Calibri"/>
              <a:sym typeface="Calibri"/>
            </a:endParaRPr>
          </a:p>
        </p:txBody>
      </p:sp>
      <p:sp>
        <p:nvSpPr>
          <p:cNvPr id="192" name="Google Shape;192;p11"/>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LEGENDARY TEAM</a:t>
            </a:r>
            <a:endParaRPr b="0" i="0" sz="1100" u="none" cap="none" strike="noStrike">
              <a:solidFill>
                <a:schemeClr val="dk1"/>
              </a:solidFill>
              <a:latin typeface="Calibri"/>
              <a:ea typeface="Calibri"/>
              <a:cs typeface="Calibri"/>
              <a:sym typeface="Calibri"/>
            </a:endParaRPr>
          </a:p>
        </p:txBody>
      </p:sp>
      <p:sp>
        <p:nvSpPr>
          <p:cNvPr id="194" name="Google Shape;194;p11"/>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1"/>
          <p:cNvSpPr/>
          <p:nvPr/>
        </p:nvSpPr>
        <p:spPr>
          <a:xfrm>
            <a:off x="274320" y="777240"/>
            <a:ext cx="2084832" cy="1005840"/>
          </a:xfrm>
          <a:prstGeom prst="rect">
            <a:avLst/>
          </a:prstGeom>
          <a:solidFill>
            <a:srgbClr val="0D1B2A"/>
          </a:solidFill>
          <a:ln cap="flat" cmpd="sng" w="12700">
            <a:solidFill>
              <a:srgbClr val="0D1B2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a:off x="274320" y="886968"/>
            <a:ext cx="208483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800"/>
              <a:buFont typeface="Calibri"/>
              <a:buNone/>
            </a:pPr>
            <a:r>
              <a:rPr b="1" i="0" lang="en-US" sz="2800" u="none" cap="none" strike="noStrike">
                <a:solidFill>
                  <a:srgbClr val="E87C0A"/>
                </a:solidFill>
                <a:latin typeface="Calibri"/>
                <a:ea typeface="Calibri"/>
                <a:cs typeface="Calibri"/>
                <a:sym typeface="Calibri"/>
              </a:rPr>
              <a:t>5+</a:t>
            </a:r>
            <a:endParaRPr b="0" i="0" sz="2800" u="none" cap="none" strike="noStrike">
              <a:solidFill>
                <a:schemeClr val="dk1"/>
              </a:solidFill>
              <a:latin typeface="Calibri"/>
              <a:ea typeface="Calibri"/>
              <a:cs typeface="Calibri"/>
              <a:sym typeface="Calibri"/>
            </a:endParaRPr>
          </a:p>
        </p:txBody>
      </p:sp>
      <p:sp>
        <p:nvSpPr>
          <p:cNvPr id="197" name="Google Shape;197;p11"/>
          <p:cNvSpPr/>
          <p:nvPr/>
        </p:nvSpPr>
        <p:spPr>
          <a:xfrm>
            <a:off x="274320" y="1389888"/>
            <a:ext cx="208483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World Titles</a:t>
            </a:r>
            <a:endParaRPr b="0" i="0" sz="1100" u="none" cap="none" strike="noStrike">
              <a:solidFill>
                <a:schemeClr val="dk1"/>
              </a:solidFill>
              <a:latin typeface="Calibri"/>
              <a:ea typeface="Calibri"/>
              <a:cs typeface="Calibri"/>
              <a:sym typeface="Calibri"/>
            </a:endParaRPr>
          </a:p>
        </p:txBody>
      </p:sp>
      <p:sp>
        <p:nvSpPr>
          <p:cNvPr id="198" name="Google Shape;198;p11"/>
          <p:cNvSpPr/>
          <p:nvPr/>
        </p:nvSpPr>
        <p:spPr>
          <a:xfrm>
            <a:off x="2487168" y="777240"/>
            <a:ext cx="2084832" cy="1005840"/>
          </a:xfrm>
          <a:prstGeom prst="rect">
            <a:avLst/>
          </a:prstGeom>
          <a:solidFill>
            <a:srgbClr val="0D1B2A"/>
          </a:solidFill>
          <a:ln cap="flat" cmpd="sng" w="12700">
            <a:solidFill>
              <a:srgbClr val="0D1B2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p:nvPr/>
        </p:nvSpPr>
        <p:spPr>
          <a:xfrm>
            <a:off x="2487168" y="886968"/>
            <a:ext cx="208483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800"/>
              <a:buFont typeface="Calibri"/>
              <a:buNone/>
            </a:pPr>
            <a:r>
              <a:rPr b="1" i="0" lang="en-US" sz="2800" u="none" cap="none" strike="noStrike">
                <a:solidFill>
                  <a:srgbClr val="E87C0A"/>
                </a:solidFill>
                <a:latin typeface="Calibri"/>
                <a:ea typeface="Calibri"/>
                <a:cs typeface="Calibri"/>
                <a:sym typeface="Calibri"/>
              </a:rPr>
              <a:t>San Jose</a:t>
            </a:r>
            <a:endParaRPr b="0" i="0" sz="2800" u="none" cap="none" strike="noStrike">
              <a:solidFill>
                <a:schemeClr val="dk1"/>
              </a:solidFill>
              <a:latin typeface="Calibri"/>
              <a:ea typeface="Calibri"/>
              <a:cs typeface="Calibri"/>
              <a:sym typeface="Calibri"/>
            </a:endParaRPr>
          </a:p>
        </p:txBody>
      </p:sp>
      <p:sp>
        <p:nvSpPr>
          <p:cNvPr id="200" name="Google Shape;200;p11"/>
          <p:cNvSpPr/>
          <p:nvPr/>
        </p:nvSpPr>
        <p:spPr>
          <a:xfrm>
            <a:off x="2487168" y="1389888"/>
            <a:ext cx="208483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California</a:t>
            </a:r>
            <a:endParaRPr b="0" i="0" sz="1100" u="none" cap="none" strike="noStrike">
              <a:solidFill>
                <a:schemeClr val="dk1"/>
              </a:solidFill>
              <a:latin typeface="Calibri"/>
              <a:ea typeface="Calibri"/>
              <a:cs typeface="Calibri"/>
              <a:sym typeface="Calibri"/>
            </a:endParaRPr>
          </a:p>
        </p:txBody>
      </p:sp>
      <p:sp>
        <p:nvSpPr>
          <p:cNvPr id="201" name="Google Shape;201;p11"/>
          <p:cNvSpPr/>
          <p:nvPr/>
        </p:nvSpPr>
        <p:spPr>
          <a:xfrm>
            <a:off x="4700016" y="777240"/>
            <a:ext cx="2084832" cy="1005840"/>
          </a:xfrm>
          <a:prstGeom prst="rect">
            <a:avLst/>
          </a:prstGeom>
          <a:solidFill>
            <a:srgbClr val="0D1B2A"/>
          </a:solidFill>
          <a:ln cap="flat" cmpd="sng" w="12700">
            <a:solidFill>
              <a:srgbClr val="0D1B2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a:off x="4700016" y="886968"/>
            <a:ext cx="208483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800"/>
              <a:buFont typeface="Calibri"/>
              <a:buNone/>
            </a:pPr>
            <a:r>
              <a:rPr b="1" i="0" lang="en-US" sz="2800" u="none" cap="none" strike="noStrike">
                <a:solidFill>
                  <a:srgbClr val="E87C0A"/>
                </a:solidFill>
                <a:latin typeface="Calibri"/>
                <a:ea typeface="Calibri"/>
                <a:cs typeface="Calibri"/>
                <a:sym typeface="Calibri"/>
              </a:rPr>
              <a:t>1999</a:t>
            </a:r>
            <a:endParaRPr b="0" i="0" sz="2800" u="none" cap="none" strike="noStrike">
              <a:solidFill>
                <a:schemeClr val="dk1"/>
              </a:solidFill>
              <a:latin typeface="Calibri"/>
              <a:ea typeface="Calibri"/>
              <a:cs typeface="Calibri"/>
              <a:sym typeface="Calibri"/>
            </a:endParaRPr>
          </a:p>
        </p:txBody>
      </p:sp>
      <p:sp>
        <p:nvSpPr>
          <p:cNvPr id="203" name="Google Shape;203;p11"/>
          <p:cNvSpPr/>
          <p:nvPr/>
        </p:nvSpPr>
        <p:spPr>
          <a:xfrm>
            <a:off x="4700016" y="1389888"/>
            <a:ext cx="208483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Founded</a:t>
            </a:r>
            <a:endParaRPr b="0" i="0" sz="1100" u="none" cap="none" strike="noStrike">
              <a:solidFill>
                <a:schemeClr val="dk1"/>
              </a:solidFill>
              <a:latin typeface="Calibri"/>
              <a:ea typeface="Calibri"/>
              <a:cs typeface="Calibri"/>
              <a:sym typeface="Calibri"/>
            </a:endParaRPr>
          </a:p>
        </p:txBody>
      </p:sp>
      <p:sp>
        <p:nvSpPr>
          <p:cNvPr id="204" name="Google Shape;204;p11"/>
          <p:cNvSpPr/>
          <p:nvPr/>
        </p:nvSpPr>
        <p:spPr>
          <a:xfrm>
            <a:off x="6912864" y="777240"/>
            <a:ext cx="2084832" cy="1005840"/>
          </a:xfrm>
          <a:prstGeom prst="rect">
            <a:avLst/>
          </a:prstGeom>
          <a:solidFill>
            <a:srgbClr val="0D1B2A"/>
          </a:solidFill>
          <a:ln cap="flat" cmpd="sng" w="12700">
            <a:solidFill>
              <a:srgbClr val="0D1B2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a:off x="6912864" y="886968"/>
            <a:ext cx="208483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800"/>
              <a:buFont typeface="Calibri"/>
              <a:buNone/>
            </a:pPr>
            <a:r>
              <a:rPr b="1" i="0" lang="en-US" sz="2800" u="none" cap="none" strike="noStrike">
                <a:solidFill>
                  <a:srgbClr val="E87C0A"/>
                </a:solidFill>
                <a:latin typeface="Calibri"/>
                <a:ea typeface="Calibri"/>
                <a:cs typeface="Calibri"/>
                <a:sym typeface="Calibri"/>
              </a:rPr>
              <a:t>Most</a:t>
            </a:r>
            <a:endParaRPr b="0" i="0" sz="2800" u="none" cap="none" strike="noStrike">
              <a:solidFill>
                <a:schemeClr val="dk1"/>
              </a:solidFill>
              <a:latin typeface="Calibri"/>
              <a:ea typeface="Calibri"/>
              <a:cs typeface="Calibri"/>
              <a:sym typeface="Calibri"/>
            </a:endParaRPr>
          </a:p>
        </p:txBody>
      </p:sp>
      <p:sp>
        <p:nvSpPr>
          <p:cNvPr id="206" name="Google Shape;206;p11"/>
          <p:cNvSpPr/>
          <p:nvPr/>
        </p:nvSpPr>
        <p:spPr>
          <a:xfrm>
            <a:off x="6912864" y="1389888"/>
            <a:ext cx="208483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Influential</a:t>
            </a:r>
            <a:endParaRPr b="0" i="0" sz="1100" u="none" cap="none" strike="noStrike">
              <a:solidFill>
                <a:schemeClr val="dk1"/>
              </a:solidFill>
              <a:latin typeface="Calibri"/>
              <a:ea typeface="Calibri"/>
              <a:cs typeface="Calibri"/>
              <a:sym typeface="Calibri"/>
            </a:endParaRPr>
          </a:p>
        </p:txBody>
      </p:sp>
      <p:sp>
        <p:nvSpPr>
          <p:cNvPr id="207" name="Google Shape;207;p11"/>
          <p:cNvSpPr/>
          <p:nvPr/>
        </p:nvSpPr>
        <p:spPr>
          <a:xfrm>
            <a:off x="365760" y="1920240"/>
            <a:ext cx="84124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Often called the greatest FRC team of all time, Team 254 from Bellarmine College Preparatory in San Jose consistently sets the standard for robot design, autonomous routines, and field strategy. Backed by NASA Ames and Google engineers as mentors.</a:t>
            </a:r>
            <a:endParaRPr b="0" i="0" sz="1200" u="none" cap="none" strike="noStrike">
              <a:solidFill>
                <a:schemeClr val="dk1"/>
              </a:solidFill>
              <a:latin typeface="Calibri"/>
              <a:ea typeface="Calibri"/>
              <a:cs typeface="Calibri"/>
              <a:sym typeface="Calibri"/>
            </a:endParaRPr>
          </a:p>
        </p:txBody>
      </p:sp>
      <p:sp>
        <p:nvSpPr>
          <p:cNvPr id="208" name="Google Shape;208;p11"/>
          <p:cNvSpPr/>
          <p:nvPr/>
        </p:nvSpPr>
        <p:spPr>
          <a:xfrm>
            <a:off x="274320" y="2724912"/>
            <a:ext cx="2816352" cy="100584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1"/>
          <p:cNvSpPr/>
          <p:nvPr/>
        </p:nvSpPr>
        <p:spPr>
          <a:xfrm>
            <a:off x="274320" y="2724912"/>
            <a:ext cx="594360" cy="100584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274320" y="2724912"/>
            <a:ext cx="59436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2011</a:t>
            </a:r>
            <a:endParaRPr b="0" i="0" sz="1600" u="none" cap="none" strike="noStrike">
              <a:solidFill>
                <a:schemeClr val="dk1"/>
              </a:solidFill>
              <a:latin typeface="Calibri"/>
              <a:ea typeface="Calibri"/>
              <a:cs typeface="Calibri"/>
              <a:sym typeface="Calibri"/>
            </a:endParaRPr>
          </a:p>
        </p:txBody>
      </p:sp>
      <p:sp>
        <p:nvSpPr>
          <p:cNvPr id="211" name="Google Shape;211;p11"/>
          <p:cNvSpPr/>
          <p:nvPr/>
        </p:nvSpPr>
        <p:spPr>
          <a:xfrm>
            <a:off x="932688" y="2779776"/>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Logomotion Robot</a:t>
            </a:r>
            <a:endParaRPr b="0" i="0" sz="1200" u="none" cap="none" strike="noStrike">
              <a:solidFill>
                <a:schemeClr val="dk1"/>
              </a:solidFill>
              <a:latin typeface="Calibri"/>
              <a:ea typeface="Calibri"/>
              <a:cs typeface="Calibri"/>
              <a:sym typeface="Calibri"/>
            </a:endParaRPr>
          </a:p>
        </p:txBody>
      </p:sp>
      <p:sp>
        <p:nvSpPr>
          <p:cNvPr id="212" name="Google Shape;212;p11"/>
          <p:cNvSpPr/>
          <p:nvPr/>
        </p:nvSpPr>
        <p:spPr>
          <a:xfrm>
            <a:off x="932688" y="3127248"/>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Won first World Championship. Graceful tube-placing arm on a tank drive base.</a:t>
            </a:r>
            <a:endParaRPr b="0" i="0" sz="1000" u="none" cap="none" strike="noStrike">
              <a:solidFill>
                <a:schemeClr val="dk1"/>
              </a:solidFill>
              <a:latin typeface="Calibri"/>
              <a:ea typeface="Calibri"/>
              <a:cs typeface="Calibri"/>
              <a:sym typeface="Calibri"/>
            </a:endParaRPr>
          </a:p>
        </p:txBody>
      </p:sp>
      <p:sp>
        <p:nvSpPr>
          <p:cNvPr id="213" name="Google Shape;213;p11"/>
          <p:cNvSpPr/>
          <p:nvPr/>
        </p:nvSpPr>
        <p:spPr>
          <a:xfrm>
            <a:off x="3218688" y="2724912"/>
            <a:ext cx="2816352" cy="100584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
          <p:cNvSpPr/>
          <p:nvPr/>
        </p:nvSpPr>
        <p:spPr>
          <a:xfrm>
            <a:off x="3218688" y="2724912"/>
            <a:ext cx="594360" cy="100584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3218688" y="2724912"/>
            <a:ext cx="59436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2014</a:t>
            </a:r>
            <a:endParaRPr b="0" i="0" sz="1600" u="none" cap="none" strike="noStrike">
              <a:solidFill>
                <a:schemeClr val="dk1"/>
              </a:solidFill>
              <a:latin typeface="Calibri"/>
              <a:ea typeface="Calibri"/>
              <a:cs typeface="Calibri"/>
              <a:sym typeface="Calibri"/>
            </a:endParaRPr>
          </a:p>
        </p:txBody>
      </p:sp>
      <p:sp>
        <p:nvSpPr>
          <p:cNvPr id="216" name="Google Shape;216;p11"/>
          <p:cNvSpPr/>
          <p:nvPr/>
        </p:nvSpPr>
        <p:spPr>
          <a:xfrm>
            <a:off x="3877056" y="2779776"/>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Barrage</a:t>
            </a:r>
            <a:endParaRPr b="0" i="0" sz="1200" u="none" cap="none" strike="noStrike">
              <a:solidFill>
                <a:schemeClr val="dk1"/>
              </a:solidFill>
              <a:latin typeface="Calibri"/>
              <a:ea typeface="Calibri"/>
              <a:cs typeface="Calibri"/>
              <a:sym typeface="Calibri"/>
            </a:endParaRPr>
          </a:p>
        </p:txBody>
      </p:sp>
      <p:sp>
        <p:nvSpPr>
          <p:cNvPr id="217" name="Google Shape;217;p11"/>
          <p:cNvSpPr/>
          <p:nvPr/>
        </p:nvSpPr>
        <p:spPr>
          <a:xfrm>
            <a:off x="3877056" y="3127248"/>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4-bar linkage auto-catch robot. Set records. Won Worlds with dominant alliance coordination.</a:t>
            </a:r>
            <a:endParaRPr b="0" i="0" sz="1000" u="none" cap="none" strike="noStrike">
              <a:solidFill>
                <a:schemeClr val="dk1"/>
              </a:solidFill>
              <a:latin typeface="Calibri"/>
              <a:ea typeface="Calibri"/>
              <a:cs typeface="Calibri"/>
              <a:sym typeface="Calibri"/>
            </a:endParaRPr>
          </a:p>
        </p:txBody>
      </p:sp>
      <p:sp>
        <p:nvSpPr>
          <p:cNvPr id="218" name="Google Shape;218;p11"/>
          <p:cNvSpPr/>
          <p:nvPr/>
        </p:nvSpPr>
        <p:spPr>
          <a:xfrm>
            <a:off x="6163056" y="2724912"/>
            <a:ext cx="2816352" cy="100584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1"/>
          <p:cNvSpPr/>
          <p:nvPr/>
        </p:nvSpPr>
        <p:spPr>
          <a:xfrm>
            <a:off x="6163056" y="2724912"/>
            <a:ext cx="594360" cy="100584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1"/>
          <p:cNvSpPr/>
          <p:nvPr/>
        </p:nvSpPr>
        <p:spPr>
          <a:xfrm>
            <a:off x="6163056" y="2724912"/>
            <a:ext cx="59436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2017</a:t>
            </a:r>
            <a:endParaRPr b="0" i="0" sz="1600" u="none" cap="none" strike="noStrike">
              <a:solidFill>
                <a:schemeClr val="dk1"/>
              </a:solidFill>
              <a:latin typeface="Calibri"/>
              <a:ea typeface="Calibri"/>
              <a:cs typeface="Calibri"/>
              <a:sym typeface="Calibri"/>
            </a:endParaRPr>
          </a:p>
        </p:txBody>
      </p:sp>
      <p:sp>
        <p:nvSpPr>
          <p:cNvPr id="221" name="Google Shape;221;p11"/>
          <p:cNvSpPr/>
          <p:nvPr/>
        </p:nvSpPr>
        <p:spPr>
          <a:xfrm>
            <a:off x="6821424" y="2779776"/>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Miss Daisy</a:t>
            </a:r>
            <a:endParaRPr b="0" i="0" sz="1200" u="none" cap="none" strike="noStrike">
              <a:solidFill>
                <a:schemeClr val="dk1"/>
              </a:solidFill>
              <a:latin typeface="Calibri"/>
              <a:ea typeface="Calibri"/>
              <a:cs typeface="Calibri"/>
              <a:sym typeface="Calibri"/>
            </a:endParaRPr>
          </a:p>
        </p:txBody>
      </p:sp>
      <p:sp>
        <p:nvSpPr>
          <p:cNvPr id="222" name="Google Shape;222;p11"/>
          <p:cNvSpPr/>
          <p:nvPr/>
        </p:nvSpPr>
        <p:spPr>
          <a:xfrm>
            <a:off x="6821424" y="3127248"/>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Swerve drive breakthrough. Autonomous gear delivery. Won Worlds. First truly dominant swerve.</a:t>
            </a:r>
            <a:endParaRPr b="0" i="0" sz="1000" u="none" cap="none" strike="noStrike">
              <a:solidFill>
                <a:schemeClr val="dk1"/>
              </a:solidFill>
              <a:latin typeface="Calibri"/>
              <a:ea typeface="Calibri"/>
              <a:cs typeface="Calibri"/>
              <a:sym typeface="Calibri"/>
            </a:endParaRPr>
          </a:p>
        </p:txBody>
      </p:sp>
      <p:sp>
        <p:nvSpPr>
          <p:cNvPr id="223" name="Google Shape;223;p11"/>
          <p:cNvSpPr/>
          <p:nvPr/>
        </p:nvSpPr>
        <p:spPr>
          <a:xfrm>
            <a:off x="274320" y="3867912"/>
            <a:ext cx="2816352" cy="100584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a:off x="274320" y="3867912"/>
            <a:ext cx="594360" cy="100584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a:off x="274320" y="3867912"/>
            <a:ext cx="59436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2018</a:t>
            </a:r>
            <a:endParaRPr b="0" i="0" sz="1600" u="none" cap="none" strike="noStrike">
              <a:solidFill>
                <a:schemeClr val="dk1"/>
              </a:solidFill>
              <a:latin typeface="Calibri"/>
              <a:ea typeface="Calibri"/>
              <a:cs typeface="Calibri"/>
              <a:sym typeface="Calibri"/>
            </a:endParaRPr>
          </a:p>
        </p:txBody>
      </p:sp>
      <p:sp>
        <p:nvSpPr>
          <p:cNvPr id="226" name="Google Shape;226;p11"/>
          <p:cNvSpPr/>
          <p:nvPr/>
        </p:nvSpPr>
        <p:spPr>
          <a:xfrm>
            <a:off x="932688" y="3922776"/>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Lockdown</a:t>
            </a:r>
            <a:endParaRPr b="0" i="0" sz="1200" u="none" cap="none" strike="noStrike">
              <a:solidFill>
                <a:schemeClr val="dk1"/>
              </a:solidFill>
              <a:latin typeface="Calibri"/>
              <a:ea typeface="Calibri"/>
              <a:cs typeface="Calibri"/>
              <a:sym typeface="Calibri"/>
            </a:endParaRPr>
          </a:p>
        </p:txBody>
      </p:sp>
      <p:sp>
        <p:nvSpPr>
          <p:cNvPr id="227" name="Google Shape;227;p11"/>
          <p:cNvSpPr/>
          <p:nvPr/>
        </p:nvSpPr>
        <p:spPr>
          <a:xfrm>
            <a:off x="932688" y="4270248"/>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Cube intake + scale. Won back-to-back Worlds. Still referenced in FRC design discussions.</a:t>
            </a:r>
            <a:endParaRPr b="0" i="0" sz="1000" u="none" cap="none" strike="noStrike">
              <a:solidFill>
                <a:schemeClr val="dk1"/>
              </a:solidFill>
              <a:latin typeface="Calibri"/>
              <a:ea typeface="Calibri"/>
              <a:cs typeface="Calibri"/>
              <a:sym typeface="Calibri"/>
            </a:endParaRPr>
          </a:p>
        </p:txBody>
      </p:sp>
      <p:sp>
        <p:nvSpPr>
          <p:cNvPr id="228" name="Google Shape;228;p11"/>
          <p:cNvSpPr/>
          <p:nvPr/>
        </p:nvSpPr>
        <p:spPr>
          <a:xfrm>
            <a:off x="3218688" y="3867912"/>
            <a:ext cx="2816352" cy="100584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p:nvPr/>
        </p:nvSpPr>
        <p:spPr>
          <a:xfrm>
            <a:off x="3218688" y="3867912"/>
            <a:ext cx="594360" cy="100584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3218688" y="3867912"/>
            <a:ext cx="59436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2022</a:t>
            </a:r>
            <a:endParaRPr b="0" i="0" sz="1600" u="none" cap="none" strike="noStrike">
              <a:solidFill>
                <a:schemeClr val="dk1"/>
              </a:solidFill>
              <a:latin typeface="Calibri"/>
              <a:ea typeface="Calibri"/>
              <a:cs typeface="Calibri"/>
              <a:sym typeface="Calibri"/>
            </a:endParaRPr>
          </a:p>
        </p:txBody>
      </p:sp>
      <p:sp>
        <p:nvSpPr>
          <p:cNvPr id="231" name="Google Shape;231;p11"/>
          <p:cNvSpPr/>
          <p:nvPr/>
        </p:nvSpPr>
        <p:spPr>
          <a:xfrm>
            <a:off x="3877056" y="3922776"/>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Woof</a:t>
            </a:r>
            <a:endParaRPr b="0" i="0" sz="1200" u="none" cap="none" strike="noStrike">
              <a:solidFill>
                <a:schemeClr val="dk1"/>
              </a:solidFill>
              <a:latin typeface="Calibri"/>
              <a:ea typeface="Calibri"/>
              <a:cs typeface="Calibri"/>
              <a:sym typeface="Calibri"/>
            </a:endParaRPr>
          </a:p>
        </p:txBody>
      </p:sp>
      <p:sp>
        <p:nvSpPr>
          <p:cNvPr id="232" name="Google Shape;232;p11"/>
          <p:cNvSpPr/>
          <p:nvPr/>
        </p:nvSpPr>
        <p:spPr>
          <a:xfrm>
            <a:off x="3877056" y="4270248"/>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Won Worlds again. Rapid React flywheel shooter + traversal bar climb. Flawless autonomous.</a:t>
            </a:r>
            <a:endParaRPr b="0" i="0" sz="1000" u="none" cap="none" strike="noStrike">
              <a:solidFill>
                <a:schemeClr val="dk1"/>
              </a:solidFill>
              <a:latin typeface="Calibri"/>
              <a:ea typeface="Calibri"/>
              <a:cs typeface="Calibri"/>
              <a:sym typeface="Calibri"/>
            </a:endParaRPr>
          </a:p>
        </p:txBody>
      </p:sp>
      <p:sp>
        <p:nvSpPr>
          <p:cNvPr id="233" name="Google Shape;233;p11"/>
          <p:cNvSpPr/>
          <p:nvPr/>
        </p:nvSpPr>
        <p:spPr>
          <a:xfrm>
            <a:off x="6163056" y="3867912"/>
            <a:ext cx="2816352" cy="100584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6163056" y="3867912"/>
            <a:ext cx="594360" cy="100584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6163056" y="3867912"/>
            <a:ext cx="59436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2025</a:t>
            </a:r>
            <a:endParaRPr b="0" i="0" sz="1600" u="none" cap="none" strike="noStrike">
              <a:solidFill>
                <a:schemeClr val="dk1"/>
              </a:solidFill>
              <a:latin typeface="Calibri"/>
              <a:ea typeface="Calibri"/>
              <a:cs typeface="Calibri"/>
              <a:sym typeface="Calibri"/>
            </a:endParaRPr>
          </a:p>
        </p:txBody>
      </p:sp>
      <p:sp>
        <p:nvSpPr>
          <p:cNvPr id="236" name="Google Shape;236;p11"/>
          <p:cNvSpPr/>
          <p:nvPr/>
        </p:nvSpPr>
        <p:spPr>
          <a:xfrm>
            <a:off x="6821424" y="3922776"/>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Undertow</a:t>
            </a:r>
            <a:endParaRPr b="0" i="0" sz="1200" u="none" cap="none" strike="noStrike">
              <a:solidFill>
                <a:schemeClr val="dk1"/>
              </a:solidFill>
              <a:latin typeface="Calibri"/>
              <a:ea typeface="Calibri"/>
              <a:cs typeface="Calibri"/>
              <a:sym typeface="Calibri"/>
            </a:endParaRPr>
          </a:p>
        </p:txBody>
      </p:sp>
      <p:sp>
        <p:nvSpPr>
          <p:cNvPr id="237" name="Google Shape;237;p11"/>
          <p:cNvSpPr/>
          <p:nvPr/>
        </p:nvSpPr>
        <p:spPr>
          <a:xfrm>
            <a:off x="6821424" y="4270248"/>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2025 Reefscape. Dual-element coral/algae end-effector. Competed Sacramento, East Bay, Championship.</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242" name="Shape 242"/>
        <p:cNvGrpSpPr/>
        <p:nvPr/>
      </p:nvGrpSpPr>
      <p:grpSpPr>
        <a:xfrm>
          <a:off x="0" y="0"/>
          <a:ext cx="0" cy="0"/>
          <a:chOff x="0" y="0"/>
          <a:chExt cx="0" cy="0"/>
        </a:xfrm>
      </p:grpSpPr>
      <p:sp>
        <p:nvSpPr>
          <p:cNvPr id="243" name="Google Shape;243;p12"/>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2"/>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Team 1678 — Citrus Circuits</a:t>
            </a:r>
            <a:endParaRPr b="0" i="0" sz="2100" u="none" cap="none" strike="noStrike">
              <a:solidFill>
                <a:schemeClr val="dk1"/>
              </a:solidFill>
              <a:latin typeface="Calibri"/>
              <a:ea typeface="Calibri"/>
              <a:cs typeface="Calibri"/>
              <a:sym typeface="Calibri"/>
            </a:endParaRPr>
          </a:p>
        </p:txBody>
      </p:sp>
      <p:sp>
        <p:nvSpPr>
          <p:cNvPr id="245" name="Google Shape;245;p12"/>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2"/>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LEGENDARY TEAM</a:t>
            </a:r>
            <a:endParaRPr b="0" i="0" sz="1100" u="none" cap="none" strike="noStrike">
              <a:solidFill>
                <a:schemeClr val="dk1"/>
              </a:solidFill>
              <a:latin typeface="Calibri"/>
              <a:ea typeface="Calibri"/>
              <a:cs typeface="Calibri"/>
              <a:sym typeface="Calibri"/>
            </a:endParaRPr>
          </a:p>
        </p:txBody>
      </p:sp>
      <p:sp>
        <p:nvSpPr>
          <p:cNvPr id="247" name="Google Shape;247;p12"/>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2"/>
          <p:cNvSpPr/>
          <p:nvPr/>
        </p:nvSpPr>
        <p:spPr>
          <a:xfrm>
            <a:off x="274320" y="777240"/>
            <a:ext cx="2084832" cy="1005840"/>
          </a:xfrm>
          <a:prstGeom prst="rect">
            <a:avLst/>
          </a:prstGeom>
          <a:solidFill>
            <a:srgbClr val="0D1B2A"/>
          </a:solidFill>
          <a:ln cap="flat" cmpd="sng" w="12700">
            <a:solidFill>
              <a:srgbClr val="0D1B2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2"/>
          <p:cNvSpPr/>
          <p:nvPr/>
        </p:nvSpPr>
        <p:spPr>
          <a:xfrm>
            <a:off x="274320" y="841248"/>
            <a:ext cx="208483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400"/>
              <a:buFont typeface="Calibri"/>
              <a:buNone/>
            </a:pPr>
            <a:r>
              <a:rPr b="1" i="0" lang="en-US" sz="2400" u="none" cap="none" strike="noStrike">
                <a:solidFill>
                  <a:srgbClr val="E87C0A"/>
                </a:solidFill>
                <a:latin typeface="Calibri"/>
                <a:ea typeface="Calibri"/>
                <a:cs typeface="Calibri"/>
                <a:sym typeface="Calibri"/>
              </a:rPr>
              <a:t>1</a:t>
            </a:r>
            <a:endParaRPr b="0" i="0" sz="2400" u="none" cap="none" strike="noStrike">
              <a:solidFill>
                <a:schemeClr val="dk1"/>
              </a:solidFill>
              <a:latin typeface="Calibri"/>
              <a:ea typeface="Calibri"/>
              <a:cs typeface="Calibri"/>
              <a:sym typeface="Calibri"/>
            </a:endParaRPr>
          </a:p>
        </p:txBody>
      </p:sp>
      <p:sp>
        <p:nvSpPr>
          <p:cNvPr id="250" name="Google Shape;250;p12"/>
          <p:cNvSpPr/>
          <p:nvPr/>
        </p:nvSpPr>
        <p:spPr>
          <a:xfrm>
            <a:off x="274320" y="1371600"/>
            <a:ext cx="2084832" cy="3383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World Title (2015)</a:t>
            </a:r>
            <a:endParaRPr b="0" i="0" sz="1100" u="none" cap="none" strike="noStrike">
              <a:solidFill>
                <a:schemeClr val="dk1"/>
              </a:solidFill>
              <a:latin typeface="Calibri"/>
              <a:ea typeface="Calibri"/>
              <a:cs typeface="Calibri"/>
              <a:sym typeface="Calibri"/>
            </a:endParaRPr>
          </a:p>
        </p:txBody>
      </p:sp>
      <p:sp>
        <p:nvSpPr>
          <p:cNvPr id="251" name="Google Shape;251;p12"/>
          <p:cNvSpPr/>
          <p:nvPr/>
        </p:nvSpPr>
        <p:spPr>
          <a:xfrm>
            <a:off x="2487168" y="777240"/>
            <a:ext cx="2084832" cy="1005840"/>
          </a:xfrm>
          <a:prstGeom prst="rect">
            <a:avLst/>
          </a:prstGeom>
          <a:solidFill>
            <a:srgbClr val="0D1B2A"/>
          </a:solidFill>
          <a:ln cap="flat" cmpd="sng" w="12700">
            <a:solidFill>
              <a:srgbClr val="0D1B2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2"/>
          <p:cNvSpPr/>
          <p:nvPr/>
        </p:nvSpPr>
        <p:spPr>
          <a:xfrm>
            <a:off x="2487168" y="841248"/>
            <a:ext cx="208483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400"/>
              <a:buFont typeface="Calibri"/>
              <a:buNone/>
            </a:pPr>
            <a:r>
              <a:rPr b="1" i="0" lang="en-US" sz="2400" u="none" cap="none" strike="noStrike">
                <a:solidFill>
                  <a:srgbClr val="E87C0A"/>
                </a:solidFill>
                <a:latin typeface="Calibri"/>
                <a:ea typeface="Calibri"/>
                <a:cs typeface="Calibri"/>
                <a:sym typeface="Calibri"/>
              </a:rPr>
              <a:t>Davis</a:t>
            </a:r>
            <a:endParaRPr b="0" i="0" sz="2400" u="none" cap="none" strike="noStrike">
              <a:solidFill>
                <a:schemeClr val="dk1"/>
              </a:solidFill>
              <a:latin typeface="Calibri"/>
              <a:ea typeface="Calibri"/>
              <a:cs typeface="Calibri"/>
              <a:sym typeface="Calibri"/>
            </a:endParaRPr>
          </a:p>
        </p:txBody>
      </p:sp>
      <p:sp>
        <p:nvSpPr>
          <p:cNvPr id="253" name="Google Shape;253;p12"/>
          <p:cNvSpPr/>
          <p:nvPr/>
        </p:nvSpPr>
        <p:spPr>
          <a:xfrm>
            <a:off x="2487168" y="1371600"/>
            <a:ext cx="2084832" cy="3383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California</a:t>
            </a:r>
            <a:endParaRPr b="0" i="0" sz="1100" u="none" cap="none" strike="noStrike">
              <a:solidFill>
                <a:schemeClr val="dk1"/>
              </a:solidFill>
              <a:latin typeface="Calibri"/>
              <a:ea typeface="Calibri"/>
              <a:cs typeface="Calibri"/>
              <a:sym typeface="Calibri"/>
            </a:endParaRPr>
          </a:p>
        </p:txBody>
      </p:sp>
      <p:sp>
        <p:nvSpPr>
          <p:cNvPr id="254" name="Google Shape;254;p12"/>
          <p:cNvSpPr/>
          <p:nvPr/>
        </p:nvSpPr>
        <p:spPr>
          <a:xfrm>
            <a:off x="4700016" y="777240"/>
            <a:ext cx="2084832" cy="1005840"/>
          </a:xfrm>
          <a:prstGeom prst="rect">
            <a:avLst/>
          </a:prstGeom>
          <a:solidFill>
            <a:srgbClr val="0D1B2A"/>
          </a:solidFill>
          <a:ln cap="flat" cmpd="sng" w="12700">
            <a:solidFill>
              <a:srgbClr val="0D1B2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2"/>
          <p:cNvSpPr/>
          <p:nvPr/>
        </p:nvSpPr>
        <p:spPr>
          <a:xfrm>
            <a:off x="4700016" y="841248"/>
            <a:ext cx="208483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400"/>
              <a:buFont typeface="Calibri"/>
              <a:buNone/>
            </a:pPr>
            <a:r>
              <a:rPr b="1" i="0" lang="en-US" sz="2400" u="none" cap="none" strike="noStrike">
                <a:solidFill>
                  <a:srgbClr val="E87C0A"/>
                </a:solidFill>
                <a:latin typeface="Calibri"/>
                <a:ea typeface="Calibri"/>
                <a:cs typeface="Calibri"/>
                <a:sym typeface="Calibri"/>
              </a:rPr>
              <a:t>10-Year</a:t>
            </a:r>
            <a:endParaRPr b="0" i="0" sz="2400" u="none" cap="none" strike="noStrike">
              <a:solidFill>
                <a:schemeClr val="dk1"/>
              </a:solidFill>
              <a:latin typeface="Calibri"/>
              <a:ea typeface="Calibri"/>
              <a:cs typeface="Calibri"/>
              <a:sym typeface="Calibri"/>
            </a:endParaRPr>
          </a:p>
        </p:txBody>
      </p:sp>
      <p:sp>
        <p:nvSpPr>
          <p:cNvPr id="256" name="Google Shape;256;p12"/>
          <p:cNvSpPr/>
          <p:nvPr/>
        </p:nvSpPr>
        <p:spPr>
          <a:xfrm>
            <a:off x="4700016" y="1371600"/>
            <a:ext cx="2084832" cy="3383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Einstein Streak</a:t>
            </a:r>
            <a:endParaRPr b="0" i="0" sz="1100" u="none" cap="none" strike="noStrike">
              <a:solidFill>
                <a:schemeClr val="dk1"/>
              </a:solidFill>
              <a:latin typeface="Calibri"/>
              <a:ea typeface="Calibri"/>
              <a:cs typeface="Calibri"/>
              <a:sym typeface="Calibri"/>
            </a:endParaRPr>
          </a:p>
        </p:txBody>
      </p:sp>
      <p:sp>
        <p:nvSpPr>
          <p:cNvPr id="257" name="Google Shape;257;p12"/>
          <p:cNvSpPr/>
          <p:nvPr/>
        </p:nvSpPr>
        <p:spPr>
          <a:xfrm>
            <a:off x="6912864" y="777240"/>
            <a:ext cx="2084832" cy="1005840"/>
          </a:xfrm>
          <a:prstGeom prst="rect">
            <a:avLst/>
          </a:prstGeom>
          <a:solidFill>
            <a:srgbClr val="0D1B2A"/>
          </a:solidFill>
          <a:ln cap="flat" cmpd="sng" w="12700">
            <a:solidFill>
              <a:srgbClr val="0D1B2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p:nvPr/>
        </p:nvSpPr>
        <p:spPr>
          <a:xfrm>
            <a:off x="6912864" y="841248"/>
            <a:ext cx="2084832"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400"/>
              <a:buFont typeface="Calibri"/>
              <a:buNone/>
            </a:pPr>
            <a:r>
              <a:rPr b="1" i="0" lang="en-US" sz="2400" u="none" cap="none" strike="noStrike">
                <a:solidFill>
                  <a:srgbClr val="E87C0A"/>
                </a:solidFill>
                <a:latin typeface="Calibri"/>
                <a:ea typeface="Calibri"/>
                <a:cs typeface="Calibri"/>
                <a:sym typeface="Calibri"/>
              </a:rPr>
              <a:t>Open</a:t>
            </a:r>
            <a:endParaRPr b="0" i="0" sz="2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87C0A"/>
              </a:buClr>
              <a:buSzPts val="2400"/>
              <a:buFont typeface="Calibri"/>
              <a:buNone/>
            </a:pPr>
            <a:r>
              <a:rPr b="1" i="0" lang="en-US" sz="2400" u="none" cap="none" strike="noStrike">
                <a:solidFill>
                  <a:srgbClr val="E87C0A"/>
                </a:solidFill>
                <a:latin typeface="Calibri"/>
                <a:ea typeface="Calibri"/>
                <a:cs typeface="Calibri"/>
                <a:sym typeface="Calibri"/>
              </a:rPr>
              <a:t>Source</a:t>
            </a:r>
            <a:endParaRPr b="0" i="0" sz="2400" u="none" cap="none" strike="noStrike">
              <a:solidFill>
                <a:schemeClr val="dk1"/>
              </a:solidFill>
              <a:latin typeface="Calibri"/>
              <a:ea typeface="Calibri"/>
              <a:cs typeface="Calibri"/>
              <a:sym typeface="Calibri"/>
            </a:endParaRPr>
          </a:p>
        </p:txBody>
      </p:sp>
      <p:sp>
        <p:nvSpPr>
          <p:cNvPr id="259" name="Google Shape;259;p12"/>
          <p:cNvSpPr/>
          <p:nvPr/>
        </p:nvSpPr>
        <p:spPr>
          <a:xfrm>
            <a:off x="6912864" y="1371600"/>
            <a:ext cx="2084832" cy="3383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Code &amp; CAD</a:t>
            </a:r>
            <a:endParaRPr b="0" i="0" sz="1100" u="none" cap="none" strike="noStrike">
              <a:solidFill>
                <a:schemeClr val="dk1"/>
              </a:solidFill>
              <a:latin typeface="Calibri"/>
              <a:ea typeface="Calibri"/>
              <a:cs typeface="Calibri"/>
              <a:sym typeface="Calibri"/>
            </a:endParaRPr>
          </a:p>
        </p:txBody>
      </p:sp>
      <p:sp>
        <p:nvSpPr>
          <p:cNvPr id="260" name="Google Shape;260;p12"/>
          <p:cNvSpPr/>
          <p:nvPr/>
        </p:nvSpPr>
        <p:spPr>
          <a:xfrm>
            <a:off x="365760" y="1920240"/>
            <a:ext cx="8412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200"/>
              <a:buFont typeface="Calibri"/>
              <a:buNone/>
            </a:pPr>
            <a:r>
              <a:rPr b="0" i="0" lang="en-US" sz="1200" u="none" cap="none" strike="noStrike">
                <a:solidFill>
                  <a:srgbClr val="5B6B80"/>
                </a:solidFill>
                <a:latin typeface="Calibri"/>
                <a:ea typeface="Calibri"/>
                <a:cs typeface="Calibri"/>
                <a:sym typeface="Calibri"/>
              </a:rPr>
              <a:t>Based in Davis, CA, Citrus Circuits is one of the most consistently elite teams in FRC history. From 2013–2022, they made Einstein (the World Championship finals field) for 10 consecutive years — an unprecedented streak ended only in 2023. They also release their full robot code to GitHub every season, giving back to the community.</a:t>
            </a:r>
            <a:endParaRPr b="0" i="0" sz="1200" u="none" cap="none" strike="noStrike">
              <a:solidFill>
                <a:schemeClr val="dk1"/>
              </a:solidFill>
              <a:latin typeface="Calibri"/>
              <a:ea typeface="Calibri"/>
              <a:cs typeface="Calibri"/>
              <a:sym typeface="Calibri"/>
            </a:endParaRPr>
          </a:p>
        </p:txBody>
      </p:sp>
      <p:sp>
        <p:nvSpPr>
          <p:cNvPr id="261" name="Google Shape;261;p12"/>
          <p:cNvSpPr/>
          <p:nvPr/>
        </p:nvSpPr>
        <p:spPr>
          <a:xfrm>
            <a:off x="274320" y="2816352"/>
            <a:ext cx="2816352" cy="98755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274320" y="2816352"/>
            <a:ext cx="594360" cy="9875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p:nvPr/>
        </p:nvSpPr>
        <p:spPr>
          <a:xfrm>
            <a:off x="274320" y="2816352"/>
            <a:ext cx="594360" cy="9875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2015</a:t>
            </a:r>
            <a:endParaRPr b="0" i="0" sz="1600" u="none" cap="none" strike="noStrike">
              <a:solidFill>
                <a:schemeClr val="dk1"/>
              </a:solidFill>
              <a:latin typeface="Calibri"/>
              <a:ea typeface="Calibri"/>
              <a:cs typeface="Calibri"/>
              <a:sym typeface="Calibri"/>
            </a:endParaRPr>
          </a:p>
        </p:txBody>
      </p:sp>
      <p:sp>
        <p:nvSpPr>
          <p:cNvPr id="264" name="Google Shape;264;p12"/>
          <p:cNvSpPr/>
          <p:nvPr/>
        </p:nvSpPr>
        <p:spPr>
          <a:xfrm>
            <a:off x="932688" y="2871216"/>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Recycle Rush Bot</a:t>
            </a:r>
            <a:endParaRPr b="0" i="0" sz="1200" u="none" cap="none" strike="noStrike">
              <a:solidFill>
                <a:schemeClr val="dk1"/>
              </a:solidFill>
              <a:latin typeface="Calibri"/>
              <a:ea typeface="Calibri"/>
              <a:cs typeface="Calibri"/>
              <a:sym typeface="Calibri"/>
            </a:endParaRPr>
          </a:p>
        </p:txBody>
      </p:sp>
      <p:sp>
        <p:nvSpPr>
          <p:cNvPr id="265" name="Google Shape;265;p12"/>
          <p:cNvSpPr/>
          <p:nvPr/>
        </p:nvSpPr>
        <p:spPr>
          <a:xfrm>
            <a:off x="932688" y="3218688"/>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Won World Championship in the notorious no-defense game. Precise tote stacking mechanism.</a:t>
            </a:r>
            <a:endParaRPr b="0" i="0" sz="1000" u="none" cap="none" strike="noStrike">
              <a:solidFill>
                <a:schemeClr val="dk1"/>
              </a:solidFill>
              <a:latin typeface="Calibri"/>
              <a:ea typeface="Calibri"/>
              <a:cs typeface="Calibri"/>
              <a:sym typeface="Calibri"/>
            </a:endParaRPr>
          </a:p>
        </p:txBody>
      </p:sp>
      <p:sp>
        <p:nvSpPr>
          <p:cNvPr id="266" name="Google Shape;266;p12"/>
          <p:cNvSpPr/>
          <p:nvPr/>
        </p:nvSpPr>
        <p:spPr>
          <a:xfrm>
            <a:off x="3218688" y="2816352"/>
            <a:ext cx="2816352" cy="98755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p:nvPr/>
        </p:nvSpPr>
        <p:spPr>
          <a:xfrm>
            <a:off x="3218688" y="2816352"/>
            <a:ext cx="594360" cy="9875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3218688" y="2816352"/>
            <a:ext cx="594360" cy="9875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2016</a:t>
            </a:r>
            <a:endParaRPr b="0" i="0" sz="1600" u="none" cap="none" strike="noStrike">
              <a:solidFill>
                <a:schemeClr val="dk1"/>
              </a:solidFill>
              <a:latin typeface="Calibri"/>
              <a:ea typeface="Calibri"/>
              <a:cs typeface="Calibri"/>
              <a:sym typeface="Calibri"/>
            </a:endParaRPr>
          </a:p>
        </p:txBody>
      </p:sp>
      <p:sp>
        <p:nvSpPr>
          <p:cNvPr id="269" name="Google Shape;269;p12"/>
          <p:cNvSpPr/>
          <p:nvPr/>
        </p:nvSpPr>
        <p:spPr>
          <a:xfrm>
            <a:off x="3877056" y="2871216"/>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Stronghold Bot</a:t>
            </a:r>
            <a:endParaRPr b="0" i="0" sz="1200" u="none" cap="none" strike="noStrike">
              <a:solidFill>
                <a:schemeClr val="dk1"/>
              </a:solidFill>
              <a:latin typeface="Calibri"/>
              <a:ea typeface="Calibri"/>
              <a:cs typeface="Calibri"/>
              <a:sym typeface="Calibri"/>
            </a:endParaRPr>
          </a:p>
        </p:txBody>
      </p:sp>
      <p:sp>
        <p:nvSpPr>
          <p:cNvPr id="270" name="Google Shape;270;p12"/>
          <p:cNvSpPr/>
          <p:nvPr/>
        </p:nvSpPr>
        <p:spPr>
          <a:xfrm>
            <a:off x="3877056" y="3218688"/>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On Einstein. Defense-heavy meta; tough WCD. 10-year Einstein streak began in 2013.</a:t>
            </a:r>
            <a:endParaRPr b="0" i="0" sz="1000" u="none" cap="none" strike="noStrike">
              <a:solidFill>
                <a:schemeClr val="dk1"/>
              </a:solidFill>
              <a:latin typeface="Calibri"/>
              <a:ea typeface="Calibri"/>
              <a:cs typeface="Calibri"/>
              <a:sym typeface="Calibri"/>
            </a:endParaRPr>
          </a:p>
        </p:txBody>
      </p:sp>
      <p:sp>
        <p:nvSpPr>
          <p:cNvPr id="271" name="Google Shape;271;p12"/>
          <p:cNvSpPr/>
          <p:nvPr/>
        </p:nvSpPr>
        <p:spPr>
          <a:xfrm>
            <a:off x="6163056" y="2816352"/>
            <a:ext cx="2816352" cy="98755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6163056" y="2816352"/>
            <a:ext cx="594360" cy="9875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p:nvPr/>
        </p:nvSpPr>
        <p:spPr>
          <a:xfrm>
            <a:off x="6163056" y="2816352"/>
            <a:ext cx="594360" cy="9875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2019</a:t>
            </a:r>
            <a:endParaRPr b="0" i="0" sz="1600" u="none" cap="none" strike="noStrike">
              <a:solidFill>
                <a:schemeClr val="dk1"/>
              </a:solidFill>
              <a:latin typeface="Calibri"/>
              <a:ea typeface="Calibri"/>
              <a:cs typeface="Calibri"/>
              <a:sym typeface="Calibri"/>
            </a:endParaRPr>
          </a:p>
        </p:txBody>
      </p:sp>
      <p:sp>
        <p:nvSpPr>
          <p:cNvPr id="274" name="Google Shape;274;p12"/>
          <p:cNvSpPr/>
          <p:nvPr/>
        </p:nvSpPr>
        <p:spPr>
          <a:xfrm>
            <a:off x="6821424" y="2871216"/>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Deep Space Bot</a:t>
            </a:r>
            <a:endParaRPr b="0" i="0" sz="1200" u="none" cap="none" strike="noStrike">
              <a:solidFill>
                <a:schemeClr val="dk1"/>
              </a:solidFill>
              <a:latin typeface="Calibri"/>
              <a:ea typeface="Calibri"/>
              <a:cs typeface="Calibri"/>
              <a:sym typeface="Calibri"/>
            </a:endParaRPr>
          </a:p>
        </p:txBody>
      </p:sp>
      <p:sp>
        <p:nvSpPr>
          <p:cNvPr id="275" name="Google Shape;275;p12"/>
          <p:cNvSpPr/>
          <p:nvPr/>
        </p:nvSpPr>
        <p:spPr>
          <a:xfrm>
            <a:off x="6821424" y="3218688"/>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Einstein appearance. Vision-based hatch panel &amp; cargo auto alignment — ahead of its time.</a:t>
            </a:r>
            <a:endParaRPr b="0" i="0" sz="1000" u="none" cap="none" strike="noStrike">
              <a:solidFill>
                <a:schemeClr val="dk1"/>
              </a:solidFill>
              <a:latin typeface="Calibri"/>
              <a:ea typeface="Calibri"/>
              <a:cs typeface="Calibri"/>
              <a:sym typeface="Calibri"/>
            </a:endParaRPr>
          </a:p>
        </p:txBody>
      </p:sp>
      <p:sp>
        <p:nvSpPr>
          <p:cNvPr id="276" name="Google Shape;276;p12"/>
          <p:cNvSpPr/>
          <p:nvPr/>
        </p:nvSpPr>
        <p:spPr>
          <a:xfrm>
            <a:off x="274320" y="3931920"/>
            <a:ext cx="2816352" cy="98755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274320" y="3931920"/>
            <a:ext cx="594360" cy="9875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
          <p:cNvSpPr/>
          <p:nvPr/>
        </p:nvSpPr>
        <p:spPr>
          <a:xfrm>
            <a:off x="274320" y="3931920"/>
            <a:ext cx="594360" cy="9875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2023</a:t>
            </a:r>
            <a:endParaRPr b="0" i="0" sz="1600" u="none" cap="none" strike="noStrike">
              <a:solidFill>
                <a:schemeClr val="dk1"/>
              </a:solidFill>
              <a:latin typeface="Calibri"/>
              <a:ea typeface="Calibri"/>
              <a:cs typeface="Calibri"/>
              <a:sym typeface="Calibri"/>
            </a:endParaRPr>
          </a:p>
        </p:txBody>
      </p:sp>
      <p:sp>
        <p:nvSpPr>
          <p:cNvPr id="279" name="Google Shape;279;p12"/>
          <p:cNvSpPr/>
          <p:nvPr/>
        </p:nvSpPr>
        <p:spPr>
          <a:xfrm>
            <a:off x="932688" y="3986784"/>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Tangerine Tumbler</a:t>
            </a:r>
            <a:endParaRPr b="0" i="0" sz="1200" u="none" cap="none" strike="noStrike">
              <a:solidFill>
                <a:schemeClr val="dk1"/>
              </a:solidFill>
              <a:latin typeface="Calibri"/>
              <a:ea typeface="Calibri"/>
              <a:cs typeface="Calibri"/>
              <a:sym typeface="Calibri"/>
            </a:endParaRPr>
          </a:p>
        </p:txBody>
      </p:sp>
      <p:sp>
        <p:nvSpPr>
          <p:cNvPr id="280" name="Google Shape;280;p12"/>
          <p:cNvSpPr/>
          <p:nvPr/>
        </p:nvSpPr>
        <p:spPr>
          <a:xfrm>
            <a:off x="932688" y="4334256"/>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Cone/cube roller + arm. Top 5 at Championship. Full open-source code release on GitHub.</a:t>
            </a:r>
            <a:endParaRPr b="0" i="0" sz="1000" u="none" cap="none" strike="noStrike">
              <a:solidFill>
                <a:schemeClr val="dk1"/>
              </a:solidFill>
              <a:latin typeface="Calibri"/>
              <a:ea typeface="Calibri"/>
              <a:cs typeface="Calibri"/>
              <a:sym typeface="Calibri"/>
            </a:endParaRPr>
          </a:p>
        </p:txBody>
      </p:sp>
      <p:sp>
        <p:nvSpPr>
          <p:cNvPr id="281" name="Google Shape;281;p12"/>
          <p:cNvSpPr/>
          <p:nvPr/>
        </p:nvSpPr>
        <p:spPr>
          <a:xfrm>
            <a:off x="3218688" y="3931920"/>
            <a:ext cx="2816352" cy="98755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3218688" y="3931920"/>
            <a:ext cx="594360" cy="9875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2"/>
          <p:cNvSpPr/>
          <p:nvPr/>
        </p:nvSpPr>
        <p:spPr>
          <a:xfrm>
            <a:off x="3218688" y="3931920"/>
            <a:ext cx="594360" cy="9875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2024</a:t>
            </a:r>
            <a:endParaRPr b="0" i="0" sz="1600" u="none" cap="none" strike="noStrike">
              <a:solidFill>
                <a:schemeClr val="dk1"/>
              </a:solidFill>
              <a:latin typeface="Calibri"/>
              <a:ea typeface="Calibri"/>
              <a:cs typeface="Calibri"/>
              <a:sym typeface="Calibri"/>
            </a:endParaRPr>
          </a:p>
        </p:txBody>
      </p:sp>
      <p:sp>
        <p:nvSpPr>
          <p:cNvPr id="284" name="Google Shape;284;p12"/>
          <p:cNvSpPr/>
          <p:nvPr/>
        </p:nvSpPr>
        <p:spPr>
          <a:xfrm>
            <a:off x="3877056" y="3986784"/>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Nik</a:t>
            </a:r>
            <a:endParaRPr b="0" i="0" sz="1200" u="none" cap="none" strike="noStrike">
              <a:solidFill>
                <a:schemeClr val="dk1"/>
              </a:solidFill>
              <a:latin typeface="Calibri"/>
              <a:ea typeface="Calibri"/>
              <a:cs typeface="Calibri"/>
              <a:sym typeface="Calibri"/>
            </a:endParaRPr>
          </a:p>
        </p:txBody>
      </p:sp>
      <p:sp>
        <p:nvSpPr>
          <p:cNvPr id="285" name="Google Shape;285;p12"/>
          <p:cNvSpPr/>
          <p:nvPr/>
        </p:nvSpPr>
        <p:spPr>
          <a:xfrm>
            <a:off x="3877056" y="4334256"/>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Hook-based chain hang. Flywheel note shooter.</a:t>
            </a:r>
            <a:endParaRPr b="0" i="0" sz="1000" u="none" cap="none" strike="noStrike">
              <a:solidFill>
                <a:schemeClr val="dk1"/>
              </a:solidFill>
              <a:latin typeface="Calibri"/>
              <a:ea typeface="Calibri"/>
              <a:cs typeface="Calibri"/>
              <a:sym typeface="Calibri"/>
            </a:endParaRPr>
          </a:p>
        </p:txBody>
      </p:sp>
      <p:sp>
        <p:nvSpPr>
          <p:cNvPr id="286" name="Google Shape;286;p12"/>
          <p:cNvSpPr/>
          <p:nvPr/>
        </p:nvSpPr>
        <p:spPr>
          <a:xfrm>
            <a:off x="6163056" y="3931920"/>
            <a:ext cx="2816352" cy="98755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2"/>
          <p:cNvSpPr/>
          <p:nvPr/>
        </p:nvSpPr>
        <p:spPr>
          <a:xfrm>
            <a:off x="6163056" y="3931920"/>
            <a:ext cx="594360" cy="9875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2"/>
          <p:cNvSpPr/>
          <p:nvPr/>
        </p:nvSpPr>
        <p:spPr>
          <a:xfrm>
            <a:off x="6163056" y="3931920"/>
            <a:ext cx="594360" cy="9875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2025</a:t>
            </a:r>
            <a:endParaRPr b="0" i="0" sz="1600" u="none" cap="none" strike="noStrike">
              <a:solidFill>
                <a:schemeClr val="dk1"/>
              </a:solidFill>
              <a:latin typeface="Calibri"/>
              <a:ea typeface="Calibri"/>
              <a:cs typeface="Calibri"/>
              <a:sym typeface="Calibri"/>
            </a:endParaRPr>
          </a:p>
        </p:txBody>
      </p:sp>
      <p:sp>
        <p:nvSpPr>
          <p:cNvPr id="289" name="Google Shape;289;p12"/>
          <p:cNvSpPr/>
          <p:nvPr/>
        </p:nvSpPr>
        <p:spPr>
          <a:xfrm>
            <a:off x="6821424" y="3986784"/>
            <a:ext cx="2084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SubLime</a:t>
            </a:r>
            <a:endParaRPr b="0" i="0" sz="1200" u="none" cap="none" strike="noStrike">
              <a:solidFill>
                <a:schemeClr val="dk1"/>
              </a:solidFill>
              <a:latin typeface="Calibri"/>
              <a:ea typeface="Calibri"/>
              <a:cs typeface="Calibri"/>
              <a:sym typeface="Calibri"/>
            </a:endParaRPr>
          </a:p>
        </p:txBody>
      </p:sp>
      <p:sp>
        <p:nvSpPr>
          <p:cNvPr id="290" name="Google Shape;290;p12"/>
          <p:cNvSpPr/>
          <p:nvPr/>
        </p:nvSpPr>
        <p:spPr>
          <a:xfrm>
            <a:off x="6821424" y="4334256"/>
            <a:ext cx="208483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Coral/algae dual-use end-effector. Deep cage climb. Won 3 regionals. Open-source code released.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295" name="Shape 295"/>
        <p:cNvGrpSpPr/>
        <p:nvPr/>
      </p:nvGrpSpPr>
      <p:grpSpPr>
        <a:xfrm>
          <a:off x="0" y="0"/>
          <a:ext cx="0" cy="0"/>
          <a:chOff x="0" y="0"/>
          <a:chExt cx="0" cy="0"/>
        </a:xfrm>
      </p:grpSpPr>
      <p:sp>
        <p:nvSpPr>
          <p:cNvPr id="296" name="Google Shape;296;p13"/>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3"/>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Other All-Time Great Teams</a:t>
            </a:r>
            <a:endParaRPr b="0" i="0" sz="2100" u="none" cap="none" strike="noStrike">
              <a:solidFill>
                <a:schemeClr val="dk1"/>
              </a:solidFill>
              <a:latin typeface="Calibri"/>
              <a:ea typeface="Calibri"/>
              <a:cs typeface="Calibri"/>
              <a:sym typeface="Calibri"/>
            </a:endParaRPr>
          </a:p>
        </p:txBody>
      </p:sp>
      <p:sp>
        <p:nvSpPr>
          <p:cNvPr id="298" name="Google Shape;298;p13"/>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3"/>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LEGENDARY TEAMS</a:t>
            </a:r>
            <a:endParaRPr b="0" i="0" sz="1100" u="none" cap="none" strike="noStrike">
              <a:solidFill>
                <a:schemeClr val="dk1"/>
              </a:solidFill>
              <a:latin typeface="Calibri"/>
              <a:ea typeface="Calibri"/>
              <a:cs typeface="Calibri"/>
              <a:sym typeface="Calibri"/>
            </a:endParaRPr>
          </a:p>
        </p:txBody>
      </p:sp>
      <p:sp>
        <p:nvSpPr>
          <p:cNvPr id="300" name="Google Shape;300;p13"/>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p:nvPr/>
        </p:nvSpPr>
        <p:spPr>
          <a:xfrm>
            <a:off x="274320" y="777240"/>
            <a:ext cx="4251960" cy="1316736"/>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274320" y="777240"/>
            <a:ext cx="914400" cy="1316736"/>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p:nvPr/>
        </p:nvSpPr>
        <p:spPr>
          <a:xfrm>
            <a:off x="274320" y="777240"/>
            <a:ext cx="9144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1114</a:t>
            </a:r>
            <a:endParaRPr b="0" i="0" sz="2200" u="none" cap="none" strike="noStrike">
              <a:solidFill>
                <a:schemeClr val="dk1"/>
              </a:solidFill>
              <a:latin typeface="Calibri"/>
              <a:ea typeface="Calibri"/>
              <a:cs typeface="Calibri"/>
              <a:sym typeface="Calibri"/>
            </a:endParaRPr>
          </a:p>
        </p:txBody>
      </p:sp>
      <p:sp>
        <p:nvSpPr>
          <p:cNvPr id="304" name="Google Shape;304;p13"/>
          <p:cNvSpPr/>
          <p:nvPr/>
        </p:nvSpPr>
        <p:spPr>
          <a:xfrm>
            <a:off x="274320" y="1435608"/>
            <a:ext cx="9144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000"/>
              <a:buFont typeface="Calibri"/>
              <a:buNone/>
            </a:pPr>
            <a:r>
              <a:rPr b="0" i="0" lang="en-US" sz="1000" u="none" cap="none" strike="noStrike">
                <a:solidFill>
                  <a:srgbClr val="D8E4F0"/>
                </a:solidFill>
                <a:latin typeface="Calibri"/>
                <a:ea typeface="Calibri"/>
                <a:cs typeface="Calibri"/>
                <a:sym typeface="Calibri"/>
              </a:rPr>
              <a:t>Simbotics</a:t>
            </a:r>
            <a:endParaRPr b="0" i="0" sz="1000" u="none" cap="none" strike="noStrike">
              <a:solidFill>
                <a:schemeClr val="dk1"/>
              </a:solidFill>
              <a:latin typeface="Calibri"/>
              <a:ea typeface="Calibri"/>
              <a:cs typeface="Calibri"/>
              <a:sym typeface="Calibri"/>
            </a:endParaRPr>
          </a:p>
        </p:txBody>
      </p:sp>
      <p:sp>
        <p:nvSpPr>
          <p:cNvPr id="305" name="Google Shape;305;p13"/>
          <p:cNvSpPr/>
          <p:nvPr/>
        </p:nvSpPr>
        <p:spPr>
          <a:xfrm>
            <a:off x="1261872" y="832104"/>
            <a:ext cx="3182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Simbotics</a:t>
            </a:r>
            <a:endParaRPr b="0" i="0" sz="1300" u="none" cap="none" strike="noStrike">
              <a:solidFill>
                <a:schemeClr val="dk1"/>
              </a:solidFill>
              <a:latin typeface="Calibri"/>
              <a:ea typeface="Calibri"/>
              <a:cs typeface="Calibri"/>
              <a:sym typeface="Calibri"/>
            </a:endParaRPr>
          </a:p>
        </p:txBody>
      </p:sp>
      <p:sp>
        <p:nvSpPr>
          <p:cNvPr id="306" name="Google Shape;306;p13"/>
          <p:cNvSpPr/>
          <p:nvPr/>
        </p:nvSpPr>
        <p:spPr>
          <a:xfrm>
            <a:off x="1261872" y="1124712"/>
            <a:ext cx="31821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St. Catharines, ON 🇨🇦</a:t>
            </a:r>
            <a:endParaRPr b="0" i="0" sz="1000" u="none" cap="none" strike="noStrike">
              <a:solidFill>
                <a:schemeClr val="dk1"/>
              </a:solidFill>
              <a:latin typeface="Calibri"/>
              <a:ea typeface="Calibri"/>
              <a:cs typeface="Calibri"/>
              <a:sym typeface="Calibri"/>
            </a:endParaRPr>
          </a:p>
        </p:txBody>
      </p:sp>
      <p:sp>
        <p:nvSpPr>
          <p:cNvPr id="307" name="Google Shape;307;p13"/>
          <p:cNvSpPr/>
          <p:nvPr/>
        </p:nvSpPr>
        <p:spPr>
          <a:xfrm>
            <a:off x="1261872" y="1380744"/>
            <a:ext cx="318211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Arguably Canada's greatest team. 3x World Champions (2008, 2011, 2014 alliances). Legendary for engineering rigor, Chairman's Award. Mentored dozens of Canadian teams.</a:t>
            </a:r>
            <a:endParaRPr b="0" i="0" sz="1000" u="none" cap="none" strike="noStrike">
              <a:solidFill>
                <a:schemeClr val="dk1"/>
              </a:solidFill>
              <a:latin typeface="Calibri"/>
              <a:ea typeface="Calibri"/>
              <a:cs typeface="Calibri"/>
              <a:sym typeface="Calibri"/>
            </a:endParaRPr>
          </a:p>
        </p:txBody>
      </p:sp>
      <p:sp>
        <p:nvSpPr>
          <p:cNvPr id="308" name="Google Shape;308;p13"/>
          <p:cNvSpPr/>
          <p:nvPr/>
        </p:nvSpPr>
        <p:spPr>
          <a:xfrm>
            <a:off x="4709160" y="777240"/>
            <a:ext cx="4251960" cy="1316736"/>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p:nvPr/>
        </p:nvSpPr>
        <p:spPr>
          <a:xfrm>
            <a:off x="4709160" y="777240"/>
            <a:ext cx="914400" cy="1316736"/>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3"/>
          <p:cNvSpPr/>
          <p:nvPr/>
        </p:nvSpPr>
        <p:spPr>
          <a:xfrm>
            <a:off x="4709160" y="777240"/>
            <a:ext cx="9144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2056</a:t>
            </a:r>
            <a:endParaRPr b="0" i="0" sz="2200" u="none" cap="none" strike="noStrike">
              <a:solidFill>
                <a:schemeClr val="dk1"/>
              </a:solidFill>
              <a:latin typeface="Calibri"/>
              <a:ea typeface="Calibri"/>
              <a:cs typeface="Calibri"/>
              <a:sym typeface="Calibri"/>
            </a:endParaRPr>
          </a:p>
        </p:txBody>
      </p:sp>
      <p:sp>
        <p:nvSpPr>
          <p:cNvPr id="311" name="Google Shape;311;p13"/>
          <p:cNvSpPr/>
          <p:nvPr/>
        </p:nvSpPr>
        <p:spPr>
          <a:xfrm>
            <a:off x="4709160" y="1435608"/>
            <a:ext cx="9144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000"/>
              <a:buFont typeface="Calibri"/>
              <a:buNone/>
            </a:pPr>
            <a:r>
              <a:rPr b="0" i="0" lang="en-US" sz="1000" u="none" cap="none" strike="noStrike">
                <a:solidFill>
                  <a:srgbClr val="D8E4F0"/>
                </a:solidFill>
                <a:latin typeface="Calibri"/>
                <a:ea typeface="Calibri"/>
                <a:cs typeface="Calibri"/>
                <a:sym typeface="Calibri"/>
              </a:rPr>
              <a:t>OP Robotics</a:t>
            </a:r>
            <a:endParaRPr b="0" i="0" sz="1000" u="none" cap="none" strike="noStrike">
              <a:solidFill>
                <a:schemeClr val="dk1"/>
              </a:solidFill>
              <a:latin typeface="Calibri"/>
              <a:ea typeface="Calibri"/>
              <a:cs typeface="Calibri"/>
              <a:sym typeface="Calibri"/>
            </a:endParaRPr>
          </a:p>
        </p:txBody>
      </p:sp>
      <p:sp>
        <p:nvSpPr>
          <p:cNvPr id="312" name="Google Shape;312;p13"/>
          <p:cNvSpPr/>
          <p:nvPr/>
        </p:nvSpPr>
        <p:spPr>
          <a:xfrm>
            <a:off x="5696712" y="832104"/>
            <a:ext cx="3182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OP Robotics</a:t>
            </a:r>
            <a:endParaRPr b="0" i="0" sz="1300" u="none" cap="none" strike="noStrike">
              <a:solidFill>
                <a:schemeClr val="dk1"/>
              </a:solidFill>
              <a:latin typeface="Calibri"/>
              <a:ea typeface="Calibri"/>
              <a:cs typeface="Calibri"/>
              <a:sym typeface="Calibri"/>
            </a:endParaRPr>
          </a:p>
        </p:txBody>
      </p:sp>
      <p:sp>
        <p:nvSpPr>
          <p:cNvPr id="313" name="Google Shape;313;p13"/>
          <p:cNvSpPr/>
          <p:nvPr/>
        </p:nvSpPr>
        <p:spPr>
          <a:xfrm>
            <a:off x="5696712" y="1124712"/>
            <a:ext cx="31821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Pickering, ON 🇨🇦</a:t>
            </a:r>
            <a:endParaRPr b="0" i="0" sz="1000" u="none" cap="none" strike="noStrike">
              <a:solidFill>
                <a:schemeClr val="dk1"/>
              </a:solidFill>
              <a:latin typeface="Calibri"/>
              <a:ea typeface="Calibri"/>
              <a:cs typeface="Calibri"/>
              <a:sym typeface="Calibri"/>
            </a:endParaRPr>
          </a:p>
        </p:txBody>
      </p:sp>
      <p:sp>
        <p:nvSpPr>
          <p:cNvPr id="314" name="Google Shape;314;p13"/>
          <p:cNvSpPr/>
          <p:nvPr/>
        </p:nvSpPr>
        <p:spPr>
          <a:xfrm>
            <a:off x="5696712" y="1380744"/>
            <a:ext cx="318211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Among the most consistent teams ever. Nearly undefeated in 2024 season (only 3 losses all year). Multiple regional wins. Rarely makes noise publicly but dominates on the field.</a:t>
            </a:r>
            <a:endParaRPr b="0" i="0" sz="1000" u="none" cap="none" strike="noStrike">
              <a:solidFill>
                <a:schemeClr val="dk1"/>
              </a:solidFill>
              <a:latin typeface="Calibri"/>
              <a:ea typeface="Calibri"/>
              <a:cs typeface="Calibri"/>
              <a:sym typeface="Calibri"/>
            </a:endParaRPr>
          </a:p>
        </p:txBody>
      </p:sp>
      <p:sp>
        <p:nvSpPr>
          <p:cNvPr id="315" name="Google Shape;315;p13"/>
          <p:cNvSpPr/>
          <p:nvPr/>
        </p:nvSpPr>
        <p:spPr>
          <a:xfrm>
            <a:off x="274320" y="2203704"/>
            <a:ext cx="4251960" cy="1316736"/>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
          <p:cNvSpPr/>
          <p:nvPr/>
        </p:nvSpPr>
        <p:spPr>
          <a:xfrm>
            <a:off x="274320" y="2203704"/>
            <a:ext cx="914400" cy="1316736"/>
          </a:xfrm>
          <a:prstGeom prst="rect">
            <a:avLst/>
          </a:prstGeom>
          <a:solidFill>
            <a:srgbClr val="8B2020"/>
          </a:solidFill>
          <a:ln cap="flat" cmpd="sng" w="12700">
            <a:solidFill>
              <a:srgbClr val="8B2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3"/>
          <p:cNvSpPr/>
          <p:nvPr/>
        </p:nvSpPr>
        <p:spPr>
          <a:xfrm>
            <a:off x="274320" y="2203704"/>
            <a:ext cx="9144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148</a:t>
            </a:r>
            <a:endParaRPr b="0" i="0" sz="2200" u="none" cap="none" strike="noStrike">
              <a:solidFill>
                <a:schemeClr val="dk1"/>
              </a:solidFill>
              <a:latin typeface="Calibri"/>
              <a:ea typeface="Calibri"/>
              <a:cs typeface="Calibri"/>
              <a:sym typeface="Calibri"/>
            </a:endParaRPr>
          </a:p>
        </p:txBody>
      </p:sp>
      <p:sp>
        <p:nvSpPr>
          <p:cNvPr id="318" name="Google Shape;318;p13"/>
          <p:cNvSpPr/>
          <p:nvPr/>
        </p:nvSpPr>
        <p:spPr>
          <a:xfrm>
            <a:off x="274320" y="2862072"/>
            <a:ext cx="9144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000"/>
              <a:buFont typeface="Calibri"/>
              <a:buNone/>
            </a:pPr>
            <a:r>
              <a:rPr b="0" i="0" lang="en-US" sz="1000" u="none" cap="none" strike="noStrike">
                <a:solidFill>
                  <a:srgbClr val="D8E4F0"/>
                </a:solidFill>
                <a:latin typeface="Calibri"/>
                <a:ea typeface="Calibri"/>
                <a:cs typeface="Calibri"/>
                <a:sym typeface="Calibri"/>
              </a:rPr>
              <a:t>Robowranglers</a:t>
            </a:r>
            <a:endParaRPr b="0" i="0" sz="1000" u="none" cap="none" strike="noStrike">
              <a:solidFill>
                <a:schemeClr val="dk1"/>
              </a:solidFill>
              <a:latin typeface="Calibri"/>
              <a:ea typeface="Calibri"/>
              <a:cs typeface="Calibri"/>
              <a:sym typeface="Calibri"/>
            </a:endParaRPr>
          </a:p>
        </p:txBody>
      </p:sp>
      <p:sp>
        <p:nvSpPr>
          <p:cNvPr id="319" name="Google Shape;319;p13"/>
          <p:cNvSpPr/>
          <p:nvPr/>
        </p:nvSpPr>
        <p:spPr>
          <a:xfrm>
            <a:off x="1261872" y="2258568"/>
            <a:ext cx="3182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Robowranglers</a:t>
            </a:r>
            <a:endParaRPr b="0" i="0" sz="1300" u="none" cap="none" strike="noStrike">
              <a:solidFill>
                <a:schemeClr val="dk1"/>
              </a:solidFill>
              <a:latin typeface="Calibri"/>
              <a:ea typeface="Calibri"/>
              <a:cs typeface="Calibri"/>
              <a:sym typeface="Calibri"/>
            </a:endParaRPr>
          </a:p>
        </p:txBody>
      </p:sp>
      <p:sp>
        <p:nvSpPr>
          <p:cNvPr id="320" name="Google Shape;320;p13"/>
          <p:cNvSpPr/>
          <p:nvPr/>
        </p:nvSpPr>
        <p:spPr>
          <a:xfrm>
            <a:off x="1261872" y="2551176"/>
            <a:ext cx="31821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Greenville, TX</a:t>
            </a:r>
            <a:endParaRPr b="0" i="0" sz="1000" u="none" cap="none" strike="noStrike">
              <a:solidFill>
                <a:schemeClr val="dk1"/>
              </a:solidFill>
              <a:latin typeface="Calibri"/>
              <a:ea typeface="Calibri"/>
              <a:cs typeface="Calibri"/>
              <a:sym typeface="Calibri"/>
            </a:endParaRPr>
          </a:p>
        </p:txBody>
      </p:sp>
      <p:sp>
        <p:nvSpPr>
          <p:cNvPr id="321" name="Google Shape;321;p13"/>
          <p:cNvSpPr/>
          <p:nvPr/>
        </p:nvSpPr>
        <p:spPr>
          <a:xfrm>
            <a:off x="1261872" y="2807208"/>
            <a:ext cx="318211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Texas powerhouse. Multiple world appearances and regional titles. Known for highly polished, reliable robots.</a:t>
            </a:r>
            <a:endParaRPr b="0" i="0" sz="1000" u="none" cap="none" strike="noStrike">
              <a:solidFill>
                <a:schemeClr val="dk1"/>
              </a:solidFill>
              <a:latin typeface="Calibri"/>
              <a:ea typeface="Calibri"/>
              <a:cs typeface="Calibri"/>
              <a:sym typeface="Calibri"/>
            </a:endParaRPr>
          </a:p>
        </p:txBody>
      </p:sp>
      <p:sp>
        <p:nvSpPr>
          <p:cNvPr id="322" name="Google Shape;322;p13"/>
          <p:cNvSpPr/>
          <p:nvPr/>
        </p:nvSpPr>
        <p:spPr>
          <a:xfrm>
            <a:off x="4709160" y="2203704"/>
            <a:ext cx="4251960" cy="1316736"/>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3"/>
          <p:cNvSpPr/>
          <p:nvPr/>
        </p:nvSpPr>
        <p:spPr>
          <a:xfrm>
            <a:off x="4709160" y="2203704"/>
            <a:ext cx="914400" cy="1316736"/>
          </a:xfrm>
          <a:prstGeom prst="rect">
            <a:avLst/>
          </a:prstGeom>
          <a:solidFill>
            <a:srgbClr val="4A2080"/>
          </a:solidFill>
          <a:ln cap="flat" cmpd="sng" w="12700">
            <a:solidFill>
              <a:srgbClr val="4A2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3"/>
          <p:cNvSpPr/>
          <p:nvPr/>
        </p:nvSpPr>
        <p:spPr>
          <a:xfrm>
            <a:off x="4709160" y="2203704"/>
            <a:ext cx="9144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1323</a:t>
            </a:r>
            <a:endParaRPr b="0" i="0" sz="2200" u="none" cap="none" strike="noStrike">
              <a:solidFill>
                <a:schemeClr val="dk1"/>
              </a:solidFill>
              <a:latin typeface="Calibri"/>
              <a:ea typeface="Calibri"/>
              <a:cs typeface="Calibri"/>
              <a:sym typeface="Calibri"/>
            </a:endParaRPr>
          </a:p>
        </p:txBody>
      </p:sp>
      <p:sp>
        <p:nvSpPr>
          <p:cNvPr id="325" name="Google Shape;325;p13"/>
          <p:cNvSpPr/>
          <p:nvPr/>
        </p:nvSpPr>
        <p:spPr>
          <a:xfrm>
            <a:off x="4709160" y="2862072"/>
            <a:ext cx="9144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000"/>
              <a:buFont typeface="Calibri"/>
              <a:buNone/>
            </a:pPr>
            <a:r>
              <a:rPr b="0" i="0" lang="en-US" sz="1000" u="none" cap="none" strike="noStrike">
                <a:solidFill>
                  <a:srgbClr val="D8E4F0"/>
                </a:solidFill>
                <a:latin typeface="Calibri"/>
                <a:ea typeface="Calibri"/>
                <a:cs typeface="Calibri"/>
                <a:sym typeface="Calibri"/>
              </a:rPr>
              <a:t>MadTown Robotics</a:t>
            </a:r>
            <a:endParaRPr b="0" i="0" sz="1000" u="none" cap="none" strike="noStrike">
              <a:solidFill>
                <a:schemeClr val="dk1"/>
              </a:solidFill>
              <a:latin typeface="Calibri"/>
              <a:ea typeface="Calibri"/>
              <a:cs typeface="Calibri"/>
              <a:sym typeface="Calibri"/>
            </a:endParaRPr>
          </a:p>
        </p:txBody>
      </p:sp>
      <p:sp>
        <p:nvSpPr>
          <p:cNvPr id="326" name="Google Shape;326;p13"/>
          <p:cNvSpPr/>
          <p:nvPr/>
        </p:nvSpPr>
        <p:spPr>
          <a:xfrm>
            <a:off x="5696712" y="2258568"/>
            <a:ext cx="3182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MadTown Robotics</a:t>
            </a:r>
            <a:endParaRPr b="0" i="0" sz="1300" u="none" cap="none" strike="noStrike">
              <a:solidFill>
                <a:schemeClr val="dk1"/>
              </a:solidFill>
              <a:latin typeface="Calibri"/>
              <a:ea typeface="Calibri"/>
              <a:cs typeface="Calibri"/>
              <a:sym typeface="Calibri"/>
            </a:endParaRPr>
          </a:p>
        </p:txBody>
      </p:sp>
      <p:sp>
        <p:nvSpPr>
          <p:cNvPr id="327" name="Google Shape;327;p13"/>
          <p:cNvSpPr/>
          <p:nvPr/>
        </p:nvSpPr>
        <p:spPr>
          <a:xfrm>
            <a:off x="5696712" y="2551176"/>
            <a:ext cx="31821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Madera, CA</a:t>
            </a:r>
            <a:endParaRPr b="0" i="0" sz="1000" u="none" cap="none" strike="noStrike">
              <a:solidFill>
                <a:schemeClr val="dk1"/>
              </a:solidFill>
              <a:latin typeface="Calibri"/>
              <a:ea typeface="Calibri"/>
              <a:cs typeface="Calibri"/>
              <a:sym typeface="Calibri"/>
            </a:endParaRPr>
          </a:p>
        </p:txBody>
      </p:sp>
      <p:sp>
        <p:nvSpPr>
          <p:cNvPr id="328" name="Google Shape;328;p13"/>
          <p:cNvSpPr/>
          <p:nvPr/>
        </p:nvSpPr>
        <p:spPr>
          <a:xfrm>
            <a:off x="5696712" y="2807208"/>
            <a:ext cx="318211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Multiple Einstein appearances. 2019 &amp; 2025 Newton Division champions. Closely partnered with 2910 at both World Championships they've won. Known for clean, efficient design.</a:t>
            </a:r>
            <a:endParaRPr b="0" i="0" sz="1000" u="none" cap="none" strike="noStrike">
              <a:solidFill>
                <a:schemeClr val="dk1"/>
              </a:solidFill>
              <a:latin typeface="Calibri"/>
              <a:ea typeface="Calibri"/>
              <a:cs typeface="Calibri"/>
              <a:sym typeface="Calibri"/>
            </a:endParaRPr>
          </a:p>
        </p:txBody>
      </p:sp>
      <p:sp>
        <p:nvSpPr>
          <p:cNvPr id="329" name="Google Shape;329;p13"/>
          <p:cNvSpPr/>
          <p:nvPr/>
        </p:nvSpPr>
        <p:spPr>
          <a:xfrm>
            <a:off x="274320" y="3630168"/>
            <a:ext cx="4251960" cy="1316736"/>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3"/>
          <p:cNvSpPr/>
          <p:nvPr/>
        </p:nvSpPr>
        <p:spPr>
          <a:xfrm>
            <a:off x="274320" y="3630168"/>
            <a:ext cx="914400" cy="1316736"/>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3"/>
          <p:cNvSpPr/>
          <p:nvPr/>
        </p:nvSpPr>
        <p:spPr>
          <a:xfrm>
            <a:off x="274320" y="3630168"/>
            <a:ext cx="9144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1690</a:t>
            </a:r>
            <a:endParaRPr b="0" i="0" sz="2200" u="none" cap="none" strike="noStrike">
              <a:solidFill>
                <a:schemeClr val="dk1"/>
              </a:solidFill>
              <a:latin typeface="Calibri"/>
              <a:ea typeface="Calibri"/>
              <a:cs typeface="Calibri"/>
              <a:sym typeface="Calibri"/>
            </a:endParaRPr>
          </a:p>
        </p:txBody>
      </p:sp>
      <p:sp>
        <p:nvSpPr>
          <p:cNvPr id="332" name="Google Shape;332;p13"/>
          <p:cNvSpPr/>
          <p:nvPr/>
        </p:nvSpPr>
        <p:spPr>
          <a:xfrm>
            <a:off x="274320" y="4288536"/>
            <a:ext cx="9144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000"/>
              <a:buFont typeface="Calibri"/>
              <a:buNone/>
            </a:pPr>
            <a:r>
              <a:rPr b="0" i="0" lang="en-US" sz="1000" u="none" cap="none" strike="noStrike">
                <a:solidFill>
                  <a:srgbClr val="D8E4F0"/>
                </a:solidFill>
                <a:latin typeface="Calibri"/>
                <a:ea typeface="Calibri"/>
                <a:cs typeface="Calibri"/>
                <a:sym typeface="Calibri"/>
              </a:rPr>
              <a:t>Orbit</a:t>
            </a:r>
            <a:endParaRPr b="0" i="0" sz="1000" u="none" cap="none" strike="noStrike">
              <a:solidFill>
                <a:schemeClr val="dk1"/>
              </a:solidFill>
              <a:latin typeface="Calibri"/>
              <a:ea typeface="Calibri"/>
              <a:cs typeface="Calibri"/>
              <a:sym typeface="Calibri"/>
            </a:endParaRPr>
          </a:p>
        </p:txBody>
      </p:sp>
      <p:sp>
        <p:nvSpPr>
          <p:cNvPr id="333" name="Google Shape;333;p13"/>
          <p:cNvSpPr/>
          <p:nvPr/>
        </p:nvSpPr>
        <p:spPr>
          <a:xfrm>
            <a:off x="1261872" y="3685032"/>
            <a:ext cx="3182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Orbit</a:t>
            </a:r>
            <a:endParaRPr b="0" i="0" sz="1300" u="none" cap="none" strike="noStrike">
              <a:solidFill>
                <a:schemeClr val="dk1"/>
              </a:solidFill>
              <a:latin typeface="Calibri"/>
              <a:ea typeface="Calibri"/>
              <a:cs typeface="Calibri"/>
              <a:sym typeface="Calibri"/>
            </a:endParaRPr>
          </a:p>
        </p:txBody>
      </p:sp>
      <p:sp>
        <p:nvSpPr>
          <p:cNvPr id="334" name="Google Shape;334;p13"/>
          <p:cNvSpPr/>
          <p:nvPr/>
        </p:nvSpPr>
        <p:spPr>
          <a:xfrm>
            <a:off x="1261872" y="3977640"/>
            <a:ext cx="31821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Kfar Saba 🇮🇱</a:t>
            </a:r>
            <a:endParaRPr b="0" i="0" sz="1000" u="none" cap="none" strike="noStrike">
              <a:solidFill>
                <a:schemeClr val="dk1"/>
              </a:solidFill>
              <a:latin typeface="Calibri"/>
              <a:ea typeface="Calibri"/>
              <a:cs typeface="Calibri"/>
              <a:sym typeface="Calibri"/>
            </a:endParaRPr>
          </a:p>
        </p:txBody>
      </p:sp>
      <p:sp>
        <p:nvSpPr>
          <p:cNvPr id="335" name="Google Shape;335;p13"/>
          <p:cNvSpPr/>
          <p:nvPr/>
        </p:nvSpPr>
        <p:spPr>
          <a:xfrm>
            <a:off x="1261872" y="4233672"/>
            <a:ext cx="318211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2024 World Champions. The best team to ever emerge from Israel. Dominated the 2024 Crescendo season with near-perfect autonomous routines.</a:t>
            </a:r>
            <a:endParaRPr b="0" i="0" sz="1000" u="none" cap="none" strike="noStrike">
              <a:solidFill>
                <a:schemeClr val="dk1"/>
              </a:solidFill>
              <a:latin typeface="Calibri"/>
              <a:ea typeface="Calibri"/>
              <a:cs typeface="Calibri"/>
              <a:sym typeface="Calibri"/>
            </a:endParaRPr>
          </a:p>
        </p:txBody>
      </p:sp>
      <p:sp>
        <p:nvSpPr>
          <p:cNvPr id="336" name="Google Shape;336;p13"/>
          <p:cNvSpPr/>
          <p:nvPr/>
        </p:nvSpPr>
        <p:spPr>
          <a:xfrm>
            <a:off x="4709160" y="3630168"/>
            <a:ext cx="4251960" cy="1316736"/>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4709160" y="3630168"/>
            <a:ext cx="914400" cy="1316736"/>
          </a:xfrm>
          <a:prstGeom prst="rect">
            <a:avLst/>
          </a:prstGeom>
          <a:solidFill>
            <a:srgbClr val="1E5C2E"/>
          </a:solidFill>
          <a:ln cap="flat" cmpd="sng" w="12700">
            <a:solidFill>
              <a:srgbClr val="1E5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3"/>
          <p:cNvSpPr/>
          <p:nvPr/>
        </p:nvSpPr>
        <p:spPr>
          <a:xfrm>
            <a:off x="4709160" y="3630168"/>
            <a:ext cx="9144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2910</a:t>
            </a:r>
            <a:endParaRPr b="0" i="0" sz="2200" u="none" cap="none" strike="noStrike">
              <a:solidFill>
                <a:schemeClr val="dk1"/>
              </a:solidFill>
              <a:latin typeface="Calibri"/>
              <a:ea typeface="Calibri"/>
              <a:cs typeface="Calibri"/>
              <a:sym typeface="Calibri"/>
            </a:endParaRPr>
          </a:p>
        </p:txBody>
      </p:sp>
      <p:sp>
        <p:nvSpPr>
          <p:cNvPr id="339" name="Google Shape;339;p13"/>
          <p:cNvSpPr/>
          <p:nvPr/>
        </p:nvSpPr>
        <p:spPr>
          <a:xfrm>
            <a:off x="4709160" y="4288536"/>
            <a:ext cx="9144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000"/>
              <a:buFont typeface="Calibri"/>
              <a:buNone/>
            </a:pPr>
            <a:r>
              <a:rPr b="0" i="0" lang="en-US" sz="1000" u="none" cap="none" strike="noStrike">
                <a:solidFill>
                  <a:srgbClr val="D8E4F0"/>
                </a:solidFill>
                <a:latin typeface="Calibri"/>
                <a:ea typeface="Calibri"/>
                <a:cs typeface="Calibri"/>
                <a:sym typeface="Calibri"/>
              </a:rPr>
              <a:t>Jack in the Bot</a:t>
            </a:r>
            <a:endParaRPr b="0" i="0" sz="1000" u="none" cap="none" strike="noStrike">
              <a:solidFill>
                <a:schemeClr val="dk1"/>
              </a:solidFill>
              <a:latin typeface="Calibri"/>
              <a:ea typeface="Calibri"/>
              <a:cs typeface="Calibri"/>
              <a:sym typeface="Calibri"/>
            </a:endParaRPr>
          </a:p>
        </p:txBody>
      </p:sp>
      <p:sp>
        <p:nvSpPr>
          <p:cNvPr id="340" name="Google Shape;340;p13"/>
          <p:cNvSpPr/>
          <p:nvPr/>
        </p:nvSpPr>
        <p:spPr>
          <a:xfrm>
            <a:off x="5696712" y="3685032"/>
            <a:ext cx="318211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Jack in the Bot</a:t>
            </a:r>
            <a:endParaRPr b="0" i="0" sz="1300" u="none" cap="none" strike="noStrike">
              <a:solidFill>
                <a:schemeClr val="dk1"/>
              </a:solidFill>
              <a:latin typeface="Calibri"/>
              <a:ea typeface="Calibri"/>
              <a:cs typeface="Calibri"/>
              <a:sym typeface="Calibri"/>
            </a:endParaRPr>
          </a:p>
        </p:txBody>
      </p:sp>
      <p:sp>
        <p:nvSpPr>
          <p:cNvPr id="341" name="Google Shape;341;p13"/>
          <p:cNvSpPr/>
          <p:nvPr/>
        </p:nvSpPr>
        <p:spPr>
          <a:xfrm>
            <a:off x="5696712" y="3977640"/>
            <a:ext cx="318211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Kirkland, WA</a:t>
            </a:r>
            <a:endParaRPr b="0" i="0" sz="1000" u="none" cap="none" strike="noStrike">
              <a:solidFill>
                <a:schemeClr val="dk1"/>
              </a:solidFill>
              <a:latin typeface="Calibri"/>
              <a:ea typeface="Calibri"/>
              <a:cs typeface="Calibri"/>
              <a:sym typeface="Calibri"/>
            </a:endParaRPr>
          </a:p>
        </p:txBody>
      </p:sp>
      <p:sp>
        <p:nvSpPr>
          <p:cNvPr id="342" name="Google Shape;342;p13"/>
          <p:cNvSpPr/>
          <p:nvPr/>
        </p:nvSpPr>
        <p:spPr>
          <a:xfrm>
            <a:off x="5696712" y="4233672"/>
            <a:ext cx="3182112"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2019 &amp; 2025 World Champions. Known for extremely clean, elegant robots. Spectre (2025) featured dual-purpose coral/algae end-effector and MK4i→MK5 swerve upgrade mid-season.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347" name="Shape 347"/>
        <p:cNvGrpSpPr/>
        <p:nvPr/>
      </p:nvGrpSpPr>
      <p:grpSpPr>
        <a:xfrm>
          <a:off x="0" y="0"/>
          <a:ext cx="0" cy="0"/>
          <a:chOff x="0" y="0"/>
          <a:chExt cx="0" cy="0"/>
        </a:xfrm>
      </p:grpSpPr>
      <p:sp>
        <p:nvSpPr>
          <p:cNvPr id="348" name="Google Shape;348;g3e92e6f0be2_0_0"/>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g3e92e6f0be2_0_0"/>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More Notable Teams — Low-Number Legends</a:t>
            </a:r>
            <a:endParaRPr b="0" i="0" sz="2100" u="none" cap="none" strike="noStrike">
              <a:solidFill>
                <a:schemeClr val="dk1"/>
              </a:solidFill>
              <a:latin typeface="Calibri"/>
              <a:ea typeface="Calibri"/>
              <a:cs typeface="Calibri"/>
              <a:sym typeface="Calibri"/>
            </a:endParaRPr>
          </a:p>
        </p:txBody>
      </p:sp>
      <p:sp>
        <p:nvSpPr>
          <p:cNvPr id="350" name="Google Shape;350;g3e92e6f0be2_0_0"/>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3e92e6f0be2_0_0"/>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LEGENDARY TEAMS</a:t>
            </a:r>
            <a:endParaRPr b="0" i="0" sz="1100" u="none" cap="none" strike="noStrike">
              <a:solidFill>
                <a:schemeClr val="dk1"/>
              </a:solidFill>
              <a:latin typeface="Calibri"/>
              <a:ea typeface="Calibri"/>
              <a:cs typeface="Calibri"/>
              <a:sym typeface="Calibri"/>
            </a:endParaRPr>
          </a:p>
        </p:txBody>
      </p:sp>
      <p:sp>
        <p:nvSpPr>
          <p:cNvPr id="352" name="Google Shape;352;g3e92e6f0be2_0_0"/>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e92e6f0be2_0_0"/>
          <p:cNvSpPr/>
          <p:nvPr/>
        </p:nvSpPr>
        <p:spPr>
          <a:xfrm>
            <a:off x="274320" y="777240"/>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g3e92e6f0be2_0_0"/>
          <p:cNvSpPr/>
          <p:nvPr/>
        </p:nvSpPr>
        <p:spPr>
          <a:xfrm>
            <a:off x="274320" y="777240"/>
            <a:ext cx="914400" cy="12984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g3e92e6f0be2_0_0"/>
          <p:cNvSpPr/>
          <p:nvPr/>
        </p:nvSpPr>
        <p:spPr>
          <a:xfrm>
            <a:off x="274320" y="822960"/>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27</a:t>
            </a:r>
            <a:endParaRPr b="0" i="0" sz="2400" u="none" cap="none" strike="noStrike">
              <a:solidFill>
                <a:schemeClr val="dk1"/>
              </a:solidFill>
              <a:latin typeface="Calibri"/>
              <a:ea typeface="Calibri"/>
              <a:cs typeface="Calibri"/>
              <a:sym typeface="Calibri"/>
            </a:endParaRPr>
          </a:p>
        </p:txBody>
      </p:sp>
      <p:sp>
        <p:nvSpPr>
          <p:cNvPr id="356" name="Google Shape;356;g3e92e6f0be2_0_0"/>
          <p:cNvSpPr/>
          <p:nvPr/>
        </p:nvSpPr>
        <p:spPr>
          <a:xfrm>
            <a:off x="274320" y="1417320"/>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Rush</a:t>
            </a:r>
            <a:endParaRPr b="0" i="0" sz="900" u="none" cap="none" strike="noStrike">
              <a:solidFill>
                <a:schemeClr val="dk1"/>
              </a:solidFill>
              <a:latin typeface="Calibri"/>
              <a:ea typeface="Calibri"/>
              <a:cs typeface="Calibri"/>
              <a:sym typeface="Calibri"/>
            </a:endParaRPr>
          </a:p>
        </p:txBody>
      </p:sp>
      <p:sp>
        <p:nvSpPr>
          <p:cNvPr id="357" name="Google Shape;357;g3e92e6f0be2_0_0"/>
          <p:cNvSpPr/>
          <p:nvPr/>
        </p:nvSpPr>
        <p:spPr>
          <a:xfrm>
            <a:off x="1261872" y="832104"/>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Rush</a:t>
            </a:r>
            <a:endParaRPr b="0" i="0" sz="1300" u="none" cap="none" strike="noStrike">
              <a:solidFill>
                <a:schemeClr val="dk1"/>
              </a:solidFill>
              <a:latin typeface="Calibri"/>
              <a:ea typeface="Calibri"/>
              <a:cs typeface="Calibri"/>
              <a:sym typeface="Calibri"/>
            </a:endParaRPr>
          </a:p>
        </p:txBody>
      </p:sp>
      <p:sp>
        <p:nvSpPr>
          <p:cNvPr id="358" name="Google Shape;358;g3e92e6f0be2_0_0"/>
          <p:cNvSpPr/>
          <p:nvPr/>
        </p:nvSpPr>
        <p:spPr>
          <a:xfrm>
            <a:off x="1261872" y="1124712"/>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Clarkston, MI</a:t>
            </a:r>
            <a:endParaRPr b="0" i="0" sz="1000" u="none" cap="none" strike="noStrike">
              <a:solidFill>
                <a:schemeClr val="dk1"/>
              </a:solidFill>
              <a:latin typeface="Calibri"/>
              <a:ea typeface="Calibri"/>
              <a:cs typeface="Calibri"/>
              <a:sym typeface="Calibri"/>
            </a:endParaRPr>
          </a:p>
        </p:txBody>
      </p:sp>
      <p:sp>
        <p:nvSpPr>
          <p:cNvPr id="359" name="Google Shape;359;g3e92e6f0be2_0_0"/>
          <p:cNvSpPr/>
          <p:nvPr/>
        </p:nvSpPr>
        <p:spPr>
          <a:xfrm>
            <a:off x="1261872" y="1380744"/>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Michigan legend. Won the Chairman's (Impact) Award 4 consecutive years before Hall of Fame induction in 2014. Won the Michigan State Championship in 2024. Model team for community outreach programs.</a:t>
            </a:r>
            <a:endParaRPr b="0" i="0" sz="1000" u="none" cap="none" strike="noStrike">
              <a:solidFill>
                <a:schemeClr val="dk1"/>
              </a:solidFill>
              <a:latin typeface="Calibri"/>
              <a:ea typeface="Calibri"/>
              <a:cs typeface="Calibri"/>
              <a:sym typeface="Calibri"/>
            </a:endParaRPr>
          </a:p>
        </p:txBody>
      </p:sp>
      <p:sp>
        <p:nvSpPr>
          <p:cNvPr id="360" name="Google Shape;360;g3e92e6f0be2_0_0"/>
          <p:cNvSpPr/>
          <p:nvPr/>
        </p:nvSpPr>
        <p:spPr>
          <a:xfrm>
            <a:off x="4709160" y="777240"/>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g3e92e6f0be2_0_0"/>
          <p:cNvSpPr/>
          <p:nvPr/>
        </p:nvSpPr>
        <p:spPr>
          <a:xfrm>
            <a:off x="4709160" y="777240"/>
            <a:ext cx="914400" cy="1298400"/>
          </a:xfrm>
          <a:prstGeom prst="rect">
            <a:avLst/>
          </a:prstGeom>
          <a:solidFill>
            <a:srgbClr val="8B2020"/>
          </a:solidFill>
          <a:ln cap="flat" cmpd="sng" w="12700">
            <a:solidFill>
              <a:srgbClr val="8B2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g3e92e6f0be2_0_0"/>
          <p:cNvSpPr/>
          <p:nvPr/>
        </p:nvSpPr>
        <p:spPr>
          <a:xfrm>
            <a:off x="4709160" y="822960"/>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67</a:t>
            </a:r>
            <a:endParaRPr b="0" i="0" sz="2400" u="none" cap="none" strike="noStrike">
              <a:solidFill>
                <a:schemeClr val="dk1"/>
              </a:solidFill>
              <a:latin typeface="Calibri"/>
              <a:ea typeface="Calibri"/>
              <a:cs typeface="Calibri"/>
              <a:sym typeface="Calibri"/>
            </a:endParaRPr>
          </a:p>
        </p:txBody>
      </p:sp>
      <p:sp>
        <p:nvSpPr>
          <p:cNvPr id="363" name="Google Shape;363;g3e92e6f0be2_0_0"/>
          <p:cNvSpPr/>
          <p:nvPr/>
        </p:nvSpPr>
        <p:spPr>
          <a:xfrm>
            <a:off x="4709160" y="1417320"/>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The HOT Team</a:t>
            </a:r>
            <a:endParaRPr b="0" i="0" sz="900" u="none" cap="none" strike="noStrike">
              <a:solidFill>
                <a:schemeClr val="dk1"/>
              </a:solidFill>
              <a:latin typeface="Calibri"/>
              <a:ea typeface="Calibri"/>
              <a:cs typeface="Calibri"/>
              <a:sym typeface="Calibri"/>
            </a:endParaRPr>
          </a:p>
        </p:txBody>
      </p:sp>
      <p:sp>
        <p:nvSpPr>
          <p:cNvPr id="364" name="Google Shape;364;g3e92e6f0be2_0_0"/>
          <p:cNvSpPr/>
          <p:nvPr/>
        </p:nvSpPr>
        <p:spPr>
          <a:xfrm>
            <a:off x="5696712" y="832104"/>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The HOT Team</a:t>
            </a:r>
            <a:endParaRPr b="0" i="0" sz="1300" u="none" cap="none" strike="noStrike">
              <a:solidFill>
                <a:schemeClr val="dk1"/>
              </a:solidFill>
              <a:latin typeface="Calibri"/>
              <a:ea typeface="Calibri"/>
              <a:cs typeface="Calibri"/>
              <a:sym typeface="Calibri"/>
            </a:endParaRPr>
          </a:p>
        </p:txBody>
      </p:sp>
      <p:sp>
        <p:nvSpPr>
          <p:cNvPr id="365" name="Google Shape;365;g3e92e6f0be2_0_0"/>
          <p:cNvSpPr/>
          <p:nvPr/>
        </p:nvSpPr>
        <p:spPr>
          <a:xfrm>
            <a:off x="5696712" y="1124712"/>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Highland, MI</a:t>
            </a:r>
            <a:endParaRPr b="0" i="0" sz="1000" u="none" cap="none" strike="noStrike">
              <a:solidFill>
                <a:schemeClr val="dk1"/>
              </a:solidFill>
              <a:latin typeface="Calibri"/>
              <a:ea typeface="Calibri"/>
              <a:cs typeface="Calibri"/>
              <a:sym typeface="Calibri"/>
            </a:endParaRPr>
          </a:p>
        </p:txBody>
      </p:sp>
      <p:sp>
        <p:nvSpPr>
          <p:cNvPr id="366" name="Google Shape;366;g3e92e6f0be2_0_0"/>
          <p:cNvSpPr/>
          <p:nvPr/>
        </p:nvSpPr>
        <p:spPr>
          <a:xfrm>
            <a:off x="5696712" y="1380744"/>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Heroes of Tomorrow. Sponsored by General Motors. Hall of Fame via Chairman's Award 2005. One of FRC's oldest and most respected programs. Strong mentor network from GM engineering staff.</a:t>
            </a:r>
            <a:endParaRPr b="0" i="0" sz="1000" u="none" cap="none" strike="noStrike">
              <a:solidFill>
                <a:schemeClr val="dk1"/>
              </a:solidFill>
              <a:latin typeface="Calibri"/>
              <a:ea typeface="Calibri"/>
              <a:cs typeface="Calibri"/>
              <a:sym typeface="Calibri"/>
            </a:endParaRPr>
          </a:p>
        </p:txBody>
      </p:sp>
      <p:sp>
        <p:nvSpPr>
          <p:cNvPr id="367" name="Google Shape;367;g3e92e6f0be2_0_0"/>
          <p:cNvSpPr/>
          <p:nvPr/>
        </p:nvSpPr>
        <p:spPr>
          <a:xfrm>
            <a:off x="274320" y="2185416"/>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g3e92e6f0be2_0_0"/>
          <p:cNvSpPr/>
          <p:nvPr/>
        </p:nvSpPr>
        <p:spPr>
          <a:xfrm>
            <a:off x="274320" y="2185416"/>
            <a:ext cx="914400" cy="12984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3e92e6f0be2_0_0"/>
          <p:cNvSpPr/>
          <p:nvPr/>
        </p:nvSpPr>
        <p:spPr>
          <a:xfrm>
            <a:off x="274320" y="2231136"/>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111</a:t>
            </a:r>
            <a:endParaRPr b="0" i="0" sz="2400" u="none" cap="none" strike="noStrike">
              <a:solidFill>
                <a:schemeClr val="dk1"/>
              </a:solidFill>
              <a:latin typeface="Calibri"/>
              <a:ea typeface="Calibri"/>
              <a:cs typeface="Calibri"/>
              <a:sym typeface="Calibri"/>
            </a:endParaRPr>
          </a:p>
        </p:txBody>
      </p:sp>
      <p:sp>
        <p:nvSpPr>
          <p:cNvPr id="370" name="Google Shape;370;g3e92e6f0be2_0_0"/>
          <p:cNvSpPr/>
          <p:nvPr/>
        </p:nvSpPr>
        <p:spPr>
          <a:xfrm>
            <a:off x="274320" y="2825496"/>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WildStang</a:t>
            </a:r>
            <a:endParaRPr b="0" i="0" sz="900" u="none" cap="none" strike="noStrike">
              <a:solidFill>
                <a:schemeClr val="dk1"/>
              </a:solidFill>
              <a:latin typeface="Calibri"/>
              <a:ea typeface="Calibri"/>
              <a:cs typeface="Calibri"/>
              <a:sym typeface="Calibri"/>
            </a:endParaRPr>
          </a:p>
        </p:txBody>
      </p:sp>
      <p:sp>
        <p:nvSpPr>
          <p:cNvPr id="371" name="Google Shape;371;g3e92e6f0be2_0_0"/>
          <p:cNvSpPr/>
          <p:nvPr/>
        </p:nvSpPr>
        <p:spPr>
          <a:xfrm>
            <a:off x="1261872" y="2240280"/>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WildStang</a:t>
            </a:r>
            <a:endParaRPr b="0" i="0" sz="1300" u="none" cap="none" strike="noStrike">
              <a:solidFill>
                <a:schemeClr val="dk1"/>
              </a:solidFill>
              <a:latin typeface="Calibri"/>
              <a:ea typeface="Calibri"/>
              <a:cs typeface="Calibri"/>
              <a:sym typeface="Calibri"/>
            </a:endParaRPr>
          </a:p>
        </p:txBody>
      </p:sp>
      <p:sp>
        <p:nvSpPr>
          <p:cNvPr id="372" name="Google Shape;372;g3e92e6f0be2_0_0"/>
          <p:cNvSpPr/>
          <p:nvPr/>
        </p:nvSpPr>
        <p:spPr>
          <a:xfrm>
            <a:off x="1261872" y="2532888"/>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Arlington Hts., IL</a:t>
            </a:r>
            <a:endParaRPr b="0" i="0" sz="1000" u="none" cap="none" strike="noStrike">
              <a:solidFill>
                <a:schemeClr val="dk1"/>
              </a:solidFill>
              <a:latin typeface="Calibri"/>
              <a:ea typeface="Calibri"/>
              <a:cs typeface="Calibri"/>
              <a:sym typeface="Calibri"/>
            </a:endParaRPr>
          </a:p>
        </p:txBody>
      </p:sp>
      <p:sp>
        <p:nvSpPr>
          <p:cNvPr id="373" name="Google Shape;373;g3e92e6f0be2_0_0"/>
          <p:cNvSpPr/>
          <p:nvPr/>
        </p:nvSpPr>
        <p:spPr>
          <a:xfrm>
            <a:off x="1261872" y="2788920"/>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Motorola-sponsored powerhouse. Chairman's Award 2006. Founded 1996. One of FRC's most recognized programs for off-field impact, STEM outreach, and student-led mentorship of other teams.</a:t>
            </a:r>
            <a:endParaRPr b="0" i="0" sz="1000" u="none" cap="none" strike="noStrike">
              <a:solidFill>
                <a:schemeClr val="dk1"/>
              </a:solidFill>
              <a:latin typeface="Calibri"/>
              <a:ea typeface="Calibri"/>
              <a:cs typeface="Calibri"/>
              <a:sym typeface="Calibri"/>
            </a:endParaRPr>
          </a:p>
        </p:txBody>
      </p:sp>
      <p:sp>
        <p:nvSpPr>
          <p:cNvPr id="374" name="Google Shape;374;g3e92e6f0be2_0_0"/>
          <p:cNvSpPr/>
          <p:nvPr/>
        </p:nvSpPr>
        <p:spPr>
          <a:xfrm>
            <a:off x="4709160" y="2185416"/>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3e92e6f0be2_0_0"/>
          <p:cNvSpPr/>
          <p:nvPr/>
        </p:nvSpPr>
        <p:spPr>
          <a:xfrm>
            <a:off x="4709160" y="2185416"/>
            <a:ext cx="914400" cy="12984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3e92e6f0be2_0_0"/>
          <p:cNvSpPr/>
          <p:nvPr/>
        </p:nvSpPr>
        <p:spPr>
          <a:xfrm>
            <a:off x="4709160" y="2231136"/>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118</a:t>
            </a:r>
            <a:endParaRPr b="0" i="0" sz="2400" u="none" cap="none" strike="noStrike">
              <a:solidFill>
                <a:schemeClr val="dk1"/>
              </a:solidFill>
              <a:latin typeface="Calibri"/>
              <a:ea typeface="Calibri"/>
              <a:cs typeface="Calibri"/>
              <a:sym typeface="Calibri"/>
            </a:endParaRPr>
          </a:p>
        </p:txBody>
      </p:sp>
      <p:sp>
        <p:nvSpPr>
          <p:cNvPr id="377" name="Google Shape;377;g3e92e6f0be2_0_0"/>
          <p:cNvSpPr/>
          <p:nvPr/>
        </p:nvSpPr>
        <p:spPr>
          <a:xfrm>
            <a:off x="4709160" y="2825496"/>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Robonauts</a:t>
            </a:r>
            <a:endParaRPr b="0" i="0" sz="900" u="none" cap="none" strike="noStrike">
              <a:solidFill>
                <a:schemeClr val="dk1"/>
              </a:solidFill>
              <a:latin typeface="Calibri"/>
              <a:ea typeface="Calibri"/>
              <a:cs typeface="Calibri"/>
              <a:sym typeface="Calibri"/>
            </a:endParaRPr>
          </a:p>
        </p:txBody>
      </p:sp>
      <p:sp>
        <p:nvSpPr>
          <p:cNvPr id="378" name="Google Shape;378;g3e92e6f0be2_0_0"/>
          <p:cNvSpPr/>
          <p:nvPr/>
        </p:nvSpPr>
        <p:spPr>
          <a:xfrm>
            <a:off x="5696712" y="2240280"/>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Robonauts</a:t>
            </a:r>
            <a:endParaRPr b="0" i="0" sz="1300" u="none" cap="none" strike="noStrike">
              <a:solidFill>
                <a:schemeClr val="dk1"/>
              </a:solidFill>
              <a:latin typeface="Calibri"/>
              <a:ea typeface="Calibri"/>
              <a:cs typeface="Calibri"/>
              <a:sym typeface="Calibri"/>
            </a:endParaRPr>
          </a:p>
        </p:txBody>
      </p:sp>
      <p:sp>
        <p:nvSpPr>
          <p:cNvPr id="379" name="Google Shape;379;g3e92e6f0be2_0_0"/>
          <p:cNvSpPr/>
          <p:nvPr/>
        </p:nvSpPr>
        <p:spPr>
          <a:xfrm>
            <a:off x="5696712" y="2532888"/>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Houston, TX 🚀</a:t>
            </a:r>
            <a:endParaRPr b="0" i="0" sz="1000" u="none" cap="none" strike="noStrike">
              <a:solidFill>
                <a:schemeClr val="dk1"/>
              </a:solidFill>
              <a:latin typeface="Calibri"/>
              <a:ea typeface="Calibri"/>
              <a:cs typeface="Calibri"/>
              <a:sym typeface="Calibri"/>
            </a:endParaRPr>
          </a:p>
        </p:txBody>
      </p:sp>
      <p:sp>
        <p:nvSpPr>
          <p:cNvPr id="380" name="Google Shape;380;g3e92e6f0be2_0_0"/>
          <p:cNvSpPr/>
          <p:nvPr/>
        </p:nvSpPr>
        <p:spPr>
          <a:xfrm>
            <a:off x="5696712" y="2788920"/>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Founded 1997 — NASA Johnson Space Center / Clear Creek ISD. 2015 World Champions. Annually publish the Everybot — a full reference robot design for low-resource teams. Most important community contribution in FRC.</a:t>
            </a:r>
            <a:endParaRPr b="0" i="0" sz="1000" u="none" cap="none" strike="noStrike">
              <a:solidFill>
                <a:schemeClr val="dk1"/>
              </a:solidFill>
              <a:latin typeface="Calibri"/>
              <a:ea typeface="Calibri"/>
              <a:cs typeface="Calibri"/>
              <a:sym typeface="Calibri"/>
            </a:endParaRPr>
          </a:p>
        </p:txBody>
      </p:sp>
      <p:sp>
        <p:nvSpPr>
          <p:cNvPr id="381" name="Google Shape;381;g3e92e6f0be2_0_0"/>
          <p:cNvSpPr/>
          <p:nvPr/>
        </p:nvSpPr>
        <p:spPr>
          <a:xfrm>
            <a:off x="274320" y="3593592"/>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e92e6f0be2_0_0"/>
          <p:cNvSpPr/>
          <p:nvPr/>
        </p:nvSpPr>
        <p:spPr>
          <a:xfrm>
            <a:off x="274320" y="3593592"/>
            <a:ext cx="914400" cy="1298400"/>
          </a:xfrm>
          <a:prstGeom prst="rect">
            <a:avLst/>
          </a:prstGeom>
          <a:solidFill>
            <a:srgbClr val="4A1E8B"/>
          </a:solidFill>
          <a:ln cap="flat" cmpd="sng" w="12700">
            <a:solidFill>
              <a:srgbClr val="4A1E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g3e92e6f0be2_0_0"/>
          <p:cNvSpPr/>
          <p:nvPr/>
        </p:nvSpPr>
        <p:spPr>
          <a:xfrm>
            <a:off x="274320" y="3639312"/>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971</a:t>
            </a:r>
            <a:endParaRPr b="0" i="0" sz="2400" u="none" cap="none" strike="noStrike">
              <a:solidFill>
                <a:schemeClr val="dk1"/>
              </a:solidFill>
              <a:latin typeface="Calibri"/>
              <a:ea typeface="Calibri"/>
              <a:cs typeface="Calibri"/>
              <a:sym typeface="Calibri"/>
            </a:endParaRPr>
          </a:p>
        </p:txBody>
      </p:sp>
      <p:sp>
        <p:nvSpPr>
          <p:cNvPr id="384" name="Google Shape;384;g3e92e6f0be2_0_0"/>
          <p:cNvSpPr/>
          <p:nvPr/>
        </p:nvSpPr>
        <p:spPr>
          <a:xfrm>
            <a:off x="274320" y="4233672"/>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Spartan Robotics</a:t>
            </a:r>
            <a:endParaRPr b="0" i="0" sz="900" u="none" cap="none" strike="noStrike">
              <a:solidFill>
                <a:schemeClr val="dk1"/>
              </a:solidFill>
              <a:latin typeface="Calibri"/>
              <a:ea typeface="Calibri"/>
              <a:cs typeface="Calibri"/>
              <a:sym typeface="Calibri"/>
            </a:endParaRPr>
          </a:p>
        </p:txBody>
      </p:sp>
      <p:sp>
        <p:nvSpPr>
          <p:cNvPr id="385" name="Google Shape;385;g3e92e6f0be2_0_0"/>
          <p:cNvSpPr/>
          <p:nvPr/>
        </p:nvSpPr>
        <p:spPr>
          <a:xfrm>
            <a:off x="1261872" y="3648456"/>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Spartan Robotics</a:t>
            </a:r>
            <a:endParaRPr b="0" i="0" sz="1300" u="none" cap="none" strike="noStrike">
              <a:solidFill>
                <a:schemeClr val="dk1"/>
              </a:solidFill>
              <a:latin typeface="Calibri"/>
              <a:ea typeface="Calibri"/>
              <a:cs typeface="Calibri"/>
              <a:sym typeface="Calibri"/>
            </a:endParaRPr>
          </a:p>
        </p:txBody>
      </p:sp>
      <p:sp>
        <p:nvSpPr>
          <p:cNvPr id="386" name="Google Shape;386;g3e92e6f0be2_0_0"/>
          <p:cNvSpPr/>
          <p:nvPr/>
        </p:nvSpPr>
        <p:spPr>
          <a:xfrm>
            <a:off x="1261872" y="3941064"/>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San Jose, CA</a:t>
            </a:r>
            <a:endParaRPr b="0" i="0" sz="1000" u="none" cap="none" strike="noStrike">
              <a:solidFill>
                <a:schemeClr val="dk1"/>
              </a:solidFill>
              <a:latin typeface="Calibri"/>
              <a:ea typeface="Calibri"/>
              <a:cs typeface="Calibri"/>
              <a:sym typeface="Calibri"/>
            </a:endParaRPr>
          </a:p>
        </p:txBody>
      </p:sp>
      <p:sp>
        <p:nvSpPr>
          <p:cNvPr id="387" name="Google Shape;387;g3e92e6f0be2_0_0"/>
          <p:cNvSpPr/>
          <p:nvPr/>
        </p:nvSpPr>
        <p:spPr>
          <a:xfrm>
            <a:off x="1261872" y="4197096"/>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Mentored by Google engineers. Consistently one of the most technically impressive West Coast teams. Known for exceptional build quality, CAD discipline, and annual workshops open to all teams. Full resource library online.</a:t>
            </a:r>
            <a:endParaRPr b="0" i="0" sz="1000" u="none" cap="none" strike="noStrike">
              <a:solidFill>
                <a:schemeClr val="dk1"/>
              </a:solidFill>
              <a:latin typeface="Calibri"/>
              <a:ea typeface="Calibri"/>
              <a:cs typeface="Calibri"/>
              <a:sym typeface="Calibri"/>
            </a:endParaRPr>
          </a:p>
        </p:txBody>
      </p:sp>
      <p:sp>
        <p:nvSpPr>
          <p:cNvPr id="388" name="Google Shape;388;g3e92e6f0be2_0_0"/>
          <p:cNvSpPr/>
          <p:nvPr/>
        </p:nvSpPr>
        <p:spPr>
          <a:xfrm>
            <a:off x="4709160" y="3593592"/>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3e92e6f0be2_0_0"/>
          <p:cNvSpPr/>
          <p:nvPr/>
        </p:nvSpPr>
        <p:spPr>
          <a:xfrm>
            <a:off x="4709160" y="3593592"/>
            <a:ext cx="914400" cy="1298400"/>
          </a:xfrm>
          <a:prstGeom prst="rect">
            <a:avLst/>
          </a:prstGeom>
          <a:solidFill>
            <a:srgbClr val="5C3A1E"/>
          </a:solidFill>
          <a:ln cap="flat" cmpd="sng" w="12700">
            <a:solidFill>
              <a:srgbClr val="5C3A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g3e92e6f0be2_0_0"/>
          <p:cNvSpPr/>
          <p:nvPr/>
        </p:nvSpPr>
        <p:spPr>
          <a:xfrm>
            <a:off x="4709160" y="3639312"/>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973</a:t>
            </a:r>
            <a:endParaRPr b="0" i="0" sz="2400" u="none" cap="none" strike="noStrike">
              <a:solidFill>
                <a:schemeClr val="dk1"/>
              </a:solidFill>
              <a:latin typeface="Calibri"/>
              <a:ea typeface="Calibri"/>
              <a:cs typeface="Calibri"/>
              <a:sym typeface="Calibri"/>
            </a:endParaRPr>
          </a:p>
        </p:txBody>
      </p:sp>
      <p:sp>
        <p:nvSpPr>
          <p:cNvPr id="391" name="Google Shape;391;g3e92e6f0be2_0_0"/>
          <p:cNvSpPr/>
          <p:nvPr/>
        </p:nvSpPr>
        <p:spPr>
          <a:xfrm>
            <a:off x="4709160" y="4233672"/>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Greybots</a:t>
            </a:r>
            <a:endParaRPr b="0" i="0" sz="900" u="none" cap="none" strike="noStrike">
              <a:solidFill>
                <a:schemeClr val="dk1"/>
              </a:solidFill>
              <a:latin typeface="Calibri"/>
              <a:ea typeface="Calibri"/>
              <a:cs typeface="Calibri"/>
              <a:sym typeface="Calibri"/>
            </a:endParaRPr>
          </a:p>
        </p:txBody>
      </p:sp>
      <p:sp>
        <p:nvSpPr>
          <p:cNvPr id="392" name="Google Shape;392;g3e92e6f0be2_0_0"/>
          <p:cNvSpPr/>
          <p:nvPr/>
        </p:nvSpPr>
        <p:spPr>
          <a:xfrm>
            <a:off x="5696712" y="3648456"/>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Greybots</a:t>
            </a:r>
            <a:endParaRPr b="0" i="0" sz="1300" u="none" cap="none" strike="noStrike">
              <a:solidFill>
                <a:schemeClr val="dk1"/>
              </a:solidFill>
              <a:latin typeface="Calibri"/>
              <a:ea typeface="Calibri"/>
              <a:cs typeface="Calibri"/>
              <a:sym typeface="Calibri"/>
            </a:endParaRPr>
          </a:p>
        </p:txBody>
      </p:sp>
      <p:sp>
        <p:nvSpPr>
          <p:cNvPr id="393" name="Google Shape;393;g3e92e6f0be2_0_0"/>
          <p:cNvSpPr/>
          <p:nvPr/>
        </p:nvSpPr>
        <p:spPr>
          <a:xfrm>
            <a:off x="5696712" y="3941064"/>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Atwater, CA</a:t>
            </a:r>
            <a:endParaRPr b="0" i="0" sz="1000" u="none" cap="none" strike="noStrike">
              <a:solidFill>
                <a:schemeClr val="dk1"/>
              </a:solidFill>
              <a:latin typeface="Calibri"/>
              <a:ea typeface="Calibri"/>
              <a:cs typeface="Calibri"/>
              <a:sym typeface="Calibri"/>
            </a:endParaRPr>
          </a:p>
        </p:txBody>
      </p:sp>
      <p:sp>
        <p:nvSpPr>
          <p:cNvPr id="394" name="Google Shape;394;g3e92e6f0be2_0_0"/>
          <p:cNvSpPr/>
          <p:nvPr/>
        </p:nvSpPr>
        <p:spPr>
          <a:xfrm>
            <a:off x="5696712" y="4197096"/>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RAMP (Remote Assistance and Mentoring Program) — one of the most active free mentorship programs in FRC. Help new and under-resourced teams remotely. Known for game strategy expertise and design simplicity.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399" name="Shape 399"/>
        <p:cNvGrpSpPr/>
        <p:nvPr/>
      </p:nvGrpSpPr>
      <p:grpSpPr>
        <a:xfrm>
          <a:off x="0" y="0"/>
          <a:ext cx="0" cy="0"/>
          <a:chOff x="0" y="0"/>
          <a:chExt cx="0" cy="0"/>
        </a:xfrm>
      </p:grpSpPr>
      <p:sp>
        <p:nvSpPr>
          <p:cNvPr id="400" name="Google Shape;400;g3e92e6f0be2_0_53"/>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g3e92e6f0be2_0_53"/>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More Notable Teams — Mid-Number Powerhouses</a:t>
            </a:r>
            <a:endParaRPr b="0" i="0" sz="2100" u="none" cap="none" strike="noStrike">
              <a:solidFill>
                <a:schemeClr val="dk1"/>
              </a:solidFill>
              <a:latin typeface="Calibri"/>
              <a:ea typeface="Calibri"/>
              <a:cs typeface="Calibri"/>
              <a:sym typeface="Calibri"/>
            </a:endParaRPr>
          </a:p>
        </p:txBody>
      </p:sp>
      <p:sp>
        <p:nvSpPr>
          <p:cNvPr id="402" name="Google Shape;402;g3e92e6f0be2_0_53"/>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3e92e6f0be2_0_53"/>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LEGENDARY TEAMS</a:t>
            </a:r>
            <a:endParaRPr b="0" i="0" sz="1100" u="none" cap="none" strike="noStrike">
              <a:solidFill>
                <a:schemeClr val="dk1"/>
              </a:solidFill>
              <a:latin typeface="Calibri"/>
              <a:ea typeface="Calibri"/>
              <a:cs typeface="Calibri"/>
              <a:sym typeface="Calibri"/>
            </a:endParaRPr>
          </a:p>
        </p:txBody>
      </p:sp>
      <p:sp>
        <p:nvSpPr>
          <p:cNvPr id="404" name="Google Shape;404;g3e92e6f0be2_0_53"/>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3e92e6f0be2_0_53"/>
          <p:cNvSpPr/>
          <p:nvPr/>
        </p:nvSpPr>
        <p:spPr>
          <a:xfrm>
            <a:off x="274320" y="777240"/>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g3e92e6f0be2_0_53"/>
          <p:cNvSpPr/>
          <p:nvPr/>
        </p:nvSpPr>
        <p:spPr>
          <a:xfrm>
            <a:off x="274320" y="777240"/>
            <a:ext cx="914400" cy="12984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e92e6f0be2_0_53"/>
          <p:cNvSpPr/>
          <p:nvPr/>
        </p:nvSpPr>
        <p:spPr>
          <a:xfrm>
            <a:off x="274320" y="822960"/>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125</a:t>
            </a:r>
            <a:endParaRPr b="0" i="0" sz="2200" u="none" cap="none" strike="noStrike">
              <a:solidFill>
                <a:schemeClr val="dk1"/>
              </a:solidFill>
              <a:latin typeface="Calibri"/>
              <a:ea typeface="Calibri"/>
              <a:cs typeface="Calibri"/>
              <a:sym typeface="Calibri"/>
            </a:endParaRPr>
          </a:p>
        </p:txBody>
      </p:sp>
      <p:sp>
        <p:nvSpPr>
          <p:cNvPr id="408" name="Google Shape;408;g3e92e6f0be2_0_53"/>
          <p:cNvSpPr/>
          <p:nvPr/>
        </p:nvSpPr>
        <p:spPr>
          <a:xfrm>
            <a:off x="274320" y="1417320"/>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NUTRONs</a:t>
            </a:r>
            <a:endParaRPr b="0" i="0" sz="900" u="none" cap="none" strike="noStrike">
              <a:solidFill>
                <a:schemeClr val="dk1"/>
              </a:solidFill>
              <a:latin typeface="Calibri"/>
              <a:ea typeface="Calibri"/>
              <a:cs typeface="Calibri"/>
              <a:sym typeface="Calibri"/>
            </a:endParaRPr>
          </a:p>
        </p:txBody>
      </p:sp>
      <p:sp>
        <p:nvSpPr>
          <p:cNvPr id="409" name="Google Shape;409;g3e92e6f0be2_0_53"/>
          <p:cNvSpPr/>
          <p:nvPr/>
        </p:nvSpPr>
        <p:spPr>
          <a:xfrm>
            <a:off x="1261872" y="832104"/>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NUTRONs</a:t>
            </a:r>
            <a:endParaRPr b="0" i="0" sz="1300" u="none" cap="none" strike="noStrike">
              <a:solidFill>
                <a:schemeClr val="dk1"/>
              </a:solidFill>
              <a:latin typeface="Calibri"/>
              <a:ea typeface="Calibri"/>
              <a:cs typeface="Calibri"/>
              <a:sym typeface="Calibri"/>
            </a:endParaRPr>
          </a:p>
        </p:txBody>
      </p:sp>
      <p:sp>
        <p:nvSpPr>
          <p:cNvPr id="410" name="Google Shape;410;g3e92e6f0be2_0_53"/>
          <p:cNvSpPr/>
          <p:nvPr/>
        </p:nvSpPr>
        <p:spPr>
          <a:xfrm>
            <a:off x="1261872" y="1124712"/>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Farmington, MI</a:t>
            </a:r>
            <a:endParaRPr b="0" i="0" sz="1000" u="none" cap="none" strike="noStrike">
              <a:solidFill>
                <a:schemeClr val="dk1"/>
              </a:solidFill>
              <a:latin typeface="Calibri"/>
              <a:ea typeface="Calibri"/>
              <a:cs typeface="Calibri"/>
              <a:sym typeface="Calibri"/>
            </a:endParaRPr>
          </a:p>
        </p:txBody>
      </p:sp>
      <p:sp>
        <p:nvSpPr>
          <p:cNvPr id="411" name="Google Shape;411;g3e92e6f0be2_0_53"/>
          <p:cNvSpPr/>
          <p:nvPr/>
        </p:nvSpPr>
        <p:spPr>
          <a:xfrm>
            <a:off x="1261872" y="1380744"/>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Consistently on Einstein and in elite alliance selections. 2023 Einstein finalist. NASA/Ford-backed. Known for exceptionally clean and elegant robot design with tight packaging and reliable mechanisms.</a:t>
            </a:r>
            <a:endParaRPr b="0" i="0" sz="1000" u="none" cap="none" strike="noStrike">
              <a:solidFill>
                <a:schemeClr val="dk1"/>
              </a:solidFill>
              <a:latin typeface="Calibri"/>
              <a:ea typeface="Calibri"/>
              <a:cs typeface="Calibri"/>
              <a:sym typeface="Calibri"/>
            </a:endParaRPr>
          </a:p>
        </p:txBody>
      </p:sp>
      <p:sp>
        <p:nvSpPr>
          <p:cNvPr id="412" name="Google Shape;412;g3e92e6f0be2_0_53"/>
          <p:cNvSpPr/>
          <p:nvPr/>
        </p:nvSpPr>
        <p:spPr>
          <a:xfrm>
            <a:off x="4709160" y="777240"/>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g3e92e6f0be2_0_53"/>
          <p:cNvSpPr/>
          <p:nvPr/>
        </p:nvSpPr>
        <p:spPr>
          <a:xfrm>
            <a:off x="4709160" y="777240"/>
            <a:ext cx="914400" cy="1298400"/>
          </a:xfrm>
          <a:prstGeom prst="rect">
            <a:avLst/>
          </a:prstGeom>
          <a:solidFill>
            <a:srgbClr val="8B2020"/>
          </a:solidFill>
          <a:ln cap="flat" cmpd="sng" w="12700">
            <a:solidFill>
              <a:srgbClr val="8B2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g3e92e6f0be2_0_53"/>
          <p:cNvSpPr/>
          <p:nvPr/>
        </p:nvSpPr>
        <p:spPr>
          <a:xfrm>
            <a:off x="4709160" y="822960"/>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148</a:t>
            </a:r>
            <a:endParaRPr b="0" i="0" sz="2200" u="none" cap="none" strike="noStrike">
              <a:solidFill>
                <a:schemeClr val="dk1"/>
              </a:solidFill>
              <a:latin typeface="Calibri"/>
              <a:ea typeface="Calibri"/>
              <a:cs typeface="Calibri"/>
              <a:sym typeface="Calibri"/>
            </a:endParaRPr>
          </a:p>
        </p:txBody>
      </p:sp>
      <p:sp>
        <p:nvSpPr>
          <p:cNvPr id="415" name="Google Shape;415;g3e92e6f0be2_0_53"/>
          <p:cNvSpPr/>
          <p:nvPr/>
        </p:nvSpPr>
        <p:spPr>
          <a:xfrm>
            <a:off x="4709160" y="1417320"/>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Robowranglers</a:t>
            </a:r>
            <a:endParaRPr b="0" i="0" sz="900" u="none" cap="none" strike="noStrike">
              <a:solidFill>
                <a:schemeClr val="dk1"/>
              </a:solidFill>
              <a:latin typeface="Calibri"/>
              <a:ea typeface="Calibri"/>
              <a:cs typeface="Calibri"/>
              <a:sym typeface="Calibri"/>
            </a:endParaRPr>
          </a:p>
        </p:txBody>
      </p:sp>
      <p:sp>
        <p:nvSpPr>
          <p:cNvPr id="416" name="Google Shape;416;g3e92e6f0be2_0_53"/>
          <p:cNvSpPr/>
          <p:nvPr/>
        </p:nvSpPr>
        <p:spPr>
          <a:xfrm>
            <a:off x="5696712" y="832104"/>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Robowranglers</a:t>
            </a:r>
            <a:endParaRPr b="0" i="0" sz="1300" u="none" cap="none" strike="noStrike">
              <a:solidFill>
                <a:schemeClr val="dk1"/>
              </a:solidFill>
              <a:latin typeface="Calibri"/>
              <a:ea typeface="Calibri"/>
              <a:cs typeface="Calibri"/>
              <a:sym typeface="Calibri"/>
            </a:endParaRPr>
          </a:p>
        </p:txBody>
      </p:sp>
      <p:sp>
        <p:nvSpPr>
          <p:cNvPr id="417" name="Google Shape;417;g3e92e6f0be2_0_53"/>
          <p:cNvSpPr/>
          <p:nvPr/>
        </p:nvSpPr>
        <p:spPr>
          <a:xfrm>
            <a:off x="5696712" y="1124712"/>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Greenville, TX</a:t>
            </a:r>
            <a:endParaRPr b="0" i="0" sz="1000" u="none" cap="none" strike="noStrike">
              <a:solidFill>
                <a:schemeClr val="dk1"/>
              </a:solidFill>
              <a:latin typeface="Calibri"/>
              <a:ea typeface="Calibri"/>
              <a:cs typeface="Calibri"/>
              <a:sym typeface="Calibri"/>
            </a:endParaRPr>
          </a:p>
        </p:txBody>
      </p:sp>
      <p:sp>
        <p:nvSpPr>
          <p:cNvPr id="418" name="Google Shape;418;g3e92e6f0be2_0_53"/>
          <p:cNvSpPr/>
          <p:nvPr/>
        </p:nvSpPr>
        <p:spPr>
          <a:xfrm>
            <a:off x="5696712" y="1380744"/>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Texas powerhouse. Multiple world appearances, extremely polished robots. Known for leveraging VEX Pro components in creative and competitive ways. Consistent pick-list staple.</a:t>
            </a:r>
            <a:endParaRPr b="0" i="0" sz="1000" u="none" cap="none" strike="noStrike">
              <a:solidFill>
                <a:schemeClr val="dk1"/>
              </a:solidFill>
              <a:latin typeface="Calibri"/>
              <a:ea typeface="Calibri"/>
              <a:cs typeface="Calibri"/>
              <a:sym typeface="Calibri"/>
            </a:endParaRPr>
          </a:p>
        </p:txBody>
      </p:sp>
      <p:sp>
        <p:nvSpPr>
          <p:cNvPr id="419" name="Google Shape;419;g3e92e6f0be2_0_53"/>
          <p:cNvSpPr/>
          <p:nvPr/>
        </p:nvSpPr>
        <p:spPr>
          <a:xfrm>
            <a:off x="274320" y="2185416"/>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g3e92e6f0be2_0_53"/>
          <p:cNvSpPr/>
          <p:nvPr/>
        </p:nvSpPr>
        <p:spPr>
          <a:xfrm>
            <a:off x="274320" y="2185416"/>
            <a:ext cx="914400" cy="12984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e92e6f0be2_0_53"/>
          <p:cNvSpPr/>
          <p:nvPr/>
        </p:nvSpPr>
        <p:spPr>
          <a:xfrm>
            <a:off x="274320" y="2231136"/>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364</a:t>
            </a:r>
            <a:endParaRPr b="0" i="0" sz="2200" u="none" cap="none" strike="noStrike">
              <a:solidFill>
                <a:schemeClr val="dk1"/>
              </a:solidFill>
              <a:latin typeface="Calibri"/>
              <a:ea typeface="Calibri"/>
              <a:cs typeface="Calibri"/>
              <a:sym typeface="Calibri"/>
            </a:endParaRPr>
          </a:p>
        </p:txBody>
      </p:sp>
      <p:sp>
        <p:nvSpPr>
          <p:cNvPr id="422" name="Google Shape;422;g3e92e6f0be2_0_53"/>
          <p:cNvSpPr/>
          <p:nvPr/>
        </p:nvSpPr>
        <p:spPr>
          <a:xfrm>
            <a:off x="274320" y="2825496"/>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Team 364</a:t>
            </a:r>
            <a:endParaRPr b="0" i="0" sz="900" u="none" cap="none" strike="noStrike">
              <a:solidFill>
                <a:schemeClr val="dk1"/>
              </a:solidFill>
              <a:latin typeface="Calibri"/>
              <a:ea typeface="Calibri"/>
              <a:cs typeface="Calibri"/>
              <a:sym typeface="Calibri"/>
            </a:endParaRPr>
          </a:p>
        </p:txBody>
      </p:sp>
      <p:sp>
        <p:nvSpPr>
          <p:cNvPr id="423" name="Google Shape;423;g3e92e6f0be2_0_53"/>
          <p:cNvSpPr/>
          <p:nvPr/>
        </p:nvSpPr>
        <p:spPr>
          <a:xfrm>
            <a:off x="1261872" y="2240280"/>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Team 364</a:t>
            </a:r>
            <a:endParaRPr b="0" i="0" sz="1300" u="none" cap="none" strike="noStrike">
              <a:solidFill>
                <a:schemeClr val="dk1"/>
              </a:solidFill>
              <a:latin typeface="Calibri"/>
              <a:ea typeface="Calibri"/>
              <a:cs typeface="Calibri"/>
              <a:sym typeface="Calibri"/>
            </a:endParaRPr>
          </a:p>
        </p:txBody>
      </p:sp>
      <p:sp>
        <p:nvSpPr>
          <p:cNvPr id="424" name="Google Shape;424;g3e92e6f0be2_0_53"/>
          <p:cNvSpPr/>
          <p:nvPr/>
        </p:nvSpPr>
        <p:spPr>
          <a:xfrm>
            <a:off x="1261872" y="2532888"/>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Livonia, MI</a:t>
            </a:r>
            <a:endParaRPr b="0" i="0" sz="1000" u="none" cap="none" strike="noStrike">
              <a:solidFill>
                <a:schemeClr val="dk1"/>
              </a:solidFill>
              <a:latin typeface="Calibri"/>
              <a:ea typeface="Calibri"/>
              <a:cs typeface="Calibri"/>
              <a:sym typeface="Calibri"/>
            </a:endParaRPr>
          </a:p>
        </p:txBody>
      </p:sp>
      <p:sp>
        <p:nvSpPr>
          <p:cNvPr id="425" name="Google Shape;425;g3e92e6f0be2_0_53"/>
          <p:cNvSpPr/>
          <p:nvPr/>
        </p:nvSpPr>
        <p:spPr>
          <a:xfrm>
            <a:off x="1261872" y="2788920"/>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Michigan robotics staple. Multiple Einstein appearances as 1678 alliance partners. Strong scouting and consistent robot performance. Known for being extremely coachable alliance partners.</a:t>
            </a:r>
            <a:endParaRPr b="0" i="0" sz="1000" u="none" cap="none" strike="noStrike">
              <a:solidFill>
                <a:schemeClr val="dk1"/>
              </a:solidFill>
              <a:latin typeface="Calibri"/>
              <a:ea typeface="Calibri"/>
              <a:cs typeface="Calibri"/>
              <a:sym typeface="Calibri"/>
            </a:endParaRPr>
          </a:p>
        </p:txBody>
      </p:sp>
      <p:sp>
        <p:nvSpPr>
          <p:cNvPr id="426" name="Google Shape;426;g3e92e6f0be2_0_53"/>
          <p:cNvSpPr/>
          <p:nvPr/>
        </p:nvSpPr>
        <p:spPr>
          <a:xfrm>
            <a:off x="4709160" y="2185416"/>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g3e92e6f0be2_0_53"/>
          <p:cNvSpPr/>
          <p:nvPr/>
        </p:nvSpPr>
        <p:spPr>
          <a:xfrm>
            <a:off x="4709160" y="2185416"/>
            <a:ext cx="914400" cy="12984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3e92e6f0be2_0_53"/>
          <p:cNvSpPr/>
          <p:nvPr/>
        </p:nvSpPr>
        <p:spPr>
          <a:xfrm>
            <a:off x="4709160" y="2231136"/>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3847</a:t>
            </a:r>
            <a:endParaRPr b="0" i="0" sz="2200" u="none" cap="none" strike="noStrike">
              <a:solidFill>
                <a:schemeClr val="dk1"/>
              </a:solidFill>
              <a:latin typeface="Calibri"/>
              <a:ea typeface="Calibri"/>
              <a:cs typeface="Calibri"/>
              <a:sym typeface="Calibri"/>
            </a:endParaRPr>
          </a:p>
        </p:txBody>
      </p:sp>
      <p:sp>
        <p:nvSpPr>
          <p:cNvPr id="429" name="Google Shape;429;g3e92e6f0be2_0_53"/>
          <p:cNvSpPr/>
          <p:nvPr/>
        </p:nvSpPr>
        <p:spPr>
          <a:xfrm>
            <a:off x="4709160" y="2825496"/>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Spectrum</a:t>
            </a:r>
            <a:endParaRPr b="0" i="0" sz="900" u="none" cap="none" strike="noStrike">
              <a:solidFill>
                <a:schemeClr val="dk1"/>
              </a:solidFill>
              <a:latin typeface="Calibri"/>
              <a:ea typeface="Calibri"/>
              <a:cs typeface="Calibri"/>
              <a:sym typeface="Calibri"/>
            </a:endParaRPr>
          </a:p>
        </p:txBody>
      </p:sp>
      <p:sp>
        <p:nvSpPr>
          <p:cNvPr id="430" name="Google Shape;430;g3e92e6f0be2_0_53"/>
          <p:cNvSpPr/>
          <p:nvPr/>
        </p:nvSpPr>
        <p:spPr>
          <a:xfrm>
            <a:off x="5696712" y="2240280"/>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Spectrum</a:t>
            </a:r>
            <a:endParaRPr b="0" i="0" sz="1300" u="none" cap="none" strike="noStrike">
              <a:solidFill>
                <a:schemeClr val="dk1"/>
              </a:solidFill>
              <a:latin typeface="Calibri"/>
              <a:ea typeface="Calibri"/>
              <a:cs typeface="Calibri"/>
              <a:sym typeface="Calibri"/>
            </a:endParaRPr>
          </a:p>
        </p:txBody>
      </p:sp>
      <p:sp>
        <p:nvSpPr>
          <p:cNvPr id="431" name="Google Shape;431;g3e92e6f0be2_0_53"/>
          <p:cNvSpPr/>
          <p:nvPr/>
        </p:nvSpPr>
        <p:spPr>
          <a:xfrm>
            <a:off x="5696712" y="2532888"/>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Houston, TX</a:t>
            </a:r>
            <a:endParaRPr b="0" i="0" sz="1000" u="none" cap="none" strike="noStrike">
              <a:solidFill>
                <a:schemeClr val="dk1"/>
              </a:solidFill>
              <a:latin typeface="Calibri"/>
              <a:ea typeface="Calibri"/>
              <a:cs typeface="Calibri"/>
              <a:sym typeface="Calibri"/>
            </a:endParaRPr>
          </a:p>
        </p:txBody>
      </p:sp>
      <p:sp>
        <p:nvSpPr>
          <p:cNvPr id="432" name="Google Shape;432;g3e92e6f0be2_0_53"/>
          <p:cNvSpPr/>
          <p:nvPr/>
        </p:nvSpPr>
        <p:spPr>
          <a:xfrm>
            <a:off x="5696712" y="2788920"/>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Known as one of FRC's best community educators. Publishes 200+ slide design training decks, mechanism guides, swerve resources, and full season build blogs for 15+ years. Open Alliance participant since it began.</a:t>
            </a:r>
            <a:endParaRPr b="0" i="0" sz="1000" u="none" cap="none" strike="noStrike">
              <a:solidFill>
                <a:schemeClr val="dk1"/>
              </a:solidFill>
              <a:latin typeface="Calibri"/>
              <a:ea typeface="Calibri"/>
              <a:cs typeface="Calibri"/>
              <a:sym typeface="Calibri"/>
            </a:endParaRPr>
          </a:p>
        </p:txBody>
      </p:sp>
      <p:sp>
        <p:nvSpPr>
          <p:cNvPr id="433" name="Google Shape;433;g3e92e6f0be2_0_53"/>
          <p:cNvSpPr/>
          <p:nvPr/>
        </p:nvSpPr>
        <p:spPr>
          <a:xfrm>
            <a:off x="274320" y="3593592"/>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e92e6f0be2_0_53"/>
          <p:cNvSpPr/>
          <p:nvPr/>
        </p:nvSpPr>
        <p:spPr>
          <a:xfrm>
            <a:off x="274320" y="3593592"/>
            <a:ext cx="914400" cy="1298400"/>
          </a:xfrm>
          <a:prstGeom prst="rect">
            <a:avLst/>
          </a:prstGeom>
          <a:solidFill>
            <a:srgbClr val="4A1E8B"/>
          </a:solidFill>
          <a:ln cap="flat" cmpd="sng" w="12700">
            <a:solidFill>
              <a:srgbClr val="4A1E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3e92e6f0be2_0_53"/>
          <p:cNvSpPr/>
          <p:nvPr/>
        </p:nvSpPr>
        <p:spPr>
          <a:xfrm>
            <a:off x="274320" y="3639312"/>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5026</a:t>
            </a:r>
            <a:endParaRPr b="0" i="0" sz="2200" u="none" cap="none" strike="noStrike">
              <a:solidFill>
                <a:schemeClr val="dk1"/>
              </a:solidFill>
              <a:latin typeface="Calibri"/>
              <a:ea typeface="Calibri"/>
              <a:cs typeface="Calibri"/>
              <a:sym typeface="Calibri"/>
            </a:endParaRPr>
          </a:p>
        </p:txBody>
      </p:sp>
      <p:sp>
        <p:nvSpPr>
          <p:cNvPr id="436" name="Google Shape;436;g3e92e6f0be2_0_53"/>
          <p:cNvSpPr/>
          <p:nvPr/>
        </p:nvSpPr>
        <p:spPr>
          <a:xfrm>
            <a:off x="274320" y="4233672"/>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Team 5026</a:t>
            </a:r>
            <a:endParaRPr b="0" i="0" sz="900" u="none" cap="none" strike="noStrike">
              <a:solidFill>
                <a:schemeClr val="dk1"/>
              </a:solidFill>
              <a:latin typeface="Calibri"/>
              <a:ea typeface="Calibri"/>
              <a:cs typeface="Calibri"/>
              <a:sym typeface="Calibri"/>
            </a:endParaRPr>
          </a:p>
        </p:txBody>
      </p:sp>
      <p:sp>
        <p:nvSpPr>
          <p:cNvPr id="437" name="Google Shape;437;g3e92e6f0be2_0_53"/>
          <p:cNvSpPr/>
          <p:nvPr/>
        </p:nvSpPr>
        <p:spPr>
          <a:xfrm>
            <a:off x="1261872" y="3648456"/>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Team 5026</a:t>
            </a:r>
            <a:endParaRPr b="0" i="0" sz="1300" u="none" cap="none" strike="noStrike">
              <a:solidFill>
                <a:schemeClr val="dk1"/>
              </a:solidFill>
              <a:latin typeface="Calibri"/>
              <a:ea typeface="Calibri"/>
              <a:cs typeface="Calibri"/>
              <a:sym typeface="Calibri"/>
            </a:endParaRPr>
          </a:p>
        </p:txBody>
      </p:sp>
      <p:sp>
        <p:nvSpPr>
          <p:cNvPr id="438" name="Google Shape;438;g3e92e6f0be2_0_53"/>
          <p:cNvSpPr/>
          <p:nvPr/>
        </p:nvSpPr>
        <p:spPr>
          <a:xfrm>
            <a:off x="1261872" y="3941064"/>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Various</a:t>
            </a:r>
            <a:endParaRPr b="0" i="0" sz="1000" u="none" cap="none" strike="noStrike">
              <a:solidFill>
                <a:schemeClr val="dk1"/>
              </a:solidFill>
              <a:latin typeface="Calibri"/>
              <a:ea typeface="Calibri"/>
              <a:cs typeface="Calibri"/>
              <a:sym typeface="Calibri"/>
            </a:endParaRPr>
          </a:p>
        </p:txBody>
      </p:sp>
      <p:sp>
        <p:nvSpPr>
          <p:cNvPr id="439" name="Google Shape;439;g3e92e6f0be2_0_53"/>
          <p:cNvSpPr/>
          <p:nvPr/>
        </p:nvSpPr>
        <p:spPr>
          <a:xfrm>
            <a:off x="1261872" y="4197096"/>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Unusual distinction: most World Championship wins without a regional/district event win. Every Championship win has come from the Newton division. One of FRC's most 'clutch' performers at the championship level.</a:t>
            </a:r>
            <a:endParaRPr b="0" i="0" sz="1000" u="none" cap="none" strike="noStrike">
              <a:solidFill>
                <a:schemeClr val="dk1"/>
              </a:solidFill>
              <a:latin typeface="Calibri"/>
              <a:ea typeface="Calibri"/>
              <a:cs typeface="Calibri"/>
              <a:sym typeface="Calibri"/>
            </a:endParaRPr>
          </a:p>
        </p:txBody>
      </p:sp>
      <p:sp>
        <p:nvSpPr>
          <p:cNvPr id="440" name="Google Shape;440;g3e92e6f0be2_0_53"/>
          <p:cNvSpPr/>
          <p:nvPr/>
        </p:nvSpPr>
        <p:spPr>
          <a:xfrm>
            <a:off x="4709160" y="3593592"/>
            <a:ext cx="4251900" cy="12984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g3e92e6f0be2_0_53"/>
          <p:cNvSpPr/>
          <p:nvPr/>
        </p:nvSpPr>
        <p:spPr>
          <a:xfrm>
            <a:off x="4709160" y="3593592"/>
            <a:ext cx="914400" cy="1298400"/>
          </a:xfrm>
          <a:prstGeom prst="rect">
            <a:avLst/>
          </a:prstGeom>
          <a:solidFill>
            <a:srgbClr val="5C3A1E"/>
          </a:solidFill>
          <a:ln cap="flat" cmpd="sng" w="12700">
            <a:solidFill>
              <a:srgbClr val="5C3A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3e92e6f0be2_0_53"/>
          <p:cNvSpPr/>
          <p:nvPr/>
        </p:nvSpPr>
        <p:spPr>
          <a:xfrm>
            <a:off x="4709160" y="3639312"/>
            <a:ext cx="914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3538</a:t>
            </a:r>
            <a:endParaRPr b="0" i="0" sz="2200" u="none" cap="none" strike="noStrike">
              <a:solidFill>
                <a:schemeClr val="dk1"/>
              </a:solidFill>
              <a:latin typeface="Calibri"/>
              <a:ea typeface="Calibri"/>
              <a:cs typeface="Calibri"/>
              <a:sym typeface="Calibri"/>
            </a:endParaRPr>
          </a:p>
        </p:txBody>
      </p:sp>
      <p:sp>
        <p:nvSpPr>
          <p:cNvPr id="443" name="Google Shape;443;g3e92e6f0be2_0_53"/>
          <p:cNvSpPr/>
          <p:nvPr/>
        </p:nvSpPr>
        <p:spPr>
          <a:xfrm>
            <a:off x="4709160" y="4233672"/>
            <a:ext cx="914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900"/>
              <a:buFont typeface="Calibri"/>
              <a:buNone/>
            </a:pPr>
            <a:r>
              <a:rPr b="0" i="0" lang="en-US" sz="900" u="none" cap="none" strike="noStrike">
                <a:solidFill>
                  <a:srgbClr val="D8E4F0"/>
                </a:solidFill>
                <a:latin typeface="Calibri"/>
                <a:ea typeface="Calibri"/>
                <a:cs typeface="Calibri"/>
                <a:sym typeface="Calibri"/>
              </a:rPr>
              <a:t>RoboJackets</a:t>
            </a:r>
            <a:endParaRPr b="0" i="0" sz="900" u="none" cap="none" strike="noStrike">
              <a:solidFill>
                <a:schemeClr val="dk1"/>
              </a:solidFill>
              <a:latin typeface="Calibri"/>
              <a:ea typeface="Calibri"/>
              <a:cs typeface="Calibri"/>
              <a:sym typeface="Calibri"/>
            </a:endParaRPr>
          </a:p>
        </p:txBody>
      </p:sp>
      <p:sp>
        <p:nvSpPr>
          <p:cNvPr id="444" name="Google Shape;444;g3e92e6f0be2_0_53"/>
          <p:cNvSpPr/>
          <p:nvPr/>
        </p:nvSpPr>
        <p:spPr>
          <a:xfrm>
            <a:off x="5696712" y="3648456"/>
            <a:ext cx="31821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RoboJackets</a:t>
            </a:r>
            <a:endParaRPr b="0" i="0" sz="1300" u="none" cap="none" strike="noStrike">
              <a:solidFill>
                <a:schemeClr val="dk1"/>
              </a:solidFill>
              <a:latin typeface="Calibri"/>
              <a:ea typeface="Calibri"/>
              <a:cs typeface="Calibri"/>
              <a:sym typeface="Calibri"/>
            </a:endParaRPr>
          </a:p>
        </p:txBody>
      </p:sp>
      <p:sp>
        <p:nvSpPr>
          <p:cNvPr id="445" name="Google Shape;445;g3e92e6f0be2_0_53"/>
          <p:cNvSpPr/>
          <p:nvPr/>
        </p:nvSpPr>
        <p:spPr>
          <a:xfrm>
            <a:off x="5696712" y="3941064"/>
            <a:ext cx="31821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Georgia Tech, GA</a:t>
            </a:r>
            <a:endParaRPr b="0" i="0" sz="1000" u="none" cap="none" strike="noStrike">
              <a:solidFill>
                <a:schemeClr val="dk1"/>
              </a:solidFill>
              <a:latin typeface="Calibri"/>
              <a:ea typeface="Calibri"/>
              <a:cs typeface="Calibri"/>
              <a:sym typeface="Calibri"/>
            </a:endParaRPr>
          </a:p>
        </p:txBody>
      </p:sp>
      <p:sp>
        <p:nvSpPr>
          <p:cNvPr id="446" name="Google Shape;446;g3e92e6f0be2_0_53"/>
          <p:cNvSpPr/>
          <p:nvPr/>
        </p:nvSpPr>
        <p:spPr>
          <a:xfrm>
            <a:off x="5696712" y="4197096"/>
            <a:ext cx="3182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University-backed FRC team at Georgia Tech. Exceptional software and autonomous performance. Known for contributing to FRC software tools and publishing detailed technical documentation and programming workshops.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451" name="Shape 451"/>
        <p:cNvGrpSpPr/>
        <p:nvPr/>
      </p:nvGrpSpPr>
      <p:grpSpPr>
        <a:xfrm>
          <a:off x="0" y="0"/>
          <a:ext cx="0" cy="0"/>
          <a:chOff x="0" y="0"/>
          <a:chExt cx="0" cy="0"/>
        </a:xfrm>
      </p:grpSpPr>
      <p:sp>
        <p:nvSpPr>
          <p:cNvPr id="452" name="Google Shape;452;g3e92e6f0be2_0_402"/>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g3e92e6f0be2_0_402"/>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Notable Teams — Part 3</a:t>
            </a:r>
            <a:endParaRPr b="0" i="0" sz="2100" u="none" cap="none" strike="noStrike">
              <a:solidFill>
                <a:schemeClr val="dk1"/>
              </a:solidFill>
              <a:latin typeface="Calibri"/>
              <a:ea typeface="Calibri"/>
              <a:cs typeface="Calibri"/>
              <a:sym typeface="Calibri"/>
            </a:endParaRPr>
          </a:p>
        </p:txBody>
      </p:sp>
      <p:sp>
        <p:nvSpPr>
          <p:cNvPr id="454" name="Google Shape;454;g3e92e6f0be2_0_402"/>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3e92e6f0be2_0_402"/>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TEAMS</a:t>
            </a:r>
            <a:endParaRPr b="0" i="0" sz="1100" u="none" cap="none" strike="noStrike">
              <a:solidFill>
                <a:schemeClr val="dk1"/>
              </a:solidFill>
              <a:latin typeface="Calibri"/>
              <a:ea typeface="Calibri"/>
              <a:cs typeface="Calibri"/>
              <a:sym typeface="Calibri"/>
            </a:endParaRPr>
          </a:p>
        </p:txBody>
      </p:sp>
      <p:sp>
        <p:nvSpPr>
          <p:cNvPr id="456" name="Google Shape;456;g3e92e6f0be2_0_402"/>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3e92e6f0be2_0_402"/>
          <p:cNvSpPr/>
          <p:nvPr/>
        </p:nvSpPr>
        <p:spPr>
          <a:xfrm>
            <a:off x="274320" y="777240"/>
            <a:ext cx="4251900" cy="19935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g3e92e6f0be2_0_402"/>
          <p:cNvSpPr/>
          <p:nvPr/>
        </p:nvSpPr>
        <p:spPr>
          <a:xfrm>
            <a:off x="274320" y="777240"/>
            <a:ext cx="960000" cy="1993500"/>
          </a:xfrm>
          <a:prstGeom prst="rect">
            <a:avLst/>
          </a:prstGeom>
          <a:solidFill>
            <a:srgbClr val="8B1A1A"/>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g3e92e6f0be2_0_402"/>
          <p:cNvSpPr/>
          <p:nvPr/>
        </p:nvSpPr>
        <p:spPr>
          <a:xfrm>
            <a:off x="274320" y="822960"/>
            <a:ext cx="9600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4522</a:t>
            </a:r>
            <a:endParaRPr b="0" i="0" sz="2200" u="none" cap="none" strike="noStrike">
              <a:solidFill>
                <a:schemeClr val="dk1"/>
              </a:solidFill>
              <a:latin typeface="Calibri"/>
              <a:ea typeface="Calibri"/>
              <a:cs typeface="Calibri"/>
              <a:sym typeface="Calibri"/>
            </a:endParaRPr>
          </a:p>
        </p:txBody>
      </p:sp>
      <p:sp>
        <p:nvSpPr>
          <p:cNvPr id="460" name="Google Shape;460;g3e92e6f0be2_0_402"/>
          <p:cNvSpPr/>
          <p:nvPr/>
        </p:nvSpPr>
        <p:spPr>
          <a:xfrm>
            <a:off x="274320" y="1435608"/>
            <a:ext cx="9600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0" lang="en-US" sz="800" u="none" cap="none" strike="noStrike">
                <a:solidFill>
                  <a:srgbClr val="D8E4F0"/>
                </a:solidFill>
                <a:latin typeface="Calibri"/>
                <a:ea typeface="Calibri"/>
                <a:cs typeface="Calibri"/>
                <a:sym typeface="Calibri"/>
              </a:rPr>
              <a:t>Team SCREAM</a:t>
            </a:r>
            <a:endParaRPr b="0" i="0" sz="800" u="none" cap="none" strike="noStrike">
              <a:solidFill>
                <a:schemeClr val="dk1"/>
              </a:solidFill>
              <a:latin typeface="Calibri"/>
              <a:ea typeface="Calibri"/>
              <a:cs typeface="Calibri"/>
              <a:sym typeface="Calibri"/>
            </a:endParaRPr>
          </a:p>
        </p:txBody>
      </p:sp>
      <p:sp>
        <p:nvSpPr>
          <p:cNvPr id="461" name="Google Shape;461;g3e92e6f0be2_0_402"/>
          <p:cNvSpPr/>
          <p:nvPr/>
        </p:nvSpPr>
        <p:spPr>
          <a:xfrm>
            <a:off x="1307592" y="832104"/>
            <a:ext cx="31365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Team SCREAM</a:t>
            </a:r>
            <a:endParaRPr b="0" i="0" sz="1400" u="none" cap="none" strike="noStrike">
              <a:solidFill>
                <a:schemeClr val="dk1"/>
              </a:solidFill>
              <a:latin typeface="Calibri"/>
              <a:ea typeface="Calibri"/>
              <a:cs typeface="Calibri"/>
              <a:sym typeface="Calibri"/>
            </a:endParaRPr>
          </a:p>
        </p:txBody>
      </p:sp>
      <p:sp>
        <p:nvSpPr>
          <p:cNvPr id="462" name="Google Shape;462;g3e92e6f0be2_0_402"/>
          <p:cNvSpPr/>
          <p:nvPr/>
        </p:nvSpPr>
        <p:spPr>
          <a:xfrm>
            <a:off x="1307592" y="1161288"/>
            <a:ext cx="3136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Sedalia, MO  ·  Rookie: 2013</a:t>
            </a:r>
            <a:endParaRPr b="0" i="0" sz="1000" u="none" cap="none" strike="noStrike">
              <a:solidFill>
                <a:schemeClr val="dk1"/>
              </a:solidFill>
              <a:latin typeface="Calibri"/>
              <a:ea typeface="Calibri"/>
              <a:cs typeface="Calibri"/>
              <a:sym typeface="Calibri"/>
            </a:endParaRPr>
          </a:p>
        </p:txBody>
      </p:sp>
      <p:sp>
        <p:nvSpPr>
          <p:cNvPr id="463" name="Google Shape;463;g3e92e6f0be2_0_402"/>
          <p:cNvSpPr/>
          <p:nvPr/>
        </p:nvSpPr>
        <p:spPr>
          <a:xfrm>
            <a:off x="3337560" y="822960"/>
            <a:ext cx="1115700" cy="255900"/>
          </a:xfrm>
          <a:prstGeom prst="rect">
            <a:avLst/>
          </a:prstGeom>
          <a:solidFill>
            <a:srgbClr val="1E5C2E"/>
          </a:solidFill>
          <a:ln cap="flat" cmpd="sng" w="12700">
            <a:solidFill>
              <a:srgbClr val="1E5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e92e6f0be2_0_402"/>
          <p:cNvSpPr/>
          <p:nvPr/>
        </p:nvSpPr>
        <p:spPr>
          <a:xfrm>
            <a:off x="3337560" y="822960"/>
            <a:ext cx="1115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2024 WORLD CHAMPS</a:t>
            </a:r>
            <a:endParaRPr b="0" i="0" sz="850" u="none" cap="none" strike="noStrike">
              <a:solidFill>
                <a:schemeClr val="dk1"/>
              </a:solidFill>
              <a:latin typeface="Calibri"/>
              <a:ea typeface="Calibri"/>
              <a:cs typeface="Calibri"/>
              <a:sym typeface="Calibri"/>
            </a:endParaRPr>
          </a:p>
        </p:txBody>
      </p:sp>
      <p:sp>
        <p:nvSpPr>
          <p:cNvPr id="465" name="Google Shape;465;g3e92e6f0be2_0_402"/>
          <p:cNvSpPr/>
          <p:nvPr/>
        </p:nvSpPr>
        <p:spPr>
          <a:xfrm>
            <a:off x="1307592" y="1435608"/>
            <a:ext cx="3136500" cy="124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Smith-Cotton Robotics Engineering and Mathematics. One of FRC's great rural success stories. 2024 World Champions with robot 'AXL' — built on a unique 3×1 tube swerve chassis. Active Open Alliance participants with full season CAD + code published. Also runs a junior team (4766, Team SCREAM Jr.). Built the SCREAMLib software library used by other teams. Google-sponsored.</a:t>
            </a:r>
            <a:endParaRPr b="0" i="0" sz="1050" u="none" cap="none" strike="noStrike">
              <a:solidFill>
                <a:schemeClr val="dk1"/>
              </a:solidFill>
              <a:latin typeface="Calibri"/>
              <a:ea typeface="Calibri"/>
              <a:cs typeface="Calibri"/>
              <a:sym typeface="Calibri"/>
            </a:endParaRPr>
          </a:p>
        </p:txBody>
      </p:sp>
      <p:sp>
        <p:nvSpPr>
          <p:cNvPr id="466" name="Google Shape;466;g3e92e6f0be2_0_402"/>
          <p:cNvSpPr/>
          <p:nvPr/>
        </p:nvSpPr>
        <p:spPr>
          <a:xfrm>
            <a:off x="4709160" y="777240"/>
            <a:ext cx="4251900" cy="19935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e92e6f0be2_0_402"/>
          <p:cNvSpPr/>
          <p:nvPr/>
        </p:nvSpPr>
        <p:spPr>
          <a:xfrm>
            <a:off x="4709160" y="777240"/>
            <a:ext cx="960000" cy="19935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3e92e6f0be2_0_402"/>
          <p:cNvSpPr/>
          <p:nvPr/>
        </p:nvSpPr>
        <p:spPr>
          <a:xfrm>
            <a:off x="4709160" y="822960"/>
            <a:ext cx="9600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1868</a:t>
            </a:r>
            <a:endParaRPr b="0" i="0" sz="2200" u="none" cap="none" strike="noStrike">
              <a:solidFill>
                <a:schemeClr val="dk1"/>
              </a:solidFill>
              <a:latin typeface="Calibri"/>
              <a:ea typeface="Calibri"/>
              <a:cs typeface="Calibri"/>
              <a:sym typeface="Calibri"/>
            </a:endParaRPr>
          </a:p>
        </p:txBody>
      </p:sp>
      <p:sp>
        <p:nvSpPr>
          <p:cNvPr id="469" name="Google Shape;469;g3e92e6f0be2_0_402"/>
          <p:cNvSpPr/>
          <p:nvPr/>
        </p:nvSpPr>
        <p:spPr>
          <a:xfrm>
            <a:off x="4709160" y="1435608"/>
            <a:ext cx="9600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0" lang="en-US" sz="800" u="none" cap="none" strike="noStrike">
                <a:solidFill>
                  <a:srgbClr val="D8E4F0"/>
                </a:solidFill>
                <a:latin typeface="Calibri"/>
                <a:ea typeface="Calibri"/>
                <a:cs typeface="Calibri"/>
                <a:sym typeface="Calibri"/>
              </a:rPr>
              <a:t>Space Cookies</a:t>
            </a:r>
            <a:endParaRPr b="0" i="0" sz="800" u="none" cap="none" strike="noStrike">
              <a:solidFill>
                <a:schemeClr val="dk1"/>
              </a:solidFill>
              <a:latin typeface="Calibri"/>
              <a:ea typeface="Calibri"/>
              <a:cs typeface="Calibri"/>
              <a:sym typeface="Calibri"/>
            </a:endParaRPr>
          </a:p>
        </p:txBody>
      </p:sp>
      <p:sp>
        <p:nvSpPr>
          <p:cNvPr id="470" name="Google Shape;470;g3e92e6f0be2_0_402"/>
          <p:cNvSpPr/>
          <p:nvPr/>
        </p:nvSpPr>
        <p:spPr>
          <a:xfrm>
            <a:off x="5742432" y="832104"/>
            <a:ext cx="31365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Space Cookies</a:t>
            </a:r>
            <a:endParaRPr b="0" i="0" sz="1400" u="none" cap="none" strike="noStrike">
              <a:solidFill>
                <a:schemeClr val="dk1"/>
              </a:solidFill>
              <a:latin typeface="Calibri"/>
              <a:ea typeface="Calibri"/>
              <a:cs typeface="Calibri"/>
              <a:sym typeface="Calibri"/>
            </a:endParaRPr>
          </a:p>
        </p:txBody>
      </p:sp>
      <p:sp>
        <p:nvSpPr>
          <p:cNvPr id="471" name="Google Shape;471;g3e92e6f0be2_0_402"/>
          <p:cNvSpPr/>
          <p:nvPr/>
        </p:nvSpPr>
        <p:spPr>
          <a:xfrm>
            <a:off x="5742432" y="1161288"/>
            <a:ext cx="3136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Mountain View, CA  ·  Rookie: 2006</a:t>
            </a:r>
            <a:endParaRPr b="0" i="0" sz="1000" u="none" cap="none" strike="noStrike">
              <a:solidFill>
                <a:schemeClr val="dk1"/>
              </a:solidFill>
              <a:latin typeface="Calibri"/>
              <a:ea typeface="Calibri"/>
              <a:cs typeface="Calibri"/>
              <a:sym typeface="Calibri"/>
            </a:endParaRPr>
          </a:p>
        </p:txBody>
      </p:sp>
      <p:sp>
        <p:nvSpPr>
          <p:cNvPr id="472" name="Google Shape;472;g3e92e6f0be2_0_402"/>
          <p:cNvSpPr/>
          <p:nvPr/>
        </p:nvSpPr>
        <p:spPr>
          <a:xfrm>
            <a:off x="7772400" y="822960"/>
            <a:ext cx="1115700" cy="255900"/>
          </a:xfrm>
          <a:prstGeom prst="rect">
            <a:avLst/>
          </a:prstGeom>
          <a:solidFill>
            <a:srgbClr val="4A1E8B"/>
          </a:solidFill>
          <a:ln cap="flat" cmpd="sng" w="12700">
            <a:solidFill>
              <a:srgbClr val="4A1E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g3e92e6f0be2_0_402"/>
          <p:cNvSpPr/>
          <p:nvPr/>
        </p:nvSpPr>
        <p:spPr>
          <a:xfrm>
            <a:off x="7772400" y="822960"/>
            <a:ext cx="1115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ALL-GIRLS TEAM</a:t>
            </a:r>
            <a:endParaRPr b="0" i="0" sz="850" u="none" cap="none" strike="noStrike">
              <a:solidFill>
                <a:schemeClr val="dk1"/>
              </a:solidFill>
              <a:latin typeface="Calibri"/>
              <a:ea typeface="Calibri"/>
              <a:cs typeface="Calibri"/>
              <a:sym typeface="Calibri"/>
            </a:endParaRPr>
          </a:p>
        </p:txBody>
      </p:sp>
      <p:sp>
        <p:nvSpPr>
          <p:cNvPr id="474" name="Google Shape;474;g3e92e6f0be2_0_402"/>
          <p:cNvSpPr/>
          <p:nvPr/>
        </p:nvSpPr>
        <p:spPr>
          <a:xfrm>
            <a:off x="5742432" y="1435608"/>
            <a:ext cx="3136500" cy="124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The Bay Area's most celebrated all-girls FRC team — a NASA Ames + Girl Scout partnership with 20 years of history. 11-time Regional Impact Award winners. 100% of alumnae pursue higher education; 85% choose STEM majors. Mentored 46 FLL/FTC/FRC teams. Launched m.e. FIRST — providing free menstrual products at all FRC events to remove participation barriers. Sponsored by Apple, Google, NASA, Lockheed Martin, and more.</a:t>
            </a:r>
            <a:endParaRPr b="0" i="0" sz="1050" u="none" cap="none" strike="noStrike">
              <a:solidFill>
                <a:schemeClr val="dk1"/>
              </a:solidFill>
              <a:latin typeface="Calibri"/>
              <a:ea typeface="Calibri"/>
              <a:cs typeface="Calibri"/>
              <a:sym typeface="Calibri"/>
            </a:endParaRPr>
          </a:p>
        </p:txBody>
      </p:sp>
      <p:sp>
        <p:nvSpPr>
          <p:cNvPr id="475" name="Google Shape;475;g3e92e6f0be2_0_402"/>
          <p:cNvSpPr/>
          <p:nvPr/>
        </p:nvSpPr>
        <p:spPr>
          <a:xfrm>
            <a:off x="274320" y="2880360"/>
            <a:ext cx="4251900" cy="19935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g3e92e6f0be2_0_402"/>
          <p:cNvSpPr/>
          <p:nvPr/>
        </p:nvSpPr>
        <p:spPr>
          <a:xfrm>
            <a:off x="274320" y="2880360"/>
            <a:ext cx="960000" cy="19935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g3e92e6f0be2_0_402"/>
          <p:cNvSpPr/>
          <p:nvPr/>
        </p:nvSpPr>
        <p:spPr>
          <a:xfrm>
            <a:off x="274320" y="2926080"/>
            <a:ext cx="9600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6665</a:t>
            </a:r>
            <a:endParaRPr b="0" i="0" sz="2200" u="none" cap="none" strike="noStrike">
              <a:solidFill>
                <a:schemeClr val="dk1"/>
              </a:solidFill>
              <a:latin typeface="Calibri"/>
              <a:ea typeface="Calibri"/>
              <a:cs typeface="Calibri"/>
              <a:sym typeface="Calibri"/>
            </a:endParaRPr>
          </a:p>
        </p:txBody>
      </p:sp>
      <p:sp>
        <p:nvSpPr>
          <p:cNvPr id="478" name="Google Shape;478;g3e92e6f0be2_0_402"/>
          <p:cNvSpPr/>
          <p:nvPr/>
        </p:nvSpPr>
        <p:spPr>
          <a:xfrm>
            <a:off x="274320" y="3538728"/>
            <a:ext cx="9600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0" lang="en-US" sz="800" u="none" cap="none" strike="noStrike">
                <a:solidFill>
                  <a:srgbClr val="D8E4F0"/>
                </a:solidFill>
                <a:latin typeface="Calibri"/>
                <a:ea typeface="Calibri"/>
                <a:cs typeface="Calibri"/>
                <a:sym typeface="Calibri"/>
              </a:rPr>
              <a:t>C-Otters</a:t>
            </a:r>
            <a:endParaRPr b="0" i="0" sz="800" u="none" cap="none" strike="noStrike">
              <a:solidFill>
                <a:schemeClr val="dk1"/>
              </a:solidFill>
              <a:latin typeface="Calibri"/>
              <a:ea typeface="Calibri"/>
              <a:cs typeface="Calibri"/>
              <a:sym typeface="Calibri"/>
            </a:endParaRPr>
          </a:p>
        </p:txBody>
      </p:sp>
      <p:sp>
        <p:nvSpPr>
          <p:cNvPr id="479" name="Google Shape;479;g3e92e6f0be2_0_402"/>
          <p:cNvSpPr/>
          <p:nvPr/>
        </p:nvSpPr>
        <p:spPr>
          <a:xfrm>
            <a:off x="1307592" y="2935224"/>
            <a:ext cx="31365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C-Otters</a:t>
            </a:r>
            <a:endParaRPr b="0" i="0" sz="1400" u="none" cap="none" strike="noStrike">
              <a:solidFill>
                <a:schemeClr val="dk1"/>
              </a:solidFill>
              <a:latin typeface="Calibri"/>
              <a:ea typeface="Calibri"/>
              <a:cs typeface="Calibri"/>
              <a:sym typeface="Calibri"/>
            </a:endParaRPr>
          </a:p>
        </p:txBody>
      </p:sp>
      <p:sp>
        <p:nvSpPr>
          <p:cNvPr id="480" name="Google Shape;480;g3e92e6f0be2_0_402"/>
          <p:cNvSpPr/>
          <p:nvPr/>
        </p:nvSpPr>
        <p:spPr>
          <a:xfrm>
            <a:off x="1307592" y="3264408"/>
            <a:ext cx="3136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Monterey, CA  ·  Rookie: 2017</a:t>
            </a:r>
            <a:endParaRPr b="0" i="0" sz="1000" u="none" cap="none" strike="noStrike">
              <a:solidFill>
                <a:schemeClr val="dk1"/>
              </a:solidFill>
              <a:latin typeface="Calibri"/>
              <a:ea typeface="Calibri"/>
              <a:cs typeface="Calibri"/>
              <a:sym typeface="Calibri"/>
            </a:endParaRPr>
          </a:p>
        </p:txBody>
      </p:sp>
      <p:sp>
        <p:nvSpPr>
          <p:cNvPr id="481" name="Google Shape;481;g3e92e6f0be2_0_402"/>
          <p:cNvSpPr/>
          <p:nvPr/>
        </p:nvSpPr>
        <p:spPr>
          <a:xfrm>
            <a:off x="3337560" y="2926080"/>
            <a:ext cx="1115700" cy="2559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g3e92e6f0be2_0_402"/>
          <p:cNvSpPr/>
          <p:nvPr/>
        </p:nvSpPr>
        <p:spPr>
          <a:xfrm>
            <a:off x="3337560" y="2926080"/>
            <a:ext cx="1115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2025 WORLDS</a:t>
            </a:r>
            <a:endParaRPr b="0" i="0" sz="850" u="none" cap="none" strike="noStrike">
              <a:solidFill>
                <a:schemeClr val="dk1"/>
              </a:solidFill>
              <a:latin typeface="Calibri"/>
              <a:ea typeface="Calibri"/>
              <a:cs typeface="Calibri"/>
              <a:sym typeface="Calibri"/>
            </a:endParaRPr>
          </a:p>
        </p:txBody>
      </p:sp>
      <p:sp>
        <p:nvSpPr>
          <p:cNvPr id="483" name="Google Shape;483;g3e92e6f0be2_0_402"/>
          <p:cNvSpPr/>
          <p:nvPr/>
        </p:nvSpPr>
        <p:spPr>
          <a:xfrm>
            <a:off x="1307592" y="3538728"/>
            <a:ext cx="3136500" cy="124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Santa Catalina School's all-girls FRC team from Monterey. Obsessed with otters — their robots always get otter-themed names (Otternaut, TrebleMaker…). Their 2025 robot Otternaut was a fast L1 coral + algae cycler with deep hang that earned them their first-ever World Championship appearance on the Newton field. Sponsored by Apple and RTX (Raytheon). Known for clean, elegant robot design relative to their resource level.</a:t>
            </a:r>
            <a:endParaRPr b="0" i="0" sz="1050" u="none" cap="none" strike="noStrike">
              <a:solidFill>
                <a:schemeClr val="dk1"/>
              </a:solidFill>
              <a:latin typeface="Calibri"/>
              <a:ea typeface="Calibri"/>
              <a:cs typeface="Calibri"/>
              <a:sym typeface="Calibri"/>
            </a:endParaRPr>
          </a:p>
        </p:txBody>
      </p:sp>
      <p:sp>
        <p:nvSpPr>
          <p:cNvPr id="484" name="Google Shape;484;g3e92e6f0be2_0_402"/>
          <p:cNvSpPr/>
          <p:nvPr/>
        </p:nvSpPr>
        <p:spPr>
          <a:xfrm>
            <a:off x="4709160" y="2880360"/>
            <a:ext cx="4251900" cy="19935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g3e92e6f0be2_0_402"/>
          <p:cNvSpPr/>
          <p:nvPr/>
        </p:nvSpPr>
        <p:spPr>
          <a:xfrm>
            <a:off x="4709160" y="2880360"/>
            <a:ext cx="960000" cy="1993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g3e92e6f0be2_0_402"/>
          <p:cNvSpPr/>
          <p:nvPr/>
        </p:nvSpPr>
        <p:spPr>
          <a:xfrm>
            <a:off x="4709160" y="2926080"/>
            <a:ext cx="9600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9470</a:t>
            </a:r>
            <a:endParaRPr b="0" i="0" sz="2200" u="none" cap="none" strike="noStrike">
              <a:solidFill>
                <a:schemeClr val="dk1"/>
              </a:solidFill>
              <a:latin typeface="Calibri"/>
              <a:ea typeface="Calibri"/>
              <a:cs typeface="Calibri"/>
              <a:sym typeface="Calibri"/>
            </a:endParaRPr>
          </a:p>
        </p:txBody>
      </p:sp>
      <p:sp>
        <p:nvSpPr>
          <p:cNvPr id="487" name="Google Shape;487;g3e92e6f0be2_0_402"/>
          <p:cNvSpPr/>
          <p:nvPr/>
        </p:nvSpPr>
        <p:spPr>
          <a:xfrm>
            <a:off x="4709160" y="3538728"/>
            <a:ext cx="9600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0" lang="en-US" sz="800" u="none" cap="none" strike="noStrike">
                <a:solidFill>
                  <a:srgbClr val="D8E4F0"/>
                </a:solidFill>
                <a:latin typeface="Calibri"/>
                <a:ea typeface="Calibri"/>
                <a:cs typeface="Calibri"/>
                <a:sym typeface="Calibri"/>
              </a:rPr>
              <a:t>Ctrl-Alt-Defeat</a:t>
            </a:r>
            <a:endParaRPr b="0" i="0" sz="800" u="none" cap="none" strike="noStrike">
              <a:solidFill>
                <a:schemeClr val="dk1"/>
              </a:solidFill>
              <a:latin typeface="Calibri"/>
              <a:ea typeface="Calibri"/>
              <a:cs typeface="Calibri"/>
              <a:sym typeface="Calibri"/>
            </a:endParaRPr>
          </a:p>
        </p:txBody>
      </p:sp>
      <p:sp>
        <p:nvSpPr>
          <p:cNvPr id="488" name="Google Shape;488;g3e92e6f0be2_0_402"/>
          <p:cNvSpPr/>
          <p:nvPr/>
        </p:nvSpPr>
        <p:spPr>
          <a:xfrm>
            <a:off x="5742432" y="2935224"/>
            <a:ext cx="31365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Ctrl-Alt-Defeat</a:t>
            </a:r>
            <a:endParaRPr b="0" i="0" sz="1400" u="none" cap="none" strike="noStrike">
              <a:solidFill>
                <a:schemeClr val="dk1"/>
              </a:solidFill>
              <a:latin typeface="Calibri"/>
              <a:ea typeface="Calibri"/>
              <a:cs typeface="Calibri"/>
              <a:sym typeface="Calibri"/>
            </a:endParaRPr>
          </a:p>
        </p:txBody>
      </p:sp>
      <p:sp>
        <p:nvSpPr>
          <p:cNvPr id="489" name="Google Shape;489;g3e92e6f0be2_0_402"/>
          <p:cNvSpPr/>
          <p:nvPr/>
        </p:nvSpPr>
        <p:spPr>
          <a:xfrm>
            <a:off x="5742432" y="3264408"/>
            <a:ext cx="3136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Fremont, CA  ·  Rookie: 2024</a:t>
            </a:r>
            <a:endParaRPr b="0" i="0" sz="1000" u="none" cap="none" strike="noStrike">
              <a:solidFill>
                <a:schemeClr val="dk1"/>
              </a:solidFill>
              <a:latin typeface="Calibri"/>
              <a:ea typeface="Calibri"/>
              <a:cs typeface="Calibri"/>
              <a:sym typeface="Calibri"/>
            </a:endParaRPr>
          </a:p>
        </p:txBody>
      </p:sp>
      <p:sp>
        <p:nvSpPr>
          <p:cNvPr id="490" name="Google Shape;490;g3e92e6f0be2_0_402"/>
          <p:cNvSpPr/>
          <p:nvPr/>
        </p:nvSpPr>
        <p:spPr>
          <a:xfrm>
            <a:off x="7772400" y="2926080"/>
            <a:ext cx="1115700" cy="255900"/>
          </a:xfrm>
          <a:prstGeom prst="rect">
            <a:avLst/>
          </a:prstGeom>
          <a:solidFill>
            <a:srgbClr val="8B1A1A"/>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g3e92e6f0be2_0_402"/>
          <p:cNvSpPr/>
          <p:nvPr/>
        </p:nvSpPr>
        <p:spPr>
          <a:xfrm>
            <a:off x="7772400" y="2926080"/>
            <a:ext cx="1115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RAPID RISE</a:t>
            </a:r>
            <a:endParaRPr b="0" i="0" sz="850" u="none" cap="none" strike="noStrike">
              <a:solidFill>
                <a:schemeClr val="dk1"/>
              </a:solidFill>
              <a:latin typeface="Calibri"/>
              <a:ea typeface="Calibri"/>
              <a:cs typeface="Calibri"/>
              <a:sym typeface="Calibri"/>
            </a:endParaRPr>
          </a:p>
        </p:txBody>
      </p:sp>
      <p:sp>
        <p:nvSpPr>
          <p:cNvPr id="492" name="Google Shape;492;g3e92e6f0be2_0_402"/>
          <p:cNvSpPr/>
          <p:nvPr/>
        </p:nvSpPr>
        <p:spPr>
          <a:xfrm>
            <a:off x="5742432" y="3538728"/>
            <a:ext cx="3136500" cy="124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One of FRC's most spectacular rookie-to-competitive trajectories. Founded 2024 at Basis Independent Fremont. First robot: 'Alt+F4' (2024). By 2026 — ranked #6 in NorCal, won Half Moon Bay and Silicon Valley regionals, reached NorCal District Championship Finals, reached Archimedes Division at Worlds. Sponsored by Google, Gene Haas Foundation, FIRST NorCal. Active in community STEM outreach from day one.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497" name="Shape 497"/>
        <p:cNvGrpSpPr/>
        <p:nvPr/>
      </p:nvGrpSpPr>
      <p:grpSpPr>
        <a:xfrm>
          <a:off x="0" y="0"/>
          <a:ext cx="0" cy="0"/>
          <a:chOff x="0" y="0"/>
          <a:chExt cx="0" cy="0"/>
        </a:xfrm>
      </p:grpSpPr>
      <p:sp>
        <p:nvSpPr>
          <p:cNvPr id="498" name="Google Shape;498;g3e92e6f0be2_0_449"/>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g3e92e6f0be2_0_449"/>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Bay Area Community Teams</a:t>
            </a:r>
            <a:endParaRPr b="0" i="0" sz="2100" u="none" cap="none" strike="noStrike">
              <a:solidFill>
                <a:schemeClr val="dk1"/>
              </a:solidFill>
              <a:latin typeface="Calibri"/>
              <a:ea typeface="Calibri"/>
              <a:cs typeface="Calibri"/>
              <a:sym typeface="Calibri"/>
            </a:endParaRPr>
          </a:p>
        </p:txBody>
      </p:sp>
      <p:sp>
        <p:nvSpPr>
          <p:cNvPr id="500" name="Google Shape;500;g3e92e6f0be2_0_449"/>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g3e92e6f0be2_0_449"/>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TEAMS</a:t>
            </a:r>
            <a:endParaRPr b="0" i="0" sz="1100" u="none" cap="none" strike="noStrike">
              <a:solidFill>
                <a:schemeClr val="dk1"/>
              </a:solidFill>
              <a:latin typeface="Calibri"/>
              <a:ea typeface="Calibri"/>
              <a:cs typeface="Calibri"/>
              <a:sym typeface="Calibri"/>
            </a:endParaRPr>
          </a:p>
        </p:txBody>
      </p:sp>
      <p:sp>
        <p:nvSpPr>
          <p:cNvPr id="502" name="Google Shape;502;g3e92e6f0be2_0_449"/>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g3e92e6f0be2_0_449"/>
          <p:cNvSpPr/>
          <p:nvPr/>
        </p:nvSpPr>
        <p:spPr>
          <a:xfrm>
            <a:off x="274320" y="749808"/>
            <a:ext cx="8595300" cy="402300"/>
          </a:xfrm>
          <a:prstGeom prst="rect">
            <a:avLst/>
          </a:prstGeom>
          <a:solidFill>
            <a:srgbClr val="1B3A6B">
              <a:alpha val="80000"/>
            </a:srgbClr>
          </a:solidFill>
          <a:ln cap="flat" cmpd="sng" w="12700">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3e92e6f0be2_0_449"/>
          <p:cNvSpPr/>
          <p:nvPr/>
        </p:nvSpPr>
        <p:spPr>
          <a:xfrm>
            <a:off x="411480" y="749808"/>
            <a:ext cx="8321100" cy="40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1" lang="en-US" sz="1100" u="none" cap="none" strike="noStrike">
                <a:solidFill>
                  <a:srgbClr val="FFFFFF"/>
                </a:solidFill>
                <a:latin typeface="Calibri"/>
                <a:ea typeface="Calibri"/>
                <a:cs typeface="Calibri"/>
                <a:sym typeface="Calibri"/>
              </a:rPr>
              <a:t>These teams represent FRC's community spirit — student-founded, multi-school, all-girls, or built from nothing. All based in the Bay Area.</a:t>
            </a:r>
            <a:endParaRPr b="0" i="0" sz="1100" u="none" cap="none" strike="noStrike">
              <a:solidFill>
                <a:schemeClr val="dk1"/>
              </a:solidFill>
              <a:latin typeface="Calibri"/>
              <a:ea typeface="Calibri"/>
              <a:cs typeface="Calibri"/>
              <a:sym typeface="Calibri"/>
            </a:endParaRPr>
          </a:p>
        </p:txBody>
      </p:sp>
      <p:sp>
        <p:nvSpPr>
          <p:cNvPr id="505" name="Google Shape;505;g3e92e6f0be2_0_449"/>
          <p:cNvSpPr/>
          <p:nvPr/>
        </p:nvSpPr>
        <p:spPr>
          <a:xfrm>
            <a:off x="274320" y="1243584"/>
            <a:ext cx="4251900" cy="18288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g3e92e6f0be2_0_449"/>
          <p:cNvSpPr/>
          <p:nvPr/>
        </p:nvSpPr>
        <p:spPr>
          <a:xfrm>
            <a:off x="274320" y="1243584"/>
            <a:ext cx="960000" cy="18288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g3e92e6f0be2_0_449"/>
          <p:cNvSpPr/>
          <p:nvPr/>
        </p:nvSpPr>
        <p:spPr>
          <a:xfrm>
            <a:off x="274320" y="1289304"/>
            <a:ext cx="9600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5419</a:t>
            </a:r>
            <a:endParaRPr b="0" i="0" sz="2200" u="none" cap="none" strike="noStrike">
              <a:solidFill>
                <a:schemeClr val="dk1"/>
              </a:solidFill>
              <a:latin typeface="Calibri"/>
              <a:ea typeface="Calibri"/>
              <a:cs typeface="Calibri"/>
              <a:sym typeface="Calibri"/>
            </a:endParaRPr>
          </a:p>
        </p:txBody>
      </p:sp>
      <p:sp>
        <p:nvSpPr>
          <p:cNvPr id="508" name="Google Shape;508;g3e92e6f0be2_0_449"/>
          <p:cNvSpPr/>
          <p:nvPr/>
        </p:nvSpPr>
        <p:spPr>
          <a:xfrm>
            <a:off x="274320" y="1901952"/>
            <a:ext cx="9600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0" lang="en-US" sz="800" u="none" cap="none" strike="noStrike">
                <a:solidFill>
                  <a:srgbClr val="D8E4F0"/>
                </a:solidFill>
                <a:latin typeface="Calibri"/>
                <a:ea typeface="Calibri"/>
                <a:cs typeface="Calibri"/>
                <a:sym typeface="Calibri"/>
              </a:rPr>
              <a:t>Berkelium</a:t>
            </a:r>
            <a:endParaRPr b="0" i="0" sz="800" u="none" cap="none" strike="noStrike">
              <a:solidFill>
                <a:schemeClr val="dk1"/>
              </a:solidFill>
              <a:latin typeface="Calibri"/>
              <a:ea typeface="Calibri"/>
              <a:cs typeface="Calibri"/>
              <a:sym typeface="Calibri"/>
            </a:endParaRPr>
          </a:p>
        </p:txBody>
      </p:sp>
      <p:sp>
        <p:nvSpPr>
          <p:cNvPr id="509" name="Google Shape;509;g3e92e6f0be2_0_449"/>
          <p:cNvSpPr/>
          <p:nvPr/>
        </p:nvSpPr>
        <p:spPr>
          <a:xfrm>
            <a:off x="1307592" y="1298448"/>
            <a:ext cx="31365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Berkelium</a:t>
            </a:r>
            <a:endParaRPr b="0" i="0" sz="1400" u="none" cap="none" strike="noStrike">
              <a:solidFill>
                <a:schemeClr val="dk1"/>
              </a:solidFill>
              <a:latin typeface="Calibri"/>
              <a:ea typeface="Calibri"/>
              <a:cs typeface="Calibri"/>
              <a:sym typeface="Calibri"/>
            </a:endParaRPr>
          </a:p>
        </p:txBody>
      </p:sp>
      <p:sp>
        <p:nvSpPr>
          <p:cNvPr id="510" name="Google Shape;510;g3e92e6f0be2_0_449"/>
          <p:cNvSpPr/>
          <p:nvPr/>
        </p:nvSpPr>
        <p:spPr>
          <a:xfrm>
            <a:off x="1307592" y="1627632"/>
            <a:ext cx="3136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Berkeley, CA (Berkeley High School)  ·  Rookie: 2015</a:t>
            </a:r>
            <a:endParaRPr b="0" i="0" sz="1000" u="none" cap="none" strike="noStrike">
              <a:solidFill>
                <a:schemeClr val="dk1"/>
              </a:solidFill>
              <a:latin typeface="Calibri"/>
              <a:ea typeface="Calibri"/>
              <a:cs typeface="Calibri"/>
              <a:sym typeface="Calibri"/>
            </a:endParaRPr>
          </a:p>
        </p:txBody>
      </p:sp>
      <p:sp>
        <p:nvSpPr>
          <p:cNvPr id="511" name="Google Shape;511;g3e92e6f0be2_0_449"/>
          <p:cNvSpPr/>
          <p:nvPr/>
        </p:nvSpPr>
        <p:spPr>
          <a:xfrm>
            <a:off x="3337560" y="1289304"/>
            <a:ext cx="1115700" cy="255900"/>
          </a:xfrm>
          <a:prstGeom prst="rect">
            <a:avLst/>
          </a:prstGeom>
          <a:solidFill>
            <a:srgbClr val="1E5C2E"/>
          </a:solidFill>
          <a:ln cap="flat" cmpd="sng" w="12700">
            <a:solidFill>
              <a:srgbClr val="1E5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g3e92e6f0be2_0_449"/>
          <p:cNvSpPr/>
          <p:nvPr/>
        </p:nvSpPr>
        <p:spPr>
          <a:xfrm>
            <a:off x="3337560" y="1289304"/>
            <a:ext cx="1115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2023 WORLDS WINNER</a:t>
            </a:r>
            <a:endParaRPr b="0" i="0" sz="850" u="none" cap="none" strike="noStrike">
              <a:solidFill>
                <a:schemeClr val="dk1"/>
              </a:solidFill>
              <a:latin typeface="Calibri"/>
              <a:ea typeface="Calibri"/>
              <a:cs typeface="Calibri"/>
              <a:sym typeface="Calibri"/>
            </a:endParaRPr>
          </a:p>
        </p:txBody>
      </p:sp>
      <p:sp>
        <p:nvSpPr>
          <p:cNvPr id="513" name="Google Shape;513;g3e92e6f0be2_0_449"/>
          <p:cNvSpPr/>
          <p:nvPr/>
        </p:nvSpPr>
        <p:spPr>
          <a:xfrm>
            <a:off x="1307592" y="1901952"/>
            <a:ext cx="3136500" cy="107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Named after element 97 — berkelium — discovered at UC Berkeley. Won the 2023 Milstein Division at Worlds as a third pick, one of FRC's biggest Cinderella stories that year. Supported by Google, Bayer, Berkeley Public Schools Fund, and Berkeley Rotary Club. Open to any BHS student regardless of technical background. Sister team to Bearium (5499) across campus.</a:t>
            </a:r>
            <a:endParaRPr b="0" i="0" sz="1050" u="none" cap="none" strike="noStrike">
              <a:solidFill>
                <a:schemeClr val="dk1"/>
              </a:solidFill>
              <a:latin typeface="Calibri"/>
              <a:ea typeface="Calibri"/>
              <a:cs typeface="Calibri"/>
              <a:sym typeface="Calibri"/>
            </a:endParaRPr>
          </a:p>
        </p:txBody>
      </p:sp>
      <p:sp>
        <p:nvSpPr>
          <p:cNvPr id="514" name="Google Shape;514;g3e92e6f0be2_0_449"/>
          <p:cNvSpPr/>
          <p:nvPr/>
        </p:nvSpPr>
        <p:spPr>
          <a:xfrm>
            <a:off x="4709160" y="1243584"/>
            <a:ext cx="4251900" cy="18288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g3e92e6f0be2_0_449"/>
          <p:cNvSpPr/>
          <p:nvPr/>
        </p:nvSpPr>
        <p:spPr>
          <a:xfrm>
            <a:off x="4709160" y="1243584"/>
            <a:ext cx="960000" cy="1828800"/>
          </a:xfrm>
          <a:prstGeom prst="rect">
            <a:avLst/>
          </a:prstGeom>
          <a:solidFill>
            <a:srgbClr val="4A2080"/>
          </a:solidFill>
          <a:ln cap="flat" cmpd="sng" w="12700">
            <a:solidFill>
              <a:srgbClr val="4A20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g3e92e6f0be2_0_449"/>
          <p:cNvSpPr/>
          <p:nvPr/>
        </p:nvSpPr>
        <p:spPr>
          <a:xfrm>
            <a:off x="4709160" y="1289304"/>
            <a:ext cx="9600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5499</a:t>
            </a:r>
            <a:endParaRPr b="0" i="0" sz="2200" u="none" cap="none" strike="noStrike">
              <a:solidFill>
                <a:schemeClr val="dk1"/>
              </a:solidFill>
              <a:latin typeface="Calibri"/>
              <a:ea typeface="Calibri"/>
              <a:cs typeface="Calibri"/>
              <a:sym typeface="Calibri"/>
            </a:endParaRPr>
          </a:p>
        </p:txBody>
      </p:sp>
      <p:sp>
        <p:nvSpPr>
          <p:cNvPr id="517" name="Google Shape;517;g3e92e6f0be2_0_449"/>
          <p:cNvSpPr/>
          <p:nvPr/>
        </p:nvSpPr>
        <p:spPr>
          <a:xfrm>
            <a:off x="4709160" y="1901952"/>
            <a:ext cx="9600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0" lang="en-US" sz="800" u="none" cap="none" strike="noStrike">
                <a:solidFill>
                  <a:srgbClr val="D8E4F0"/>
                </a:solidFill>
                <a:latin typeface="Calibri"/>
                <a:ea typeface="Calibri"/>
                <a:cs typeface="Calibri"/>
                <a:sym typeface="Calibri"/>
              </a:rPr>
              <a:t>Bearium</a:t>
            </a:r>
            <a:endParaRPr b="0" i="0" sz="800" u="none" cap="none" strike="noStrike">
              <a:solidFill>
                <a:schemeClr val="dk1"/>
              </a:solidFill>
              <a:latin typeface="Calibri"/>
              <a:ea typeface="Calibri"/>
              <a:cs typeface="Calibri"/>
              <a:sym typeface="Calibri"/>
            </a:endParaRPr>
          </a:p>
        </p:txBody>
      </p:sp>
      <p:sp>
        <p:nvSpPr>
          <p:cNvPr id="518" name="Google Shape;518;g3e92e6f0be2_0_449"/>
          <p:cNvSpPr/>
          <p:nvPr/>
        </p:nvSpPr>
        <p:spPr>
          <a:xfrm>
            <a:off x="5742432" y="1298448"/>
            <a:ext cx="31365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Bearium</a:t>
            </a:r>
            <a:endParaRPr b="0" i="0" sz="1400" u="none" cap="none" strike="noStrike">
              <a:solidFill>
                <a:schemeClr val="dk1"/>
              </a:solidFill>
              <a:latin typeface="Calibri"/>
              <a:ea typeface="Calibri"/>
              <a:cs typeface="Calibri"/>
              <a:sym typeface="Calibri"/>
            </a:endParaRPr>
          </a:p>
        </p:txBody>
      </p:sp>
      <p:sp>
        <p:nvSpPr>
          <p:cNvPr id="519" name="Google Shape;519;g3e92e6f0be2_0_449"/>
          <p:cNvSpPr/>
          <p:nvPr/>
        </p:nvSpPr>
        <p:spPr>
          <a:xfrm>
            <a:off x="5742432" y="1627632"/>
            <a:ext cx="3136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Berkeley, CA (Berkeley High School)  ·  Rookie: 2015</a:t>
            </a:r>
            <a:endParaRPr b="0" i="0" sz="1000" u="none" cap="none" strike="noStrike">
              <a:solidFill>
                <a:schemeClr val="dk1"/>
              </a:solidFill>
              <a:latin typeface="Calibri"/>
              <a:ea typeface="Calibri"/>
              <a:cs typeface="Calibri"/>
              <a:sym typeface="Calibri"/>
            </a:endParaRPr>
          </a:p>
        </p:txBody>
      </p:sp>
      <p:sp>
        <p:nvSpPr>
          <p:cNvPr id="520" name="Google Shape;520;g3e92e6f0be2_0_449"/>
          <p:cNvSpPr/>
          <p:nvPr/>
        </p:nvSpPr>
        <p:spPr>
          <a:xfrm>
            <a:off x="7772400" y="1289304"/>
            <a:ext cx="1115700" cy="2559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g3e92e6f0be2_0_449"/>
          <p:cNvSpPr/>
          <p:nvPr/>
        </p:nvSpPr>
        <p:spPr>
          <a:xfrm>
            <a:off x="7772400" y="1289304"/>
            <a:ext cx="1115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SISTER TEAM</a:t>
            </a:r>
            <a:endParaRPr b="0" i="0" sz="850" u="none" cap="none" strike="noStrike">
              <a:solidFill>
                <a:schemeClr val="dk1"/>
              </a:solidFill>
              <a:latin typeface="Calibri"/>
              <a:ea typeface="Calibri"/>
              <a:cs typeface="Calibri"/>
              <a:sym typeface="Calibri"/>
            </a:endParaRPr>
          </a:p>
        </p:txBody>
      </p:sp>
      <p:sp>
        <p:nvSpPr>
          <p:cNvPr id="522" name="Google Shape;522;g3e92e6f0be2_0_449"/>
          <p:cNvSpPr/>
          <p:nvPr/>
        </p:nvSpPr>
        <p:spPr>
          <a:xfrm>
            <a:off x="5742432" y="1901952"/>
            <a:ext cx="3136500" cy="107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Berkeley High's second FRC team — Bearium, named after the element Beryllium with a Berkeley twist. Founded from the original BHS robotics program alongside 5419. The two teams share a school, sometimes a shop, and a fierce friendly rivalry. Bearium competes in the FIRST California District. Both teams are supported by NASA Robotics Alliance Project and UC Berkeley community partnerships.</a:t>
            </a:r>
            <a:endParaRPr b="0" i="0" sz="1050" u="none" cap="none" strike="noStrike">
              <a:solidFill>
                <a:schemeClr val="dk1"/>
              </a:solidFill>
              <a:latin typeface="Calibri"/>
              <a:ea typeface="Calibri"/>
              <a:cs typeface="Calibri"/>
              <a:sym typeface="Calibri"/>
            </a:endParaRPr>
          </a:p>
        </p:txBody>
      </p:sp>
      <p:sp>
        <p:nvSpPr>
          <p:cNvPr id="523" name="Google Shape;523;g3e92e6f0be2_0_449"/>
          <p:cNvSpPr/>
          <p:nvPr/>
        </p:nvSpPr>
        <p:spPr>
          <a:xfrm>
            <a:off x="274320" y="3182112"/>
            <a:ext cx="4251900" cy="18288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g3e92e6f0be2_0_449"/>
          <p:cNvSpPr/>
          <p:nvPr/>
        </p:nvSpPr>
        <p:spPr>
          <a:xfrm>
            <a:off x="274320" y="3182112"/>
            <a:ext cx="960000" cy="1828800"/>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g3e92e6f0be2_0_449"/>
          <p:cNvSpPr/>
          <p:nvPr/>
        </p:nvSpPr>
        <p:spPr>
          <a:xfrm>
            <a:off x="274320" y="3227832"/>
            <a:ext cx="9600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9038</a:t>
            </a:r>
            <a:endParaRPr b="0" i="0" sz="2200" u="none" cap="none" strike="noStrike">
              <a:solidFill>
                <a:schemeClr val="dk1"/>
              </a:solidFill>
              <a:latin typeface="Calibri"/>
              <a:ea typeface="Calibri"/>
              <a:cs typeface="Calibri"/>
              <a:sym typeface="Calibri"/>
            </a:endParaRPr>
          </a:p>
        </p:txBody>
      </p:sp>
      <p:sp>
        <p:nvSpPr>
          <p:cNvPr id="526" name="Google Shape;526;g3e92e6f0be2_0_449"/>
          <p:cNvSpPr/>
          <p:nvPr/>
        </p:nvSpPr>
        <p:spPr>
          <a:xfrm>
            <a:off x="274320" y="3840480"/>
            <a:ext cx="9600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0" lang="en-US" sz="800" u="none" cap="none" strike="noStrike">
                <a:solidFill>
                  <a:srgbClr val="D8E4F0"/>
                </a:solidFill>
                <a:latin typeface="Calibri"/>
                <a:ea typeface="Calibri"/>
                <a:cs typeface="Calibri"/>
                <a:sym typeface="Calibri"/>
              </a:rPr>
              <a:t>SF UNITY</a:t>
            </a:r>
            <a:endParaRPr b="0" i="0" sz="800" u="none" cap="none" strike="noStrike">
              <a:solidFill>
                <a:schemeClr val="dk1"/>
              </a:solidFill>
              <a:latin typeface="Calibri"/>
              <a:ea typeface="Calibri"/>
              <a:cs typeface="Calibri"/>
              <a:sym typeface="Calibri"/>
            </a:endParaRPr>
          </a:p>
        </p:txBody>
      </p:sp>
      <p:sp>
        <p:nvSpPr>
          <p:cNvPr id="527" name="Google Shape;527;g3e92e6f0be2_0_449"/>
          <p:cNvSpPr/>
          <p:nvPr/>
        </p:nvSpPr>
        <p:spPr>
          <a:xfrm>
            <a:off x="1307592" y="3236976"/>
            <a:ext cx="31365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SF UNITY</a:t>
            </a:r>
            <a:endParaRPr b="0" i="0" sz="1400" u="none" cap="none" strike="noStrike">
              <a:solidFill>
                <a:schemeClr val="dk1"/>
              </a:solidFill>
              <a:latin typeface="Calibri"/>
              <a:ea typeface="Calibri"/>
              <a:cs typeface="Calibri"/>
              <a:sym typeface="Calibri"/>
            </a:endParaRPr>
          </a:p>
        </p:txBody>
      </p:sp>
      <p:sp>
        <p:nvSpPr>
          <p:cNvPr id="528" name="Google Shape;528;g3e92e6f0be2_0_449"/>
          <p:cNvSpPr/>
          <p:nvPr/>
        </p:nvSpPr>
        <p:spPr>
          <a:xfrm>
            <a:off x="1307592" y="3566160"/>
            <a:ext cx="3136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San Francisco, CA  ·  Rookie: 2023</a:t>
            </a:r>
            <a:endParaRPr b="0" i="0" sz="1000" u="none" cap="none" strike="noStrike">
              <a:solidFill>
                <a:schemeClr val="dk1"/>
              </a:solidFill>
              <a:latin typeface="Calibri"/>
              <a:ea typeface="Calibri"/>
              <a:cs typeface="Calibri"/>
              <a:sym typeface="Calibri"/>
            </a:endParaRPr>
          </a:p>
        </p:txBody>
      </p:sp>
      <p:sp>
        <p:nvSpPr>
          <p:cNvPr id="529" name="Google Shape;529;g3e92e6f0be2_0_449"/>
          <p:cNvSpPr/>
          <p:nvPr/>
        </p:nvSpPr>
        <p:spPr>
          <a:xfrm>
            <a:off x="3337560" y="3227832"/>
            <a:ext cx="1115700" cy="2559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g3e92e6f0be2_0_449"/>
          <p:cNvSpPr/>
          <p:nvPr/>
        </p:nvSpPr>
        <p:spPr>
          <a:xfrm>
            <a:off x="3337560" y="3227832"/>
            <a:ext cx="1115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STUDENT-FOUNDED</a:t>
            </a:r>
            <a:endParaRPr b="0" i="0" sz="850" u="none" cap="none" strike="noStrike">
              <a:solidFill>
                <a:schemeClr val="dk1"/>
              </a:solidFill>
              <a:latin typeface="Calibri"/>
              <a:ea typeface="Calibri"/>
              <a:cs typeface="Calibri"/>
              <a:sym typeface="Calibri"/>
            </a:endParaRPr>
          </a:p>
        </p:txBody>
      </p:sp>
      <p:sp>
        <p:nvSpPr>
          <p:cNvPr id="531" name="Google Shape;531;g3e92e6f0be2_0_449"/>
          <p:cNvSpPr/>
          <p:nvPr/>
        </p:nvSpPr>
        <p:spPr>
          <a:xfrm>
            <a:off x="1307592" y="3840480"/>
            <a:ext cx="3136500" cy="107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Founded by two high schoolers with an unusual idea: instead of a single-school team, unite students from across San Francisco's many high schools. Fully student-led in every aspect: robot design, programming, fundraising, logistics, and outreach. Mission: make STEM accessible to all SF youth regardless of school, background, or experience level. Growing rapidly since their 2023 debut.</a:t>
            </a:r>
            <a:endParaRPr b="0" i="0" sz="1050" u="none" cap="none" strike="noStrike">
              <a:solidFill>
                <a:schemeClr val="dk1"/>
              </a:solidFill>
              <a:latin typeface="Calibri"/>
              <a:ea typeface="Calibri"/>
              <a:cs typeface="Calibri"/>
              <a:sym typeface="Calibri"/>
            </a:endParaRPr>
          </a:p>
        </p:txBody>
      </p:sp>
      <p:sp>
        <p:nvSpPr>
          <p:cNvPr id="532" name="Google Shape;532;g3e92e6f0be2_0_449"/>
          <p:cNvSpPr/>
          <p:nvPr/>
        </p:nvSpPr>
        <p:spPr>
          <a:xfrm>
            <a:off x="4709160" y="3182112"/>
            <a:ext cx="4251900" cy="18288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g3e92e6f0be2_0_449"/>
          <p:cNvSpPr/>
          <p:nvPr/>
        </p:nvSpPr>
        <p:spPr>
          <a:xfrm>
            <a:off x="4709160" y="3182112"/>
            <a:ext cx="960000" cy="18288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g3e92e6f0be2_0_449"/>
          <p:cNvSpPr/>
          <p:nvPr/>
        </p:nvSpPr>
        <p:spPr>
          <a:xfrm>
            <a:off x="4709160" y="3227832"/>
            <a:ext cx="960000" cy="59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6418</a:t>
            </a:r>
            <a:endParaRPr b="0" i="0" sz="2200" u="none" cap="none" strike="noStrike">
              <a:solidFill>
                <a:schemeClr val="dk1"/>
              </a:solidFill>
              <a:latin typeface="Calibri"/>
              <a:ea typeface="Calibri"/>
              <a:cs typeface="Calibri"/>
              <a:sym typeface="Calibri"/>
            </a:endParaRPr>
          </a:p>
        </p:txBody>
      </p:sp>
      <p:sp>
        <p:nvSpPr>
          <p:cNvPr id="535" name="Google Shape;535;g3e92e6f0be2_0_449"/>
          <p:cNvSpPr/>
          <p:nvPr/>
        </p:nvSpPr>
        <p:spPr>
          <a:xfrm>
            <a:off x="4709160" y="3840480"/>
            <a:ext cx="9600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0" lang="en-US" sz="800" u="none" cap="none" strike="noStrike">
                <a:solidFill>
                  <a:srgbClr val="D8E4F0"/>
                </a:solidFill>
                <a:latin typeface="Calibri"/>
                <a:ea typeface="Calibri"/>
                <a:cs typeface="Calibri"/>
                <a:sym typeface="Calibri"/>
              </a:rPr>
              <a:t>Missfits</a:t>
            </a:r>
            <a:endParaRPr b="0" i="0" sz="800" u="none" cap="none" strike="noStrike">
              <a:solidFill>
                <a:schemeClr val="dk1"/>
              </a:solidFill>
              <a:latin typeface="Calibri"/>
              <a:ea typeface="Calibri"/>
              <a:cs typeface="Calibri"/>
              <a:sym typeface="Calibri"/>
            </a:endParaRPr>
          </a:p>
        </p:txBody>
      </p:sp>
      <p:sp>
        <p:nvSpPr>
          <p:cNvPr id="536" name="Google Shape;536;g3e92e6f0be2_0_449"/>
          <p:cNvSpPr/>
          <p:nvPr/>
        </p:nvSpPr>
        <p:spPr>
          <a:xfrm>
            <a:off x="5742432" y="3236976"/>
            <a:ext cx="31365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400"/>
              <a:buFont typeface="Calibri"/>
              <a:buNone/>
            </a:pPr>
            <a:r>
              <a:rPr b="1" i="0" lang="en-US" sz="1400" u="none" cap="none" strike="noStrike">
                <a:solidFill>
                  <a:srgbClr val="0D1B2A"/>
                </a:solidFill>
                <a:latin typeface="Calibri"/>
                <a:ea typeface="Calibri"/>
                <a:cs typeface="Calibri"/>
                <a:sym typeface="Calibri"/>
              </a:rPr>
              <a:t>Missfits</a:t>
            </a:r>
            <a:endParaRPr b="0" i="0" sz="1400" u="none" cap="none" strike="noStrike">
              <a:solidFill>
                <a:schemeClr val="dk1"/>
              </a:solidFill>
              <a:latin typeface="Calibri"/>
              <a:ea typeface="Calibri"/>
              <a:cs typeface="Calibri"/>
              <a:sym typeface="Calibri"/>
            </a:endParaRPr>
          </a:p>
        </p:txBody>
      </p:sp>
      <p:sp>
        <p:nvSpPr>
          <p:cNvPr id="537" name="Google Shape;537;g3e92e6f0be2_0_449"/>
          <p:cNvSpPr/>
          <p:nvPr/>
        </p:nvSpPr>
        <p:spPr>
          <a:xfrm>
            <a:off x="5742432" y="3566160"/>
            <a:ext cx="31365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San Francisco, CA  ·  Rookie: 2017</a:t>
            </a:r>
            <a:endParaRPr b="0" i="0" sz="1000" u="none" cap="none" strike="noStrike">
              <a:solidFill>
                <a:schemeClr val="dk1"/>
              </a:solidFill>
              <a:latin typeface="Calibri"/>
              <a:ea typeface="Calibri"/>
              <a:cs typeface="Calibri"/>
              <a:sym typeface="Calibri"/>
            </a:endParaRPr>
          </a:p>
        </p:txBody>
      </p:sp>
      <p:sp>
        <p:nvSpPr>
          <p:cNvPr id="538" name="Google Shape;538;g3e92e6f0be2_0_449"/>
          <p:cNvSpPr/>
          <p:nvPr/>
        </p:nvSpPr>
        <p:spPr>
          <a:xfrm>
            <a:off x="7772400" y="3227832"/>
            <a:ext cx="1115700" cy="255900"/>
          </a:xfrm>
          <a:prstGeom prst="rect">
            <a:avLst/>
          </a:prstGeom>
          <a:solidFill>
            <a:srgbClr val="4A1E8B"/>
          </a:solidFill>
          <a:ln cap="flat" cmpd="sng" w="12700">
            <a:solidFill>
              <a:srgbClr val="4A1E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e92e6f0be2_0_449"/>
          <p:cNvSpPr/>
          <p:nvPr/>
        </p:nvSpPr>
        <p:spPr>
          <a:xfrm>
            <a:off x="7772400" y="3227832"/>
            <a:ext cx="11157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ALL-FEMALE TEAM</a:t>
            </a:r>
            <a:endParaRPr b="0" i="0" sz="850" u="none" cap="none" strike="noStrike">
              <a:solidFill>
                <a:schemeClr val="dk1"/>
              </a:solidFill>
              <a:latin typeface="Calibri"/>
              <a:ea typeface="Calibri"/>
              <a:cs typeface="Calibri"/>
              <a:sym typeface="Calibri"/>
            </a:endParaRPr>
          </a:p>
        </p:txBody>
      </p:sp>
      <p:sp>
        <p:nvSpPr>
          <p:cNvPr id="540" name="Google Shape;540;g3e92e6f0be2_0_449"/>
          <p:cNvSpPr/>
          <p:nvPr/>
        </p:nvSpPr>
        <p:spPr>
          <a:xfrm>
            <a:off x="5742432" y="3840480"/>
            <a:ext cx="3136500" cy="107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All-female SF community team with an incredible origin: first robot built in a home garage using recycled bed frames and vintage bike parts. Rookie year: won Highest Rookie Seed (rank 8 of 60), semifinalists, Rookie All-Star. Later won the Silicon Valley Regional outright. Multiple Championship appearances. A testament to what resourcefulness + determination builds in six weeks.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6B"/>
        </a:solidFill>
      </p:bgPr>
    </p:bg>
    <p:spTree>
      <p:nvGrpSpPr>
        <p:cNvPr id="545" name="Shape 545"/>
        <p:cNvGrpSpPr/>
        <p:nvPr/>
      </p:nvGrpSpPr>
      <p:grpSpPr>
        <a:xfrm>
          <a:off x="0" y="0"/>
          <a:ext cx="0" cy="0"/>
          <a:chOff x="0" y="0"/>
          <a:chExt cx="0" cy="0"/>
        </a:xfrm>
      </p:grpSpPr>
      <p:sp>
        <p:nvSpPr>
          <p:cNvPr id="546" name="Google Shape;546;p14"/>
          <p:cNvSpPr/>
          <p:nvPr/>
        </p:nvSpPr>
        <p:spPr>
          <a:xfrm>
            <a:off x="0" y="0"/>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4"/>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4"/>
          <p:cNvSpPr/>
          <p:nvPr/>
        </p:nvSpPr>
        <p:spPr>
          <a:xfrm>
            <a:off x="731520" y="1371600"/>
            <a:ext cx="76809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Current Meta &amp;</a:t>
            </a:r>
            <a:endParaRPr b="0" i="0" sz="4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Open Alliance</a:t>
            </a:r>
            <a:endParaRPr b="0" i="0" sz="4200" u="none" cap="none" strike="noStrike">
              <a:solidFill>
                <a:schemeClr val="dk1"/>
              </a:solidFill>
              <a:latin typeface="Calibri"/>
              <a:ea typeface="Calibri"/>
              <a:cs typeface="Calibri"/>
              <a:sym typeface="Calibri"/>
            </a:endParaRPr>
          </a:p>
        </p:txBody>
      </p:sp>
      <p:sp>
        <p:nvSpPr>
          <p:cNvPr id="549" name="Google Shape;549;p14"/>
          <p:cNvSpPr/>
          <p:nvPr/>
        </p:nvSpPr>
        <p:spPr>
          <a:xfrm>
            <a:off x="914400" y="2926080"/>
            <a:ext cx="73152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500"/>
              <a:buFont typeface="Calibri"/>
              <a:buNone/>
            </a:pPr>
            <a:r>
              <a:rPr b="0" i="1" lang="en-US" sz="1500" u="none" cap="none" strike="noStrike">
                <a:solidFill>
                  <a:srgbClr val="D8E4F0"/>
                </a:solidFill>
                <a:latin typeface="Calibri"/>
                <a:ea typeface="Calibri"/>
                <a:cs typeface="Calibri"/>
                <a:sym typeface="Calibri"/>
              </a:rPr>
              <a:t>How the top teams share their designs — and what makes them impossible to beat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554" name="Shape 554"/>
        <p:cNvGrpSpPr/>
        <p:nvPr/>
      </p:nvGrpSpPr>
      <p:grpSpPr>
        <a:xfrm>
          <a:off x="0" y="0"/>
          <a:ext cx="0" cy="0"/>
          <a:chOff x="0" y="0"/>
          <a:chExt cx="0" cy="0"/>
        </a:xfrm>
      </p:grpSpPr>
      <p:sp>
        <p:nvSpPr>
          <p:cNvPr id="555" name="Google Shape;555;p15"/>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5"/>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What the Top Teams Do Differently</a:t>
            </a:r>
            <a:endParaRPr b="0" i="0" sz="2100" u="none" cap="none" strike="noStrike">
              <a:solidFill>
                <a:schemeClr val="dk1"/>
              </a:solidFill>
              <a:latin typeface="Calibri"/>
              <a:ea typeface="Calibri"/>
              <a:cs typeface="Calibri"/>
              <a:sym typeface="Calibri"/>
            </a:endParaRPr>
          </a:p>
        </p:txBody>
      </p:sp>
      <p:sp>
        <p:nvSpPr>
          <p:cNvPr id="557" name="Google Shape;557;p15"/>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COMPETITIVE META</a:t>
            </a:r>
            <a:endParaRPr b="0" i="0" sz="1100" u="none" cap="none" strike="noStrike">
              <a:solidFill>
                <a:schemeClr val="dk1"/>
              </a:solidFill>
              <a:latin typeface="Calibri"/>
              <a:ea typeface="Calibri"/>
              <a:cs typeface="Calibri"/>
              <a:sym typeface="Calibri"/>
            </a:endParaRPr>
          </a:p>
        </p:txBody>
      </p:sp>
      <p:sp>
        <p:nvSpPr>
          <p:cNvPr id="559" name="Google Shape;559;p15"/>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5"/>
          <p:cNvSpPr/>
          <p:nvPr/>
        </p:nvSpPr>
        <p:spPr>
          <a:xfrm>
            <a:off x="457200" y="7772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At the elite level, every top team uses swerve, vision-based autonomous, and continuous data logging. The gap is not in hardware — it's in software maturity, driver practice, and scouting depth.</a:t>
            </a:r>
            <a:endParaRPr b="0" i="0" sz="1300" u="none" cap="none" strike="noStrike">
              <a:solidFill>
                <a:schemeClr val="dk1"/>
              </a:solidFill>
              <a:latin typeface="Calibri"/>
              <a:ea typeface="Calibri"/>
              <a:cs typeface="Calibri"/>
              <a:sym typeface="Calibri"/>
            </a:endParaRPr>
          </a:p>
        </p:txBody>
      </p:sp>
      <p:sp>
        <p:nvSpPr>
          <p:cNvPr id="561" name="Google Shape;561;p15"/>
          <p:cNvSpPr/>
          <p:nvPr/>
        </p:nvSpPr>
        <p:spPr>
          <a:xfrm>
            <a:off x="274320" y="1463040"/>
            <a:ext cx="2816352" cy="157276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5"/>
          <p:cNvSpPr/>
          <p:nvPr/>
        </p:nvSpPr>
        <p:spPr>
          <a:xfrm>
            <a:off x="274320" y="1463040"/>
            <a:ext cx="2816352" cy="34747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5"/>
          <p:cNvSpPr/>
          <p:nvPr/>
        </p:nvSpPr>
        <p:spPr>
          <a:xfrm>
            <a:off x="365760" y="1463040"/>
            <a:ext cx="263347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  Swerve Drive (Universal)</a:t>
            </a:r>
            <a:endParaRPr b="0" i="0" sz="1150" u="none" cap="none" strike="noStrike">
              <a:solidFill>
                <a:schemeClr val="dk1"/>
              </a:solidFill>
              <a:latin typeface="Calibri"/>
              <a:ea typeface="Calibri"/>
              <a:cs typeface="Calibri"/>
              <a:sym typeface="Calibri"/>
            </a:endParaRPr>
          </a:p>
        </p:txBody>
      </p:sp>
      <p:sp>
        <p:nvSpPr>
          <p:cNvPr id="564" name="Google Shape;564;p15"/>
          <p:cNvSpPr/>
          <p:nvPr/>
        </p:nvSpPr>
        <p:spPr>
          <a:xfrm>
            <a:off x="365760" y="1865376"/>
            <a:ext cx="2633472"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SDS MK4i or MK5n with Kraken X60 motors is the near-universal standard. Any team not running swerve is at a mobility disadvantage in most modern games.</a:t>
            </a:r>
            <a:endParaRPr b="0" i="0" sz="1100" u="none" cap="none" strike="noStrike">
              <a:solidFill>
                <a:schemeClr val="dk1"/>
              </a:solidFill>
              <a:latin typeface="Calibri"/>
              <a:ea typeface="Calibri"/>
              <a:cs typeface="Calibri"/>
              <a:sym typeface="Calibri"/>
            </a:endParaRPr>
          </a:p>
        </p:txBody>
      </p:sp>
      <p:sp>
        <p:nvSpPr>
          <p:cNvPr id="565" name="Google Shape;565;p15"/>
          <p:cNvSpPr/>
          <p:nvPr/>
        </p:nvSpPr>
        <p:spPr>
          <a:xfrm>
            <a:off x="3218688" y="1463040"/>
            <a:ext cx="2816352" cy="157276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5"/>
          <p:cNvSpPr/>
          <p:nvPr/>
        </p:nvSpPr>
        <p:spPr>
          <a:xfrm>
            <a:off x="3218688" y="1463040"/>
            <a:ext cx="2816352" cy="34747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5"/>
          <p:cNvSpPr/>
          <p:nvPr/>
        </p:nvSpPr>
        <p:spPr>
          <a:xfrm>
            <a:off x="3310128" y="1463040"/>
            <a:ext cx="263347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  AprilTag Vision Localization</a:t>
            </a:r>
            <a:endParaRPr b="0" i="0" sz="1150" u="none" cap="none" strike="noStrike">
              <a:solidFill>
                <a:schemeClr val="dk1"/>
              </a:solidFill>
              <a:latin typeface="Calibri"/>
              <a:ea typeface="Calibri"/>
              <a:cs typeface="Calibri"/>
              <a:sym typeface="Calibri"/>
            </a:endParaRPr>
          </a:p>
        </p:txBody>
      </p:sp>
      <p:sp>
        <p:nvSpPr>
          <p:cNvPr id="568" name="Google Shape;568;p15"/>
          <p:cNvSpPr/>
          <p:nvPr/>
        </p:nvSpPr>
        <p:spPr>
          <a:xfrm>
            <a:off x="3310128" y="1865376"/>
            <a:ext cx="2633472"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Limelight 3/4 or PhotonVision cameras on all corners of the robot. Full field-relative positioning updated 50+ times per second. Enables repeatable, precise auto paths.</a:t>
            </a:r>
            <a:endParaRPr b="0" i="0" sz="1100" u="none" cap="none" strike="noStrike">
              <a:solidFill>
                <a:schemeClr val="dk1"/>
              </a:solidFill>
              <a:latin typeface="Calibri"/>
              <a:ea typeface="Calibri"/>
              <a:cs typeface="Calibri"/>
              <a:sym typeface="Calibri"/>
            </a:endParaRPr>
          </a:p>
        </p:txBody>
      </p:sp>
      <p:sp>
        <p:nvSpPr>
          <p:cNvPr id="569" name="Google Shape;569;p15"/>
          <p:cNvSpPr/>
          <p:nvPr/>
        </p:nvSpPr>
        <p:spPr>
          <a:xfrm>
            <a:off x="6163056" y="1463040"/>
            <a:ext cx="2816352" cy="157276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5"/>
          <p:cNvSpPr/>
          <p:nvPr/>
        </p:nvSpPr>
        <p:spPr>
          <a:xfrm>
            <a:off x="6163056" y="1463040"/>
            <a:ext cx="2816352" cy="34747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5"/>
          <p:cNvSpPr/>
          <p:nvPr/>
        </p:nvSpPr>
        <p:spPr>
          <a:xfrm>
            <a:off x="6254496" y="1463040"/>
            <a:ext cx="263347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  PathPlanner / Choreo Auto</a:t>
            </a:r>
            <a:endParaRPr b="0" i="0" sz="1150" u="none" cap="none" strike="noStrike">
              <a:solidFill>
                <a:schemeClr val="dk1"/>
              </a:solidFill>
              <a:latin typeface="Calibri"/>
              <a:ea typeface="Calibri"/>
              <a:cs typeface="Calibri"/>
              <a:sym typeface="Calibri"/>
            </a:endParaRPr>
          </a:p>
        </p:txBody>
      </p:sp>
      <p:sp>
        <p:nvSpPr>
          <p:cNvPr id="572" name="Google Shape;572;p15"/>
          <p:cNvSpPr/>
          <p:nvPr/>
        </p:nvSpPr>
        <p:spPr>
          <a:xfrm>
            <a:off x="6254496" y="1865376"/>
            <a:ext cx="2633472"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Pre-planned autonomous paths with time-optimal trajectories. Top teams run 3–5 game piece autos with 95%+ consistency. Auto points often decide playoff seeding.</a:t>
            </a:r>
            <a:endParaRPr b="0" i="0" sz="1100" u="none" cap="none" strike="noStrike">
              <a:solidFill>
                <a:schemeClr val="dk1"/>
              </a:solidFill>
              <a:latin typeface="Calibri"/>
              <a:ea typeface="Calibri"/>
              <a:cs typeface="Calibri"/>
              <a:sym typeface="Calibri"/>
            </a:endParaRPr>
          </a:p>
        </p:txBody>
      </p:sp>
      <p:sp>
        <p:nvSpPr>
          <p:cNvPr id="573" name="Google Shape;573;p15"/>
          <p:cNvSpPr/>
          <p:nvPr/>
        </p:nvSpPr>
        <p:spPr>
          <a:xfrm>
            <a:off x="274320" y="3154680"/>
            <a:ext cx="2816352" cy="157276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5"/>
          <p:cNvSpPr/>
          <p:nvPr/>
        </p:nvSpPr>
        <p:spPr>
          <a:xfrm>
            <a:off x="274320" y="3154680"/>
            <a:ext cx="2816352" cy="34747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5"/>
          <p:cNvSpPr/>
          <p:nvPr/>
        </p:nvSpPr>
        <p:spPr>
          <a:xfrm>
            <a:off x="365760" y="3154680"/>
            <a:ext cx="263347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  AdvantageKit Logging</a:t>
            </a:r>
            <a:endParaRPr b="0" i="0" sz="1150" u="none" cap="none" strike="noStrike">
              <a:solidFill>
                <a:schemeClr val="dk1"/>
              </a:solidFill>
              <a:latin typeface="Calibri"/>
              <a:ea typeface="Calibri"/>
              <a:cs typeface="Calibri"/>
              <a:sym typeface="Calibri"/>
            </a:endParaRPr>
          </a:p>
        </p:txBody>
      </p:sp>
      <p:sp>
        <p:nvSpPr>
          <p:cNvPr id="576" name="Google Shape;576;p15"/>
          <p:cNvSpPr/>
          <p:nvPr/>
        </p:nvSpPr>
        <p:spPr>
          <a:xfrm>
            <a:off x="365760" y="3557016"/>
            <a:ext cx="2633472"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Pioneered by 6328 Mechanical Advantage. Replays every robot action from logs for debugging. Teams that use it find and fix issues 10× faster. Now used by hundreds of teams.</a:t>
            </a:r>
            <a:endParaRPr b="0" i="0" sz="1100" u="none" cap="none" strike="noStrike">
              <a:solidFill>
                <a:schemeClr val="dk1"/>
              </a:solidFill>
              <a:latin typeface="Calibri"/>
              <a:ea typeface="Calibri"/>
              <a:cs typeface="Calibri"/>
              <a:sym typeface="Calibri"/>
            </a:endParaRPr>
          </a:p>
        </p:txBody>
      </p:sp>
      <p:sp>
        <p:nvSpPr>
          <p:cNvPr id="577" name="Google Shape;577;p15"/>
          <p:cNvSpPr/>
          <p:nvPr/>
        </p:nvSpPr>
        <p:spPr>
          <a:xfrm>
            <a:off x="3218688" y="3154680"/>
            <a:ext cx="2816352" cy="157276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5"/>
          <p:cNvSpPr/>
          <p:nvPr/>
        </p:nvSpPr>
        <p:spPr>
          <a:xfrm>
            <a:off x="3218688" y="3154680"/>
            <a:ext cx="2816352" cy="34747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3310128" y="3154680"/>
            <a:ext cx="263347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  Continuous Scouting Systems</a:t>
            </a:r>
            <a:endParaRPr b="0" i="0" sz="1150" u="none" cap="none" strike="noStrike">
              <a:solidFill>
                <a:schemeClr val="dk1"/>
              </a:solidFill>
              <a:latin typeface="Calibri"/>
              <a:ea typeface="Calibri"/>
              <a:cs typeface="Calibri"/>
              <a:sym typeface="Calibri"/>
            </a:endParaRPr>
          </a:p>
        </p:txBody>
      </p:sp>
      <p:sp>
        <p:nvSpPr>
          <p:cNvPr id="580" name="Google Shape;580;p15"/>
          <p:cNvSpPr/>
          <p:nvPr/>
        </p:nvSpPr>
        <p:spPr>
          <a:xfrm>
            <a:off x="3310128" y="3557016"/>
            <a:ext cx="2633472"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1678-style scouting apps tracking OPR, cycle time, auto performance, and endgame per robot. Alliance selections at high-level events are data-driven, not eyeballed.</a:t>
            </a:r>
            <a:endParaRPr b="0" i="0" sz="1100" u="none" cap="none" strike="noStrike">
              <a:solidFill>
                <a:schemeClr val="dk1"/>
              </a:solidFill>
              <a:latin typeface="Calibri"/>
              <a:ea typeface="Calibri"/>
              <a:cs typeface="Calibri"/>
              <a:sym typeface="Calibri"/>
            </a:endParaRPr>
          </a:p>
        </p:txBody>
      </p:sp>
      <p:sp>
        <p:nvSpPr>
          <p:cNvPr id="581" name="Google Shape;581;p15"/>
          <p:cNvSpPr/>
          <p:nvPr/>
        </p:nvSpPr>
        <p:spPr>
          <a:xfrm>
            <a:off x="6163056" y="3154680"/>
            <a:ext cx="2816352" cy="157276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6163056" y="3154680"/>
            <a:ext cx="2816352" cy="34747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5"/>
          <p:cNvSpPr/>
          <p:nvPr/>
        </p:nvSpPr>
        <p:spPr>
          <a:xfrm>
            <a:off x="6254496" y="3154680"/>
            <a:ext cx="263347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  Gracious Mentor Networks</a:t>
            </a:r>
            <a:endParaRPr b="0" i="0" sz="1150" u="none" cap="none" strike="noStrike">
              <a:solidFill>
                <a:schemeClr val="dk1"/>
              </a:solidFill>
              <a:latin typeface="Calibri"/>
              <a:ea typeface="Calibri"/>
              <a:cs typeface="Calibri"/>
              <a:sym typeface="Calibri"/>
            </a:endParaRPr>
          </a:p>
        </p:txBody>
      </p:sp>
      <p:sp>
        <p:nvSpPr>
          <p:cNvPr id="584" name="Google Shape;584;p15"/>
          <p:cNvSpPr/>
          <p:nvPr/>
        </p:nvSpPr>
        <p:spPr>
          <a:xfrm>
            <a:off x="6254496" y="3557016"/>
            <a:ext cx="2633472" cy="11155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Top teams have engineers from FAANG companies, aerospace firms, and universities as active mentors. The mentor network is often the biggest competitive advantage of all.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589" name="Shape 589"/>
        <p:cNvGrpSpPr/>
        <p:nvPr/>
      </p:nvGrpSpPr>
      <p:grpSpPr>
        <a:xfrm>
          <a:off x="0" y="0"/>
          <a:ext cx="0" cy="0"/>
          <a:chOff x="0" y="0"/>
          <a:chExt cx="0" cy="0"/>
        </a:xfrm>
      </p:grpSpPr>
      <p:sp>
        <p:nvSpPr>
          <p:cNvPr id="590" name="Google Shape;590;p16"/>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6"/>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The Open Alliance &amp; Reference Robot Releases</a:t>
            </a:r>
            <a:endParaRPr b="0" i="0" sz="2100" u="none" cap="none" strike="noStrike">
              <a:solidFill>
                <a:schemeClr val="dk1"/>
              </a:solidFill>
              <a:latin typeface="Calibri"/>
              <a:ea typeface="Calibri"/>
              <a:cs typeface="Calibri"/>
              <a:sym typeface="Calibri"/>
            </a:endParaRPr>
          </a:p>
        </p:txBody>
      </p:sp>
      <p:sp>
        <p:nvSpPr>
          <p:cNvPr id="592" name="Google Shape;592;p16"/>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6"/>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OPEN SOURCE</a:t>
            </a:r>
            <a:endParaRPr b="0" i="0" sz="1100" u="none" cap="none" strike="noStrike">
              <a:solidFill>
                <a:schemeClr val="dk1"/>
              </a:solidFill>
              <a:latin typeface="Calibri"/>
              <a:ea typeface="Calibri"/>
              <a:cs typeface="Calibri"/>
              <a:sym typeface="Calibri"/>
            </a:endParaRPr>
          </a:p>
        </p:txBody>
      </p:sp>
      <p:sp>
        <p:nvSpPr>
          <p:cNvPr id="594" name="Google Shape;594;p16"/>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6"/>
          <p:cNvSpPr/>
          <p:nvPr/>
        </p:nvSpPr>
        <p:spPr>
          <a:xfrm>
            <a:off x="457200" y="7772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The Open Alliance is a community of FRC teams that publicly document their full design process — CAD, code, strategy, and behind-the-scenes decisions — so any team can learn. This is Coopertition in action.</a:t>
            </a:r>
            <a:endParaRPr b="0" i="0" sz="1300" u="none" cap="none" strike="noStrike">
              <a:solidFill>
                <a:schemeClr val="dk1"/>
              </a:solidFill>
              <a:latin typeface="Calibri"/>
              <a:ea typeface="Calibri"/>
              <a:cs typeface="Calibri"/>
              <a:sym typeface="Calibri"/>
            </a:endParaRPr>
          </a:p>
        </p:txBody>
      </p:sp>
      <p:sp>
        <p:nvSpPr>
          <p:cNvPr id="596" name="Google Shape;596;p16"/>
          <p:cNvSpPr/>
          <p:nvPr/>
        </p:nvSpPr>
        <p:spPr>
          <a:xfrm>
            <a:off x="274320" y="1463040"/>
            <a:ext cx="4251960" cy="126187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6"/>
          <p:cNvSpPr/>
          <p:nvPr/>
        </p:nvSpPr>
        <p:spPr>
          <a:xfrm>
            <a:off x="274320" y="1463040"/>
            <a:ext cx="749808" cy="1261872"/>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6"/>
          <p:cNvSpPr/>
          <p:nvPr/>
        </p:nvSpPr>
        <p:spPr>
          <a:xfrm>
            <a:off x="274320" y="1536192"/>
            <a:ext cx="749808"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6328</a:t>
            </a:r>
            <a:endParaRPr b="0" i="0" sz="1600" u="none" cap="none" strike="noStrike">
              <a:solidFill>
                <a:schemeClr val="dk1"/>
              </a:solidFill>
              <a:latin typeface="Calibri"/>
              <a:ea typeface="Calibri"/>
              <a:cs typeface="Calibri"/>
              <a:sym typeface="Calibri"/>
            </a:endParaRPr>
          </a:p>
        </p:txBody>
      </p:sp>
      <p:sp>
        <p:nvSpPr>
          <p:cNvPr id="599" name="Google Shape;599;p16"/>
          <p:cNvSpPr/>
          <p:nvPr/>
        </p:nvSpPr>
        <p:spPr>
          <a:xfrm>
            <a:off x="1097280" y="1517904"/>
            <a:ext cx="3337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Mechanical Advantage</a:t>
            </a:r>
            <a:endParaRPr b="0" i="0" sz="1300" u="none" cap="none" strike="noStrike">
              <a:solidFill>
                <a:schemeClr val="dk1"/>
              </a:solidFill>
              <a:latin typeface="Calibri"/>
              <a:ea typeface="Calibri"/>
              <a:cs typeface="Calibri"/>
              <a:sym typeface="Calibri"/>
            </a:endParaRPr>
          </a:p>
        </p:txBody>
      </p:sp>
      <p:sp>
        <p:nvSpPr>
          <p:cNvPr id="600" name="Google Shape;600;p16"/>
          <p:cNvSpPr/>
          <p:nvPr/>
        </p:nvSpPr>
        <p:spPr>
          <a:xfrm>
            <a:off x="1097280" y="1810512"/>
            <a:ext cx="3337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Littleton, MA</a:t>
            </a:r>
            <a:endParaRPr b="0" i="0" sz="1000" u="none" cap="none" strike="noStrike">
              <a:solidFill>
                <a:schemeClr val="dk1"/>
              </a:solidFill>
              <a:latin typeface="Calibri"/>
              <a:ea typeface="Calibri"/>
              <a:cs typeface="Calibri"/>
              <a:sym typeface="Calibri"/>
            </a:endParaRPr>
          </a:p>
        </p:txBody>
      </p:sp>
      <p:sp>
        <p:nvSpPr>
          <p:cNvPr id="601" name="Google Shape;601;p16"/>
          <p:cNvSpPr/>
          <p:nvPr/>
        </p:nvSpPr>
        <p:spPr>
          <a:xfrm>
            <a:off x="1097280" y="2048256"/>
            <a:ext cx="33375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Pioneered AdvantageKit (structured logging) and AdvantageScope (visualization). Full robot CAD + code every year. Their framework is copied by 500+ teams.</a:t>
            </a:r>
            <a:endParaRPr b="0" i="0" sz="1050" u="none" cap="none" strike="noStrike">
              <a:solidFill>
                <a:schemeClr val="dk1"/>
              </a:solidFill>
              <a:latin typeface="Calibri"/>
              <a:ea typeface="Calibri"/>
              <a:cs typeface="Calibri"/>
              <a:sym typeface="Calibri"/>
            </a:endParaRPr>
          </a:p>
        </p:txBody>
      </p:sp>
      <p:sp>
        <p:nvSpPr>
          <p:cNvPr id="602" name="Google Shape;602;p16"/>
          <p:cNvSpPr/>
          <p:nvPr/>
        </p:nvSpPr>
        <p:spPr>
          <a:xfrm>
            <a:off x="4709160" y="1463040"/>
            <a:ext cx="4251960" cy="126187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6"/>
          <p:cNvSpPr/>
          <p:nvPr/>
        </p:nvSpPr>
        <p:spPr>
          <a:xfrm>
            <a:off x="4709160" y="1463040"/>
            <a:ext cx="749808" cy="126187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6"/>
          <p:cNvSpPr/>
          <p:nvPr/>
        </p:nvSpPr>
        <p:spPr>
          <a:xfrm>
            <a:off x="4709160" y="1536192"/>
            <a:ext cx="749808"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1678</a:t>
            </a:r>
            <a:endParaRPr b="0" i="0" sz="1600" u="none" cap="none" strike="noStrike">
              <a:solidFill>
                <a:schemeClr val="dk1"/>
              </a:solidFill>
              <a:latin typeface="Calibri"/>
              <a:ea typeface="Calibri"/>
              <a:cs typeface="Calibri"/>
              <a:sym typeface="Calibri"/>
            </a:endParaRPr>
          </a:p>
        </p:txBody>
      </p:sp>
      <p:sp>
        <p:nvSpPr>
          <p:cNvPr id="605" name="Google Shape;605;p16"/>
          <p:cNvSpPr/>
          <p:nvPr/>
        </p:nvSpPr>
        <p:spPr>
          <a:xfrm>
            <a:off x="5532120" y="1517904"/>
            <a:ext cx="3337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Citrus Circuits</a:t>
            </a:r>
            <a:endParaRPr b="0" i="0" sz="1300" u="none" cap="none" strike="noStrike">
              <a:solidFill>
                <a:schemeClr val="dk1"/>
              </a:solidFill>
              <a:latin typeface="Calibri"/>
              <a:ea typeface="Calibri"/>
              <a:cs typeface="Calibri"/>
              <a:sym typeface="Calibri"/>
            </a:endParaRPr>
          </a:p>
        </p:txBody>
      </p:sp>
      <p:sp>
        <p:nvSpPr>
          <p:cNvPr id="606" name="Google Shape;606;p16"/>
          <p:cNvSpPr/>
          <p:nvPr/>
        </p:nvSpPr>
        <p:spPr>
          <a:xfrm>
            <a:off x="5532120" y="1810512"/>
            <a:ext cx="3337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Davis, CA</a:t>
            </a:r>
            <a:endParaRPr b="0" i="0" sz="1000" u="none" cap="none" strike="noStrike">
              <a:solidFill>
                <a:schemeClr val="dk1"/>
              </a:solidFill>
              <a:latin typeface="Calibri"/>
              <a:ea typeface="Calibri"/>
              <a:cs typeface="Calibri"/>
              <a:sym typeface="Calibri"/>
            </a:endParaRPr>
          </a:p>
        </p:txBody>
      </p:sp>
      <p:sp>
        <p:nvSpPr>
          <p:cNvPr id="607" name="Google Shape;607;p16"/>
          <p:cNvSpPr/>
          <p:nvPr/>
        </p:nvSpPr>
        <p:spPr>
          <a:xfrm>
            <a:off x="5532120" y="2048256"/>
            <a:ext cx="33375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Annual public GitHub code release. Comprehensive scouting system (also open-sourced). Mechanical design workshops. Electrical model library.</a:t>
            </a:r>
            <a:endParaRPr b="0" i="0" sz="1050" u="none" cap="none" strike="noStrike">
              <a:solidFill>
                <a:schemeClr val="dk1"/>
              </a:solidFill>
              <a:latin typeface="Calibri"/>
              <a:ea typeface="Calibri"/>
              <a:cs typeface="Calibri"/>
              <a:sym typeface="Calibri"/>
            </a:endParaRPr>
          </a:p>
        </p:txBody>
      </p:sp>
      <p:sp>
        <p:nvSpPr>
          <p:cNvPr id="608" name="Google Shape;608;p16"/>
          <p:cNvSpPr/>
          <p:nvPr/>
        </p:nvSpPr>
        <p:spPr>
          <a:xfrm>
            <a:off x="274320" y="2834640"/>
            <a:ext cx="4251960" cy="126187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6"/>
          <p:cNvSpPr/>
          <p:nvPr/>
        </p:nvSpPr>
        <p:spPr>
          <a:xfrm>
            <a:off x="274320" y="2834640"/>
            <a:ext cx="749808" cy="1261872"/>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6"/>
          <p:cNvSpPr/>
          <p:nvPr/>
        </p:nvSpPr>
        <p:spPr>
          <a:xfrm>
            <a:off x="274320" y="2907792"/>
            <a:ext cx="749808"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3005</a:t>
            </a:r>
            <a:endParaRPr b="0" i="0" sz="1600" u="none" cap="none" strike="noStrike">
              <a:solidFill>
                <a:schemeClr val="dk1"/>
              </a:solidFill>
              <a:latin typeface="Calibri"/>
              <a:ea typeface="Calibri"/>
              <a:cs typeface="Calibri"/>
              <a:sym typeface="Calibri"/>
            </a:endParaRPr>
          </a:p>
        </p:txBody>
      </p:sp>
      <p:sp>
        <p:nvSpPr>
          <p:cNvPr id="611" name="Google Shape;611;p16"/>
          <p:cNvSpPr/>
          <p:nvPr/>
        </p:nvSpPr>
        <p:spPr>
          <a:xfrm>
            <a:off x="1097280" y="2889504"/>
            <a:ext cx="3337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HammerHeads</a:t>
            </a:r>
            <a:endParaRPr b="0" i="0" sz="1300" u="none" cap="none" strike="noStrike">
              <a:solidFill>
                <a:schemeClr val="dk1"/>
              </a:solidFill>
              <a:latin typeface="Calibri"/>
              <a:ea typeface="Calibri"/>
              <a:cs typeface="Calibri"/>
              <a:sym typeface="Calibri"/>
            </a:endParaRPr>
          </a:p>
        </p:txBody>
      </p:sp>
      <p:sp>
        <p:nvSpPr>
          <p:cNvPr id="612" name="Google Shape;612;p16"/>
          <p:cNvSpPr/>
          <p:nvPr/>
        </p:nvSpPr>
        <p:spPr>
          <a:xfrm>
            <a:off x="1097280" y="3182112"/>
            <a:ext cx="3337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Beaverton, OR</a:t>
            </a:r>
            <a:endParaRPr b="0" i="0" sz="1000" u="none" cap="none" strike="noStrike">
              <a:solidFill>
                <a:schemeClr val="dk1"/>
              </a:solidFill>
              <a:latin typeface="Calibri"/>
              <a:ea typeface="Calibri"/>
              <a:cs typeface="Calibri"/>
              <a:sym typeface="Calibri"/>
            </a:endParaRPr>
          </a:p>
        </p:txBody>
      </p:sp>
      <p:sp>
        <p:nvSpPr>
          <p:cNvPr id="613" name="Google Shape;613;p16"/>
          <p:cNvSpPr/>
          <p:nvPr/>
        </p:nvSpPr>
        <p:spPr>
          <a:xfrm>
            <a:off x="1097280" y="3419856"/>
            <a:ext cx="33375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Full robot CAD release every season on OnShape. Clean, well-documented designs. Particularly well-regarded for elevator and intake mechanism releases.</a:t>
            </a:r>
            <a:endParaRPr b="0" i="0" sz="1050" u="none" cap="none" strike="noStrike">
              <a:solidFill>
                <a:schemeClr val="dk1"/>
              </a:solidFill>
              <a:latin typeface="Calibri"/>
              <a:ea typeface="Calibri"/>
              <a:cs typeface="Calibri"/>
              <a:sym typeface="Calibri"/>
            </a:endParaRPr>
          </a:p>
        </p:txBody>
      </p:sp>
      <p:sp>
        <p:nvSpPr>
          <p:cNvPr id="614" name="Google Shape;614;p16"/>
          <p:cNvSpPr/>
          <p:nvPr/>
        </p:nvSpPr>
        <p:spPr>
          <a:xfrm>
            <a:off x="4709160" y="2834640"/>
            <a:ext cx="4251960" cy="126187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6"/>
          <p:cNvSpPr/>
          <p:nvPr/>
        </p:nvSpPr>
        <p:spPr>
          <a:xfrm>
            <a:off x="4709160" y="2834640"/>
            <a:ext cx="749808" cy="1261872"/>
          </a:xfrm>
          <a:prstGeom prst="rect">
            <a:avLst/>
          </a:prstGeom>
          <a:solidFill>
            <a:srgbClr val="8B2020"/>
          </a:solidFill>
          <a:ln cap="flat" cmpd="sng" w="12700">
            <a:solidFill>
              <a:srgbClr val="8B2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6"/>
          <p:cNvSpPr/>
          <p:nvPr/>
        </p:nvSpPr>
        <p:spPr>
          <a:xfrm>
            <a:off x="4709160" y="2907792"/>
            <a:ext cx="749808"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4481</a:t>
            </a:r>
            <a:endParaRPr b="0" i="0" sz="1600" u="none" cap="none" strike="noStrike">
              <a:solidFill>
                <a:schemeClr val="dk1"/>
              </a:solidFill>
              <a:latin typeface="Calibri"/>
              <a:ea typeface="Calibri"/>
              <a:cs typeface="Calibri"/>
              <a:sym typeface="Calibri"/>
            </a:endParaRPr>
          </a:p>
        </p:txBody>
      </p:sp>
      <p:sp>
        <p:nvSpPr>
          <p:cNvPr id="617" name="Google Shape;617;p16"/>
          <p:cNvSpPr/>
          <p:nvPr/>
        </p:nvSpPr>
        <p:spPr>
          <a:xfrm>
            <a:off x="5532120" y="2889504"/>
            <a:ext cx="3337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Team Rembrandts</a:t>
            </a:r>
            <a:endParaRPr b="0" i="0" sz="1300" u="none" cap="none" strike="noStrike">
              <a:solidFill>
                <a:schemeClr val="dk1"/>
              </a:solidFill>
              <a:latin typeface="Calibri"/>
              <a:ea typeface="Calibri"/>
              <a:cs typeface="Calibri"/>
              <a:sym typeface="Calibri"/>
            </a:endParaRPr>
          </a:p>
        </p:txBody>
      </p:sp>
      <p:sp>
        <p:nvSpPr>
          <p:cNvPr id="618" name="Google Shape;618;p16"/>
          <p:cNvSpPr/>
          <p:nvPr/>
        </p:nvSpPr>
        <p:spPr>
          <a:xfrm>
            <a:off x="5532120" y="3182112"/>
            <a:ext cx="3337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Eindhoven 🇳🇱</a:t>
            </a:r>
            <a:endParaRPr b="0" i="0" sz="1000" u="none" cap="none" strike="noStrike">
              <a:solidFill>
                <a:schemeClr val="dk1"/>
              </a:solidFill>
              <a:latin typeface="Calibri"/>
              <a:ea typeface="Calibri"/>
              <a:cs typeface="Calibri"/>
              <a:sym typeface="Calibri"/>
            </a:endParaRPr>
          </a:p>
        </p:txBody>
      </p:sp>
      <p:sp>
        <p:nvSpPr>
          <p:cNvPr id="619" name="Google Shape;619;p16"/>
          <p:cNvSpPr/>
          <p:nvPr/>
        </p:nvSpPr>
        <p:spPr>
          <a:xfrm>
            <a:off x="5532120" y="3419856"/>
            <a:ext cx="33375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Dutch Open Alliance team. Full CAD + code. Known for unusually clean mechanism design. Robot is widely copied by European teams needing reference builds.</a:t>
            </a:r>
            <a:endParaRPr b="0" i="0" sz="1050" u="none" cap="none" strike="noStrike">
              <a:solidFill>
                <a:schemeClr val="dk1"/>
              </a:solidFill>
              <a:latin typeface="Calibri"/>
              <a:ea typeface="Calibri"/>
              <a:cs typeface="Calibri"/>
              <a:sym typeface="Calibri"/>
            </a:endParaRPr>
          </a:p>
        </p:txBody>
      </p:sp>
      <p:sp>
        <p:nvSpPr>
          <p:cNvPr id="620" name="Google Shape;620;p16"/>
          <p:cNvSpPr/>
          <p:nvPr/>
        </p:nvSpPr>
        <p:spPr>
          <a:xfrm>
            <a:off x="274320" y="4206240"/>
            <a:ext cx="4251960" cy="126187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a:off x="274320" y="4206240"/>
            <a:ext cx="749808" cy="1261872"/>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6"/>
          <p:cNvSpPr/>
          <p:nvPr/>
        </p:nvSpPr>
        <p:spPr>
          <a:xfrm>
            <a:off x="274320" y="4279392"/>
            <a:ext cx="749808"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2910</a:t>
            </a:r>
            <a:endParaRPr b="0" i="0" sz="1600" u="none" cap="none" strike="noStrike">
              <a:solidFill>
                <a:schemeClr val="dk1"/>
              </a:solidFill>
              <a:latin typeface="Calibri"/>
              <a:ea typeface="Calibri"/>
              <a:cs typeface="Calibri"/>
              <a:sym typeface="Calibri"/>
            </a:endParaRPr>
          </a:p>
        </p:txBody>
      </p:sp>
      <p:sp>
        <p:nvSpPr>
          <p:cNvPr id="623" name="Google Shape;623;p16"/>
          <p:cNvSpPr/>
          <p:nvPr/>
        </p:nvSpPr>
        <p:spPr>
          <a:xfrm>
            <a:off x="1097280" y="4261104"/>
            <a:ext cx="3337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Jack in the Bot</a:t>
            </a:r>
            <a:endParaRPr b="0" i="0" sz="1300" u="none" cap="none" strike="noStrike">
              <a:solidFill>
                <a:schemeClr val="dk1"/>
              </a:solidFill>
              <a:latin typeface="Calibri"/>
              <a:ea typeface="Calibri"/>
              <a:cs typeface="Calibri"/>
              <a:sym typeface="Calibri"/>
            </a:endParaRPr>
          </a:p>
        </p:txBody>
      </p:sp>
      <p:sp>
        <p:nvSpPr>
          <p:cNvPr id="624" name="Google Shape;624;p16"/>
          <p:cNvSpPr/>
          <p:nvPr/>
        </p:nvSpPr>
        <p:spPr>
          <a:xfrm>
            <a:off x="1097280" y="4553712"/>
            <a:ext cx="3337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Kirkland, WA</a:t>
            </a:r>
            <a:endParaRPr b="0" i="0" sz="1000" u="none" cap="none" strike="noStrike">
              <a:solidFill>
                <a:schemeClr val="dk1"/>
              </a:solidFill>
              <a:latin typeface="Calibri"/>
              <a:ea typeface="Calibri"/>
              <a:cs typeface="Calibri"/>
              <a:sym typeface="Calibri"/>
            </a:endParaRPr>
          </a:p>
        </p:txBody>
      </p:sp>
      <p:sp>
        <p:nvSpPr>
          <p:cNvPr id="625" name="Google Shape;625;p16"/>
          <p:cNvSpPr/>
          <p:nvPr/>
        </p:nvSpPr>
        <p:spPr>
          <a:xfrm>
            <a:off x="1097280" y="4791456"/>
            <a:ext cx="33375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Open Alliance participant. 2025 World Champion Spectre's design notes publicly shared. Known for MK4i→MK5 mid-season module upgrade — documented in detail.</a:t>
            </a:r>
            <a:endParaRPr b="0" i="0" sz="1050" u="none" cap="none" strike="noStrike">
              <a:solidFill>
                <a:schemeClr val="dk1"/>
              </a:solidFill>
              <a:latin typeface="Calibri"/>
              <a:ea typeface="Calibri"/>
              <a:cs typeface="Calibri"/>
              <a:sym typeface="Calibri"/>
            </a:endParaRPr>
          </a:p>
        </p:txBody>
      </p:sp>
      <p:sp>
        <p:nvSpPr>
          <p:cNvPr id="626" name="Google Shape;626;p16"/>
          <p:cNvSpPr/>
          <p:nvPr/>
        </p:nvSpPr>
        <p:spPr>
          <a:xfrm>
            <a:off x="4709160" y="4206240"/>
            <a:ext cx="4251960" cy="126187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6"/>
          <p:cNvSpPr/>
          <p:nvPr/>
        </p:nvSpPr>
        <p:spPr>
          <a:xfrm>
            <a:off x="4709160" y="4206240"/>
            <a:ext cx="749808" cy="126187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a:off x="4709160" y="4279392"/>
            <a:ext cx="749808"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RI3D</a:t>
            </a:r>
            <a:endParaRPr b="0" i="0" sz="1600" u="none" cap="none" strike="noStrike">
              <a:solidFill>
                <a:schemeClr val="dk1"/>
              </a:solidFill>
              <a:latin typeface="Calibri"/>
              <a:ea typeface="Calibri"/>
              <a:cs typeface="Calibri"/>
              <a:sym typeface="Calibri"/>
            </a:endParaRPr>
          </a:p>
        </p:txBody>
      </p:sp>
      <p:sp>
        <p:nvSpPr>
          <p:cNvPr id="629" name="Google Shape;629;p16"/>
          <p:cNvSpPr/>
          <p:nvPr/>
        </p:nvSpPr>
        <p:spPr>
          <a:xfrm>
            <a:off x="5532120" y="4261104"/>
            <a:ext cx="33375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Robot In 3 Days</a:t>
            </a:r>
            <a:endParaRPr b="0" i="0" sz="1300" u="none" cap="none" strike="noStrike">
              <a:solidFill>
                <a:schemeClr val="dk1"/>
              </a:solidFill>
              <a:latin typeface="Calibri"/>
              <a:ea typeface="Calibri"/>
              <a:cs typeface="Calibri"/>
              <a:sym typeface="Calibri"/>
            </a:endParaRPr>
          </a:p>
        </p:txBody>
      </p:sp>
      <p:sp>
        <p:nvSpPr>
          <p:cNvPr id="630" name="Google Shape;630;p16"/>
          <p:cNvSpPr/>
          <p:nvPr/>
        </p:nvSpPr>
        <p:spPr>
          <a:xfrm>
            <a:off x="5532120" y="4553712"/>
            <a:ext cx="333756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Multiple Teams</a:t>
            </a:r>
            <a:endParaRPr b="0" i="0" sz="1000" u="none" cap="none" strike="noStrike">
              <a:solidFill>
                <a:schemeClr val="dk1"/>
              </a:solidFill>
              <a:latin typeface="Calibri"/>
              <a:ea typeface="Calibri"/>
              <a:cs typeface="Calibri"/>
              <a:sym typeface="Calibri"/>
            </a:endParaRPr>
          </a:p>
        </p:txBody>
      </p:sp>
      <p:sp>
        <p:nvSpPr>
          <p:cNvPr id="631" name="Google Shape;631;p16"/>
          <p:cNvSpPr/>
          <p:nvPr/>
        </p:nvSpPr>
        <p:spPr>
          <a:xfrm>
            <a:off x="5532120" y="4791456"/>
            <a:ext cx="3337560" cy="6217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Multiple teams (AndyMark sponsored &amp; community teams) build full robots in 72 hours after Kickoff and release all CAD/code. Gives every team a working reference design by week 1.</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636" name="Shape 636"/>
        <p:cNvGrpSpPr/>
        <p:nvPr/>
      </p:nvGrpSpPr>
      <p:grpSpPr>
        <a:xfrm>
          <a:off x="0" y="0"/>
          <a:ext cx="0" cy="0"/>
          <a:chOff x="0" y="0"/>
          <a:chExt cx="0" cy="0"/>
        </a:xfrm>
      </p:grpSpPr>
      <p:sp>
        <p:nvSpPr>
          <p:cNvPr id="637" name="Google Shape;637;g3e92e6f0be2_0_106"/>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g3e92e6f0be2_0_106"/>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Reference Design: Everybot (Team 118)</a:t>
            </a:r>
            <a:endParaRPr b="0" i="0" sz="2100" u="none" cap="none" strike="noStrike">
              <a:solidFill>
                <a:schemeClr val="dk1"/>
              </a:solidFill>
              <a:latin typeface="Calibri"/>
              <a:ea typeface="Calibri"/>
              <a:cs typeface="Calibri"/>
              <a:sym typeface="Calibri"/>
            </a:endParaRPr>
          </a:p>
        </p:txBody>
      </p:sp>
      <p:sp>
        <p:nvSpPr>
          <p:cNvPr id="639" name="Google Shape;639;g3e92e6f0be2_0_106"/>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g3e92e6f0be2_0_106"/>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REFERENCE ROBOT</a:t>
            </a:r>
            <a:endParaRPr b="0" i="0" sz="1100" u="none" cap="none" strike="noStrike">
              <a:solidFill>
                <a:schemeClr val="dk1"/>
              </a:solidFill>
              <a:latin typeface="Calibri"/>
              <a:ea typeface="Calibri"/>
              <a:cs typeface="Calibri"/>
              <a:sym typeface="Calibri"/>
            </a:endParaRPr>
          </a:p>
        </p:txBody>
      </p:sp>
      <p:sp>
        <p:nvSpPr>
          <p:cNvPr id="641" name="Google Shape;641;g3e92e6f0be2_0_106"/>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3e92e6f0be2_0_106"/>
          <p:cNvSpPr/>
          <p:nvPr/>
        </p:nvSpPr>
        <p:spPr>
          <a:xfrm>
            <a:off x="274320" y="777240"/>
            <a:ext cx="8595300" cy="658500"/>
          </a:xfrm>
          <a:prstGeom prst="rect">
            <a:avLst/>
          </a:prstGeom>
          <a:solidFill>
            <a:srgbClr val="0D1B2A"/>
          </a:solidFill>
          <a:ln cap="flat" cmpd="sng" w="12700">
            <a:solidFill>
              <a:srgbClr val="0D1B2A"/>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g3e92e6f0be2_0_106"/>
          <p:cNvSpPr/>
          <p:nvPr/>
        </p:nvSpPr>
        <p:spPr>
          <a:xfrm>
            <a:off x="457200" y="777240"/>
            <a:ext cx="8229600" cy="65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300"/>
              <a:buFont typeface="Calibri"/>
              <a:buNone/>
            </a:pPr>
            <a:r>
              <a:rPr b="0" i="0" lang="en-US" sz="1300" u="none" cap="none" strike="noStrike">
                <a:solidFill>
                  <a:srgbClr val="D8E4F0"/>
                </a:solidFill>
                <a:latin typeface="Calibri"/>
                <a:ea typeface="Calibri"/>
                <a:cs typeface="Calibri"/>
                <a:sym typeface="Calibri"/>
              </a:rPr>
              <a:t>118everybot.org  ·  Released annually within 1–2 weeks of Kickoff  ·  Full CAD, BOM, code &amp; documentation</a:t>
            </a:r>
            <a:endParaRPr b="0" i="0" sz="1300" u="none" cap="none" strike="noStrike">
              <a:solidFill>
                <a:schemeClr val="dk1"/>
              </a:solidFill>
              <a:latin typeface="Calibri"/>
              <a:ea typeface="Calibri"/>
              <a:cs typeface="Calibri"/>
              <a:sym typeface="Calibri"/>
            </a:endParaRPr>
          </a:p>
        </p:txBody>
      </p:sp>
      <p:sp>
        <p:nvSpPr>
          <p:cNvPr id="644" name="Google Shape;644;g3e92e6f0be2_0_106"/>
          <p:cNvSpPr/>
          <p:nvPr/>
        </p:nvSpPr>
        <p:spPr>
          <a:xfrm>
            <a:off x="274320" y="1554480"/>
            <a:ext cx="4251900" cy="34017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g3e92e6f0be2_0_106"/>
          <p:cNvSpPr/>
          <p:nvPr/>
        </p:nvSpPr>
        <p:spPr>
          <a:xfrm>
            <a:off x="274320" y="1554480"/>
            <a:ext cx="4251900" cy="3657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g3e92e6f0be2_0_106"/>
          <p:cNvSpPr/>
          <p:nvPr/>
        </p:nvSpPr>
        <p:spPr>
          <a:xfrm>
            <a:off x="365760" y="1554480"/>
            <a:ext cx="4069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What Is Everybot?</a:t>
            </a:r>
            <a:endParaRPr b="0" i="0" sz="1300" u="none" cap="none" strike="noStrike">
              <a:solidFill>
                <a:schemeClr val="dk1"/>
              </a:solidFill>
              <a:latin typeface="Calibri"/>
              <a:ea typeface="Calibri"/>
              <a:cs typeface="Calibri"/>
              <a:sym typeface="Calibri"/>
            </a:endParaRPr>
          </a:p>
        </p:txBody>
      </p:sp>
      <p:sp>
        <p:nvSpPr>
          <p:cNvPr id="647" name="Google Shape;647;g3e92e6f0be2_0_106"/>
          <p:cNvSpPr/>
          <p:nvPr/>
        </p:nvSpPr>
        <p:spPr>
          <a:xfrm>
            <a:off x="411480" y="1984248"/>
            <a:ext cx="3977700" cy="2907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Every year since 2014, Team 118 Robonauts builds and fully documents a complete competitive robot that any team can replicate with:</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100"/>
              <a:buFont typeface="Calibri"/>
              <a:buNone/>
            </a:pPr>
            <a:r>
              <a:rPr b="0" i="0" lang="en-US" sz="1100" u="none" cap="none" strike="noStrike">
                <a:solidFill>
                  <a:srgbClr val="0D1B2A"/>
                </a:solidFill>
                <a:latin typeface="Calibri"/>
                <a:ea typeface="Calibri"/>
                <a:cs typeface="Calibri"/>
                <a:sym typeface="Calibri"/>
              </a:rPr>
              <a:t>• Kit of Parts / AM14U chassis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100"/>
              <a:buFont typeface="Calibri"/>
              <a:buNone/>
            </a:pPr>
            <a:r>
              <a:rPr b="0" i="0" lang="en-US" sz="1100" u="none" cap="none" strike="noStrike">
                <a:solidFill>
                  <a:srgbClr val="0D1B2A"/>
                </a:solidFill>
                <a:latin typeface="Calibri"/>
                <a:ea typeface="Calibri"/>
                <a:cs typeface="Calibri"/>
                <a:sym typeface="Calibri"/>
              </a:rPr>
              <a:t>• Basic hand tools only (no CNC required)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100"/>
              <a:buFont typeface="Calibri"/>
              <a:buNone/>
            </a:pPr>
            <a:r>
              <a:rPr b="0" i="0" lang="en-US" sz="1100" u="none" cap="none" strike="noStrike">
                <a:solidFill>
                  <a:srgbClr val="0D1B2A"/>
                </a:solidFill>
                <a:latin typeface="Calibri"/>
                <a:ea typeface="Calibri"/>
                <a:cs typeface="Calibri"/>
                <a:sym typeface="Calibri"/>
              </a:rPr>
              <a:t>• ~$1,400 total budget in 2025</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100"/>
              <a:buFont typeface="Calibri"/>
              <a:buNone/>
            </a:pPr>
            <a:r>
              <a:rPr b="0" i="0" lang="en-US" sz="1100" u="none" cap="none" strike="noStrike">
                <a:solidFill>
                  <a:srgbClr val="0D1B2A"/>
                </a:solidFill>
                <a:latin typeface="Calibri"/>
                <a:ea typeface="Calibri"/>
                <a:cs typeface="Calibri"/>
                <a:sym typeface="Calibri"/>
              </a:rPr>
              <a:t>• A basic 3D printer for select parts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2025 Everybot (Reefscape) included: coral into L1 trough, algae processing, and a deep cage climb — all on a KitBot chassis.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AndyMark officially co-distributes Everybot parts as a bundle, making it even easier for teams to source the exact hardware needed.</a:t>
            </a:r>
            <a:endParaRPr b="0" i="0" sz="1100" u="none" cap="none" strike="noStrike">
              <a:solidFill>
                <a:schemeClr val="dk1"/>
              </a:solidFill>
              <a:latin typeface="Calibri"/>
              <a:ea typeface="Calibri"/>
              <a:cs typeface="Calibri"/>
              <a:sym typeface="Calibri"/>
            </a:endParaRPr>
          </a:p>
        </p:txBody>
      </p:sp>
      <p:sp>
        <p:nvSpPr>
          <p:cNvPr id="648" name="Google Shape;648;g3e92e6f0be2_0_106"/>
          <p:cNvSpPr/>
          <p:nvPr/>
        </p:nvSpPr>
        <p:spPr>
          <a:xfrm>
            <a:off x="4709160" y="1554480"/>
            <a:ext cx="4251900" cy="34017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g3e92e6f0be2_0_106"/>
          <p:cNvSpPr/>
          <p:nvPr/>
        </p:nvSpPr>
        <p:spPr>
          <a:xfrm>
            <a:off x="4709160" y="1554480"/>
            <a:ext cx="4251900" cy="3657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g3e92e6f0be2_0_106"/>
          <p:cNvSpPr/>
          <p:nvPr/>
        </p:nvSpPr>
        <p:spPr>
          <a:xfrm>
            <a:off x="4800600" y="1554480"/>
            <a:ext cx="4069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Why Every Team Should Know It</a:t>
            </a:r>
            <a:endParaRPr b="0" i="0" sz="1300" u="none" cap="none" strike="noStrike">
              <a:solidFill>
                <a:schemeClr val="dk1"/>
              </a:solidFill>
              <a:latin typeface="Calibri"/>
              <a:ea typeface="Calibri"/>
              <a:cs typeface="Calibri"/>
              <a:sym typeface="Calibri"/>
            </a:endParaRPr>
          </a:p>
        </p:txBody>
      </p:sp>
      <p:sp>
        <p:nvSpPr>
          <p:cNvPr id="651" name="Google Shape;651;g3e92e6f0be2_0_106"/>
          <p:cNvSpPr/>
          <p:nvPr/>
        </p:nvSpPr>
        <p:spPr>
          <a:xfrm>
            <a:off x="4818888" y="1984248"/>
            <a:ext cx="4005000" cy="2907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For rookie / low-resource teams: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A proven, complete, competition-ready robot with full instructions. No guessing, no reinventing the wheel. Field a competitive robot your first year.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For experienced teams: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Everybot shows what's achievable with KoP + simple tools. Great for game analysis early in build season — see what the 'floor' of competitive play looks like and design above it.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Everybot is also a fallback insurance policy. If your fancy custom robot breaks down mid-season, knowing you could deploy an Everybot gives you a safety net.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656" name="Shape 656"/>
        <p:cNvGrpSpPr/>
        <p:nvPr/>
      </p:nvGrpSpPr>
      <p:grpSpPr>
        <a:xfrm>
          <a:off x="0" y="0"/>
          <a:ext cx="0" cy="0"/>
          <a:chOff x="0" y="0"/>
          <a:chExt cx="0" cy="0"/>
        </a:xfrm>
      </p:grpSpPr>
      <p:sp>
        <p:nvSpPr>
          <p:cNvPr id="657" name="Google Shape;657;g3e92e6f0be2_0_127"/>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g3e92e6f0be2_0_127"/>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Reference Designs: REV ION, WCP, &amp; Elite Concepts</a:t>
            </a:r>
            <a:endParaRPr b="0" i="0" sz="2100" u="none" cap="none" strike="noStrike">
              <a:solidFill>
                <a:schemeClr val="dk1"/>
              </a:solidFill>
              <a:latin typeface="Calibri"/>
              <a:ea typeface="Calibri"/>
              <a:cs typeface="Calibri"/>
              <a:sym typeface="Calibri"/>
            </a:endParaRPr>
          </a:p>
        </p:txBody>
      </p:sp>
      <p:sp>
        <p:nvSpPr>
          <p:cNvPr id="659" name="Google Shape;659;g3e92e6f0be2_0_127"/>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g3e92e6f0be2_0_127"/>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REFERENCE ROBOTS</a:t>
            </a:r>
            <a:endParaRPr b="0" i="0" sz="1100" u="none" cap="none" strike="noStrike">
              <a:solidFill>
                <a:schemeClr val="dk1"/>
              </a:solidFill>
              <a:latin typeface="Calibri"/>
              <a:ea typeface="Calibri"/>
              <a:cs typeface="Calibri"/>
              <a:sym typeface="Calibri"/>
            </a:endParaRPr>
          </a:p>
        </p:txBody>
      </p:sp>
      <p:sp>
        <p:nvSpPr>
          <p:cNvPr id="661" name="Google Shape;661;g3e92e6f0be2_0_127"/>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g3e92e6f0be2_0_127"/>
          <p:cNvSpPr/>
          <p:nvPr/>
        </p:nvSpPr>
        <p:spPr>
          <a:xfrm>
            <a:off x="457200" y="777240"/>
            <a:ext cx="82296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Multiple suppliers and elite teams release full reference robots each season. These aren't just examples — they're production-ready designs you can copy, remix, and build from directly.</a:t>
            </a:r>
            <a:endParaRPr b="0" i="0" sz="1300" u="none" cap="none" strike="noStrike">
              <a:solidFill>
                <a:schemeClr val="dk1"/>
              </a:solidFill>
              <a:latin typeface="Calibri"/>
              <a:ea typeface="Calibri"/>
              <a:cs typeface="Calibri"/>
              <a:sym typeface="Calibri"/>
            </a:endParaRPr>
          </a:p>
        </p:txBody>
      </p:sp>
      <p:sp>
        <p:nvSpPr>
          <p:cNvPr id="663" name="Google Shape;663;g3e92e6f0be2_0_127"/>
          <p:cNvSpPr/>
          <p:nvPr/>
        </p:nvSpPr>
        <p:spPr>
          <a:xfrm>
            <a:off x="274320" y="1417320"/>
            <a:ext cx="4251900" cy="16275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g3e92e6f0be2_0_127"/>
          <p:cNvSpPr/>
          <p:nvPr/>
        </p:nvSpPr>
        <p:spPr>
          <a:xfrm>
            <a:off x="274320" y="1417320"/>
            <a:ext cx="4251900" cy="732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g3e92e6f0be2_0_127"/>
          <p:cNvSpPr/>
          <p:nvPr/>
        </p:nvSpPr>
        <p:spPr>
          <a:xfrm>
            <a:off x="365760" y="1554480"/>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REV ION FRC Reference Robot</a:t>
            </a:r>
            <a:endParaRPr b="0" i="0" sz="1200" u="none" cap="none" strike="noStrike">
              <a:solidFill>
                <a:schemeClr val="dk1"/>
              </a:solidFill>
              <a:latin typeface="Calibri"/>
              <a:ea typeface="Calibri"/>
              <a:cs typeface="Calibri"/>
              <a:sym typeface="Calibri"/>
            </a:endParaRPr>
          </a:p>
        </p:txBody>
      </p:sp>
      <p:sp>
        <p:nvSpPr>
          <p:cNvPr id="666" name="Google Shape;666;g3e92e6f0be2_0_127"/>
          <p:cNvSpPr/>
          <p:nvPr/>
        </p:nvSpPr>
        <p:spPr>
          <a:xfrm>
            <a:off x="3474720" y="1536192"/>
            <a:ext cx="960000" cy="2925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g3e92e6f0be2_0_127"/>
          <p:cNvSpPr/>
          <p:nvPr/>
        </p:nvSpPr>
        <p:spPr>
          <a:xfrm>
            <a:off x="3474720" y="1536192"/>
            <a:ext cx="9600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revrobotics.com/ion</a:t>
            </a:r>
            <a:endParaRPr b="0" i="0" sz="800" u="none" cap="none" strike="noStrike">
              <a:solidFill>
                <a:schemeClr val="dk1"/>
              </a:solidFill>
              <a:latin typeface="Calibri"/>
              <a:ea typeface="Calibri"/>
              <a:cs typeface="Calibri"/>
              <a:sym typeface="Calibri"/>
            </a:endParaRPr>
          </a:p>
        </p:txBody>
      </p:sp>
      <p:sp>
        <p:nvSpPr>
          <p:cNvPr id="668" name="Google Shape;668;g3e92e6f0be2_0_127"/>
          <p:cNvSpPr/>
          <p:nvPr/>
        </p:nvSpPr>
        <p:spPr>
          <a:xfrm>
            <a:off x="365760" y="1920240"/>
            <a:ext cx="40599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REV's yearly reference robot built entirely on the REV ION ecosystem (MAXTube structure, NEO/Vortex motors, SPARK controllers, PDH). Full CAD on OnShape, full code on GitHub. Designed to showcase how all REV components work together. Particularly useful for teams committed to the REV ecosystem — direct drop-in designs for mechanisms.</a:t>
            </a:r>
            <a:endParaRPr b="0" i="0" sz="1000" u="none" cap="none" strike="noStrike">
              <a:solidFill>
                <a:schemeClr val="dk1"/>
              </a:solidFill>
              <a:latin typeface="Calibri"/>
              <a:ea typeface="Calibri"/>
              <a:cs typeface="Calibri"/>
              <a:sym typeface="Calibri"/>
            </a:endParaRPr>
          </a:p>
        </p:txBody>
      </p:sp>
      <p:sp>
        <p:nvSpPr>
          <p:cNvPr id="669" name="Google Shape;669;g3e92e6f0be2_0_127"/>
          <p:cNvSpPr/>
          <p:nvPr/>
        </p:nvSpPr>
        <p:spPr>
          <a:xfrm>
            <a:off x="347472" y="2752344"/>
            <a:ext cx="4096500" cy="219600"/>
          </a:xfrm>
          <a:prstGeom prst="rect">
            <a:avLst/>
          </a:prstGeom>
          <a:solidFill>
            <a:srgbClr val="EFF3FA"/>
          </a:solidFill>
          <a:ln cap="flat" cmpd="sng" w="9525">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g3e92e6f0be2_0_127"/>
          <p:cNvSpPr/>
          <p:nvPr/>
        </p:nvSpPr>
        <p:spPr>
          <a:xfrm>
            <a:off x="411480" y="2761488"/>
            <a:ext cx="397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950"/>
              <a:buFont typeface="Calibri"/>
              <a:buNone/>
            </a:pPr>
            <a:r>
              <a:rPr b="0" i="1" lang="en-US" sz="950" u="none" cap="none" strike="noStrike">
                <a:solidFill>
                  <a:srgbClr val="0D1B2A"/>
                </a:solidFill>
                <a:latin typeface="Calibri"/>
                <a:ea typeface="Calibri"/>
                <a:cs typeface="Calibri"/>
                <a:sym typeface="Calibri"/>
              </a:rPr>
              <a:t>📌 Best for: Teams using REV motors and structure who want proven mechanism starting points.</a:t>
            </a:r>
            <a:endParaRPr b="0" i="0" sz="950" u="none" cap="none" strike="noStrike">
              <a:solidFill>
                <a:schemeClr val="dk1"/>
              </a:solidFill>
              <a:latin typeface="Calibri"/>
              <a:ea typeface="Calibri"/>
              <a:cs typeface="Calibri"/>
              <a:sym typeface="Calibri"/>
            </a:endParaRPr>
          </a:p>
        </p:txBody>
      </p:sp>
      <p:sp>
        <p:nvSpPr>
          <p:cNvPr id="671" name="Google Shape;671;g3e92e6f0be2_0_127"/>
          <p:cNvSpPr/>
          <p:nvPr/>
        </p:nvSpPr>
        <p:spPr>
          <a:xfrm>
            <a:off x="4709160" y="1417320"/>
            <a:ext cx="4251900" cy="16275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g3e92e6f0be2_0_127"/>
          <p:cNvSpPr/>
          <p:nvPr/>
        </p:nvSpPr>
        <p:spPr>
          <a:xfrm>
            <a:off x="4709160" y="1417320"/>
            <a:ext cx="4251900" cy="73200"/>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g3e92e6f0be2_0_127"/>
          <p:cNvSpPr/>
          <p:nvPr/>
        </p:nvSpPr>
        <p:spPr>
          <a:xfrm>
            <a:off x="4800600" y="1554480"/>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WCP Reference / Greyt Elevator Guide</a:t>
            </a:r>
            <a:endParaRPr b="0" i="0" sz="1200" u="none" cap="none" strike="noStrike">
              <a:solidFill>
                <a:schemeClr val="dk1"/>
              </a:solidFill>
              <a:latin typeface="Calibri"/>
              <a:ea typeface="Calibri"/>
              <a:cs typeface="Calibri"/>
              <a:sym typeface="Calibri"/>
            </a:endParaRPr>
          </a:p>
        </p:txBody>
      </p:sp>
      <p:sp>
        <p:nvSpPr>
          <p:cNvPr id="674" name="Google Shape;674;g3e92e6f0be2_0_127"/>
          <p:cNvSpPr/>
          <p:nvPr/>
        </p:nvSpPr>
        <p:spPr>
          <a:xfrm>
            <a:off x="7909560" y="1536192"/>
            <a:ext cx="960000" cy="292500"/>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g3e92e6f0be2_0_127"/>
          <p:cNvSpPr/>
          <p:nvPr/>
        </p:nvSpPr>
        <p:spPr>
          <a:xfrm>
            <a:off x="7909560" y="1536192"/>
            <a:ext cx="9600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wcproducts.com</a:t>
            </a:r>
            <a:endParaRPr b="0" i="0" sz="800" u="none" cap="none" strike="noStrike">
              <a:solidFill>
                <a:schemeClr val="dk1"/>
              </a:solidFill>
              <a:latin typeface="Calibri"/>
              <a:ea typeface="Calibri"/>
              <a:cs typeface="Calibri"/>
              <a:sym typeface="Calibri"/>
            </a:endParaRPr>
          </a:p>
        </p:txBody>
      </p:sp>
      <p:sp>
        <p:nvSpPr>
          <p:cNvPr id="676" name="Google Shape;676;g3e92e6f0be2_0_127"/>
          <p:cNvSpPr/>
          <p:nvPr/>
        </p:nvSpPr>
        <p:spPr>
          <a:xfrm>
            <a:off x="4800600" y="1920240"/>
            <a:ext cx="40599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West Coast Products publishes CAD and assembly documentation for their Greyt Universal Cascade Elevator, SFX gearboxes, and drive systems. Not a full robot, but deep mechanism documentation. The Greyt elevator guide alone has saved hundreds of teams weeks of design time — it's the most-copied elevator platform in FRC.</a:t>
            </a:r>
            <a:endParaRPr b="0" i="0" sz="1000" u="none" cap="none" strike="noStrike">
              <a:solidFill>
                <a:schemeClr val="dk1"/>
              </a:solidFill>
              <a:latin typeface="Calibri"/>
              <a:ea typeface="Calibri"/>
              <a:cs typeface="Calibri"/>
              <a:sym typeface="Calibri"/>
            </a:endParaRPr>
          </a:p>
        </p:txBody>
      </p:sp>
      <p:sp>
        <p:nvSpPr>
          <p:cNvPr id="677" name="Google Shape;677;g3e92e6f0be2_0_127"/>
          <p:cNvSpPr/>
          <p:nvPr/>
        </p:nvSpPr>
        <p:spPr>
          <a:xfrm>
            <a:off x="4782312" y="2752344"/>
            <a:ext cx="4096500" cy="219600"/>
          </a:xfrm>
          <a:prstGeom prst="rect">
            <a:avLst/>
          </a:prstGeom>
          <a:solidFill>
            <a:srgbClr val="EFF3FA"/>
          </a:solidFill>
          <a:ln cap="flat" cmpd="sng" w="9525">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g3e92e6f0be2_0_127"/>
          <p:cNvSpPr/>
          <p:nvPr/>
        </p:nvSpPr>
        <p:spPr>
          <a:xfrm>
            <a:off x="4846320" y="2761488"/>
            <a:ext cx="397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950"/>
              <a:buFont typeface="Calibri"/>
              <a:buNone/>
            </a:pPr>
            <a:r>
              <a:rPr b="0" i="1" lang="en-US" sz="950" u="none" cap="none" strike="noStrike">
                <a:solidFill>
                  <a:srgbClr val="0D1B2A"/>
                </a:solidFill>
                <a:latin typeface="Calibri"/>
                <a:ea typeface="Calibri"/>
                <a:cs typeface="Calibri"/>
                <a:sym typeface="Calibri"/>
              </a:rPr>
              <a:t>📌 Best for: Teams looking for an industry-proven elevator or gearbox to anchor their design around.</a:t>
            </a:r>
            <a:endParaRPr b="0" i="0" sz="950" u="none" cap="none" strike="noStrike">
              <a:solidFill>
                <a:schemeClr val="dk1"/>
              </a:solidFill>
              <a:latin typeface="Calibri"/>
              <a:ea typeface="Calibri"/>
              <a:cs typeface="Calibri"/>
              <a:sym typeface="Calibri"/>
            </a:endParaRPr>
          </a:p>
        </p:txBody>
      </p:sp>
      <p:sp>
        <p:nvSpPr>
          <p:cNvPr id="679" name="Google Shape;679;g3e92e6f0be2_0_127"/>
          <p:cNvSpPr/>
          <p:nvPr/>
        </p:nvSpPr>
        <p:spPr>
          <a:xfrm>
            <a:off x="274320" y="3154680"/>
            <a:ext cx="4251900" cy="16275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g3e92e6f0be2_0_127"/>
          <p:cNvSpPr/>
          <p:nvPr/>
        </p:nvSpPr>
        <p:spPr>
          <a:xfrm>
            <a:off x="274320" y="3154680"/>
            <a:ext cx="4251900" cy="732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g3e92e6f0be2_0_127"/>
          <p:cNvSpPr/>
          <p:nvPr/>
        </p:nvSpPr>
        <p:spPr>
          <a:xfrm>
            <a:off x="365760" y="3291840"/>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2910 'Pinkarm' Arm Concept</a:t>
            </a:r>
            <a:endParaRPr b="0" i="0" sz="1200" u="none" cap="none" strike="noStrike">
              <a:solidFill>
                <a:schemeClr val="dk1"/>
              </a:solidFill>
              <a:latin typeface="Calibri"/>
              <a:ea typeface="Calibri"/>
              <a:cs typeface="Calibri"/>
              <a:sym typeface="Calibri"/>
            </a:endParaRPr>
          </a:p>
        </p:txBody>
      </p:sp>
      <p:sp>
        <p:nvSpPr>
          <p:cNvPr id="682" name="Google Shape;682;g3e92e6f0be2_0_127"/>
          <p:cNvSpPr/>
          <p:nvPr/>
        </p:nvSpPr>
        <p:spPr>
          <a:xfrm>
            <a:off x="3474720" y="3273552"/>
            <a:ext cx="960000" cy="2925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g3e92e6f0be2_0_127"/>
          <p:cNvSpPr/>
          <p:nvPr/>
        </p:nvSpPr>
        <p:spPr>
          <a:xfrm>
            <a:off x="3474720" y="3273552"/>
            <a:ext cx="9600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Open Alliance</a:t>
            </a:r>
            <a:endParaRPr b="0" i="0" sz="800" u="none" cap="none" strike="noStrike">
              <a:solidFill>
                <a:schemeClr val="dk1"/>
              </a:solidFill>
              <a:latin typeface="Calibri"/>
              <a:ea typeface="Calibri"/>
              <a:cs typeface="Calibri"/>
              <a:sym typeface="Calibri"/>
            </a:endParaRPr>
          </a:p>
        </p:txBody>
      </p:sp>
      <p:sp>
        <p:nvSpPr>
          <p:cNvPr id="684" name="Google Shape;684;g3e92e6f0be2_0_127"/>
          <p:cNvSpPr/>
          <p:nvPr/>
        </p:nvSpPr>
        <p:spPr>
          <a:xfrm>
            <a:off x="365760" y="3657600"/>
            <a:ext cx="40599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After 2910 dominated with their arm-based robot in 2025, the FRC community dubbed their architecture the 'Pinkarm meta.' Fast, low-profile pivot arm with dual-purpose end effector. 1678's Michael Corsetto publicly noted: 'The 2910 arm may just become the new meta build of FRC.' Their design notes and Open Alliance thread break down all decisions.</a:t>
            </a:r>
            <a:endParaRPr b="0" i="0" sz="1000" u="none" cap="none" strike="noStrike">
              <a:solidFill>
                <a:schemeClr val="dk1"/>
              </a:solidFill>
              <a:latin typeface="Calibri"/>
              <a:ea typeface="Calibri"/>
              <a:cs typeface="Calibri"/>
              <a:sym typeface="Calibri"/>
            </a:endParaRPr>
          </a:p>
        </p:txBody>
      </p:sp>
      <p:sp>
        <p:nvSpPr>
          <p:cNvPr id="685" name="Google Shape;685;g3e92e6f0be2_0_127"/>
          <p:cNvSpPr/>
          <p:nvPr/>
        </p:nvSpPr>
        <p:spPr>
          <a:xfrm>
            <a:off x="347472" y="4489704"/>
            <a:ext cx="4096500" cy="219600"/>
          </a:xfrm>
          <a:prstGeom prst="rect">
            <a:avLst/>
          </a:prstGeom>
          <a:solidFill>
            <a:srgbClr val="EFF3FA"/>
          </a:solidFill>
          <a:ln cap="flat" cmpd="sng" w="9525">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g3e92e6f0be2_0_127"/>
          <p:cNvSpPr/>
          <p:nvPr/>
        </p:nvSpPr>
        <p:spPr>
          <a:xfrm>
            <a:off x="411480" y="4498848"/>
            <a:ext cx="397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950"/>
              <a:buFont typeface="Calibri"/>
              <a:buNone/>
            </a:pPr>
            <a:r>
              <a:rPr b="0" i="1" lang="en-US" sz="950" u="none" cap="none" strike="noStrike">
                <a:solidFill>
                  <a:srgbClr val="0D1B2A"/>
                </a:solidFill>
                <a:latin typeface="Calibri"/>
                <a:ea typeface="Calibri"/>
                <a:cs typeface="Calibri"/>
                <a:sym typeface="Calibri"/>
              </a:rPr>
              <a:t>📌 Best for: Games requiring fast, flexible element manipulation at multiple heights.</a:t>
            </a:r>
            <a:endParaRPr b="0" i="0" sz="950" u="none" cap="none" strike="noStrike">
              <a:solidFill>
                <a:schemeClr val="dk1"/>
              </a:solidFill>
              <a:latin typeface="Calibri"/>
              <a:ea typeface="Calibri"/>
              <a:cs typeface="Calibri"/>
              <a:sym typeface="Calibri"/>
            </a:endParaRPr>
          </a:p>
        </p:txBody>
      </p:sp>
      <p:sp>
        <p:nvSpPr>
          <p:cNvPr id="687" name="Google Shape;687;g3e92e6f0be2_0_127"/>
          <p:cNvSpPr/>
          <p:nvPr/>
        </p:nvSpPr>
        <p:spPr>
          <a:xfrm>
            <a:off x="4709160" y="3154680"/>
            <a:ext cx="4251900" cy="16275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g3e92e6f0be2_0_127"/>
          <p:cNvSpPr/>
          <p:nvPr/>
        </p:nvSpPr>
        <p:spPr>
          <a:xfrm>
            <a:off x="4709160" y="3154680"/>
            <a:ext cx="4251900" cy="732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g3e92e6f0be2_0_127"/>
          <p:cNvSpPr/>
          <p:nvPr/>
        </p:nvSpPr>
        <p:spPr>
          <a:xfrm>
            <a:off x="4800600" y="3291840"/>
            <a:ext cx="30174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Ri3D Community Reference Robots</a:t>
            </a:r>
            <a:endParaRPr b="0" i="0" sz="1200" u="none" cap="none" strike="noStrike">
              <a:solidFill>
                <a:schemeClr val="dk1"/>
              </a:solidFill>
              <a:latin typeface="Calibri"/>
              <a:ea typeface="Calibri"/>
              <a:cs typeface="Calibri"/>
              <a:sym typeface="Calibri"/>
            </a:endParaRPr>
          </a:p>
        </p:txBody>
      </p:sp>
      <p:sp>
        <p:nvSpPr>
          <p:cNvPr id="690" name="Google Shape;690;g3e92e6f0be2_0_127"/>
          <p:cNvSpPr/>
          <p:nvPr/>
        </p:nvSpPr>
        <p:spPr>
          <a:xfrm>
            <a:off x="7909560" y="3273552"/>
            <a:ext cx="960000" cy="292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g3e92e6f0be2_0_127"/>
          <p:cNvSpPr/>
          <p:nvPr/>
        </p:nvSpPr>
        <p:spPr>
          <a:xfrm>
            <a:off x="7909560" y="3273552"/>
            <a:ext cx="9600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0" i="0" lang="en-US" sz="800" u="none" cap="none" strike="noStrike">
                <a:solidFill>
                  <a:srgbClr val="FFFFFF"/>
                </a:solidFill>
                <a:latin typeface="Calibri"/>
                <a:ea typeface="Calibri"/>
                <a:cs typeface="Calibri"/>
                <a:sym typeface="Calibri"/>
              </a:rPr>
              <a:t>Multiple Teams</a:t>
            </a:r>
            <a:endParaRPr b="0" i="0" sz="800" u="none" cap="none" strike="noStrike">
              <a:solidFill>
                <a:schemeClr val="dk1"/>
              </a:solidFill>
              <a:latin typeface="Calibri"/>
              <a:ea typeface="Calibri"/>
              <a:cs typeface="Calibri"/>
              <a:sym typeface="Calibri"/>
            </a:endParaRPr>
          </a:p>
        </p:txBody>
      </p:sp>
      <p:sp>
        <p:nvSpPr>
          <p:cNvPr id="692" name="Google Shape;692;g3e92e6f0be2_0_127"/>
          <p:cNvSpPr/>
          <p:nvPr/>
        </p:nvSpPr>
        <p:spPr>
          <a:xfrm>
            <a:off x="4800600" y="3657600"/>
            <a:ext cx="4059900" cy="80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Every Kickoff, 20+ Ri3D teams publish full robots in 72 hours. Between them they cover every major design direction — swerve, mecanum, tank, elevator, arm, shooter, climber variants. The Reefscape 2025 Masterpost on Chief Delphi lists all 20+ Ri3D teams with their CAD, code, and tech binders.</a:t>
            </a:r>
            <a:endParaRPr b="0" i="0" sz="1000" u="none" cap="none" strike="noStrike">
              <a:solidFill>
                <a:schemeClr val="dk1"/>
              </a:solidFill>
              <a:latin typeface="Calibri"/>
              <a:ea typeface="Calibri"/>
              <a:cs typeface="Calibri"/>
              <a:sym typeface="Calibri"/>
            </a:endParaRPr>
          </a:p>
        </p:txBody>
      </p:sp>
      <p:sp>
        <p:nvSpPr>
          <p:cNvPr id="693" name="Google Shape;693;g3e92e6f0be2_0_127"/>
          <p:cNvSpPr/>
          <p:nvPr/>
        </p:nvSpPr>
        <p:spPr>
          <a:xfrm>
            <a:off x="4782312" y="4489704"/>
            <a:ext cx="4096500" cy="219600"/>
          </a:xfrm>
          <a:prstGeom prst="rect">
            <a:avLst/>
          </a:prstGeom>
          <a:solidFill>
            <a:srgbClr val="EFF3FA"/>
          </a:solidFill>
          <a:ln cap="flat" cmpd="sng" w="9525">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g3e92e6f0be2_0_127"/>
          <p:cNvSpPr/>
          <p:nvPr/>
        </p:nvSpPr>
        <p:spPr>
          <a:xfrm>
            <a:off x="4846320" y="4498848"/>
            <a:ext cx="3977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950"/>
              <a:buFont typeface="Calibri"/>
              <a:buNone/>
            </a:pPr>
            <a:r>
              <a:rPr b="0" i="1" lang="en-US" sz="950" u="none" cap="none" strike="noStrike">
                <a:solidFill>
                  <a:srgbClr val="0D1B2A"/>
                </a:solidFill>
                <a:latin typeface="Calibri"/>
                <a:ea typeface="Calibri"/>
                <a:cs typeface="Calibri"/>
                <a:sym typeface="Calibri"/>
              </a:rPr>
              <a:t>📌 Best for: Immediately after Kickoff — see what's feasible before committing to a design direction.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699" name="Shape 699"/>
        <p:cNvGrpSpPr/>
        <p:nvPr/>
      </p:nvGrpSpPr>
      <p:grpSpPr>
        <a:xfrm>
          <a:off x="0" y="0"/>
          <a:ext cx="0" cy="0"/>
          <a:chOff x="0" y="0"/>
          <a:chExt cx="0" cy="0"/>
        </a:xfrm>
      </p:grpSpPr>
      <p:sp>
        <p:nvSpPr>
          <p:cNvPr id="700" name="Google Shape;700;g3e92e6f0be2_0_171"/>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g3e92e6f0be2_0_171"/>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Robot in 3 Days (Ri3D) — What It Is &amp; How to Use It</a:t>
            </a:r>
            <a:endParaRPr b="0" i="0" sz="2100" u="none" cap="none" strike="noStrike">
              <a:solidFill>
                <a:schemeClr val="dk1"/>
              </a:solidFill>
              <a:latin typeface="Calibri"/>
              <a:ea typeface="Calibri"/>
              <a:cs typeface="Calibri"/>
              <a:sym typeface="Calibri"/>
            </a:endParaRPr>
          </a:p>
        </p:txBody>
      </p:sp>
      <p:sp>
        <p:nvSpPr>
          <p:cNvPr id="702" name="Google Shape;702;g3e92e6f0be2_0_171"/>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g3e92e6f0be2_0_171"/>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RI3D</a:t>
            </a:r>
            <a:endParaRPr b="0" i="0" sz="1100" u="none" cap="none" strike="noStrike">
              <a:solidFill>
                <a:schemeClr val="dk1"/>
              </a:solidFill>
              <a:latin typeface="Calibri"/>
              <a:ea typeface="Calibri"/>
              <a:cs typeface="Calibri"/>
              <a:sym typeface="Calibri"/>
            </a:endParaRPr>
          </a:p>
        </p:txBody>
      </p:sp>
      <p:sp>
        <p:nvSpPr>
          <p:cNvPr id="704" name="Google Shape;704;g3e92e6f0be2_0_171"/>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g3e92e6f0be2_0_171"/>
          <p:cNvSpPr/>
          <p:nvPr/>
        </p:nvSpPr>
        <p:spPr>
          <a:xfrm>
            <a:off x="457200" y="777240"/>
            <a:ext cx="82296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Ri3D teams build complete FRC robots in 72 hours after Kickoff — entirely publicly documented. Their work is the fastest shortcut from 'game reveal' to 'proven design direction' in all of FRC.</a:t>
            </a:r>
            <a:endParaRPr b="0" i="0" sz="1300" u="none" cap="none" strike="noStrike">
              <a:solidFill>
                <a:schemeClr val="dk1"/>
              </a:solidFill>
              <a:latin typeface="Calibri"/>
              <a:ea typeface="Calibri"/>
              <a:cs typeface="Calibri"/>
              <a:sym typeface="Calibri"/>
            </a:endParaRPr>
          </a:p>
        </p:txBody>
      </p:sp>
      <p:sp>
        <p:nvSpPr>
          <p:cNvPr id="706" name="Google Shape;706;g3e92e6f0be2_0_171"/>
          <p:cNvSpPr/>
          <p:nvPr/>
        </p:nvSpPr>
        <p:spPr>
          <a:xfrm>
            <a:off x="274320" y="1417320"/>
            <a:ext cx="4251900" cy="35478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g3e92e6f0be2_0_171"/>
          <p:cNvSpPr/>
          <p:nvPr/>
        </p:nvSpPr>
        <p:spPr>
          <a:xfrm>
            <a:off x="274320" y="1417320"/>
            <a:ext cx="4251900" cy="3657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g3e92e6f0be2_0_171"/>
          <p:cNvSpPr/>
          <p:nvPr/>
        </p:nvSpPr>
        <p:spPr>
          <a:xfrm>
            <a:off x="365760" y="1417320"/>
            <a:ext cx="4069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Why Ri3D Matters</a:t>
            </a:r>
            <a:endParaRPr b="0" i="0" sz="1300" u="none" cap="none" strike="noStrike">
              <a:solidFill>
                <a:schemeClr val="dk1"/>
              </a:solidFill>
              <a:latin typeface="Calibri"/>
              <a:ea typeface="Calibri"/>
              <a:cs typeface="Calibri"/>
              <a:sym typeface="Calibri"/>
            </a:endParaRPr>
          </a:p>
        </p:txBody>
      </p:sp>
      <p:sp>
        <p:nvSpPr>
          <p:cNvPr id="709" name="Google Shape;709;g3e92e6f0be2_0_171"/>
          <p:cNvSpPr/>
          <p:nvPr/>
        </p:nvSpPr>
        <p:spPr>
          <a:xfrm>
            <a:off x="411480" y="1847088"/>
            <a:ext cx="3977700" cy="3045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The timeline: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Kickoff is Saturday. Ri3D teams start immediately. By Tuesday/Wednesday, before most teams have even finished their game analysis, Ri3D teams have working robots on video with CAD published.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What they publish:</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Full robot CAD (usually OnShape)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GitHub code repository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Bill of materials + estimated cost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Tech binder / design decisions document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Livestream footage + reveal videos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How to follow Ri3D: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Search 'Ri3D [year] [game name] masterpost' on Chief Delphi. A community wiki is updated within hours of Kickoff listing every team with links to their thread, CAD, and code.</a:t>
            </a:r>
            <a:endParaRPr b="0" i="0" sz="1200" u="none" cap="none" strike="noStrike">
              <a:solidFill>
                <a:schemeClr val="dk1"/>
              </a:solidFill>
              <a:latin typeface="Calibri"/>
              <a:ea typeface="Calibri"/>
              <a:cs typeface="Calibri"/>
              <a:sym typeface="Calibri"/>
            </a:endParaRPr>
          </a:p>
        </p:txBody>
      </p:sp>
      <p:sp>
        <p:nvSpPr>
          <p:cNvPr id="710" name="Google Shape;710;g3e92e6f0be2_0_171"/>
          <p:cNvSpPr/>
          <p:nvPr/>
        </p:nvSpPr>
        <p:spPr>
          <a:xfrm>
            <a:off x="4709160" y="1417320"/>
            <a:ext cx="4251900" cy="7680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g3e92e6f0be2_0_171"/>
          <p:cNvSpPr/>
          <p:nvPr/>
        </p:nvSpPr>
        <p:spPr>
          <a:xfrm>
            <a:off x="4709160" y="1417320"/>
            <a:ext cx="1097400" cy="7680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g3e92e6f0be2_0_171"/>
          <p:cNvSpPr/>
          <p:nvPr/>
        </p:nvSpPr>
        <p:spPr>
          <a:xfrm>
            <a:off x="4709160" y="1453896"/>
            <a:ext cx="10974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Unqualified Quokkas</a:t>
            </a:r>
            <a:endParaRPr b="0" i="0" sz="900" u="none" cap="none" strike="noStrike">
              <a:solidFill>
                <a:schemeClr val="dk1"/>
              </a:solidFill>
              <a:latin typeface="Calibri"/>
              <a:ea typeface="Calibri"/>
              <a:cs typeface="Calibri"/>
              <a:sym typeface="Calibri"/>
            </a:endParaRPr>
          </a:p>
        </p:txBody>
      </p:sp>
      <p:sp>
        <p:nvSpPr>
          <p:cNvPr id="713" name="Google Shape;713;g3e92e6f0be2_0_171"/>
          <p:cNvSpPr/>
          <p:nvPr/>
        </p:nvSpPr>
        <p:spPr>
          <a:xfrm>
            <a:off x="4709160" y="1874520"/>
            <a:ext cx="1097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50"/>
              <a:buFont typeface="Calibri"/>
              <a:buNone/>
            </a:pPr>
            <a:r>
              <a:rPr b="0" i="0" lang="en-US" sz="850" u="none" cap="none" strike="noStrike">
                <a:solidFill>
                  <a:srgbClr val="D8E4F0"/>
                </a:solidFill>
                <a:latin typeface="Calibri"/>
                <a:ea typeface="Calibri"/>
                <a:cs typeface="Calibri"/>
                <a:sym typeface="Calibri"/>
              </a:rPr>
              <a:t>Australia 🇦🇺</a:t>
            </a:r>
            <a:endParaRPr b="0" i="0" sz="850" u="none" cap="none" strike="noStrike">
              <a:solidFill>
                <a:schemeClr val="dk1"/>
              </a:solidFill>
              <a:latin typeface="Calibri"/>
              <a:ea typeface="Calibri"/>
              <a:cs typeface="Calibri"/>
              <a:sym typeface="Calibri"/>
            </a:endParaRPr>
          </a:p>
        </p:txBody>
      </p:sp>
      <p:sp>
        <p:nvSpPr>
          <p:cNvPr id="714" name="Google Shape;714;g3e92e6f0be2_0_171"/>
          <p:cNvSpPr/>
          <p:nvPr/>
        </p:nvSpPr>
        <p:spPr>
          <a:xfrm>
            <a:off x="5879592" y="1481328"/>
            <a:ext cx="2999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FRC alumni from Australia. Sponsored by AndyMark. Full CAD+code release. Stream live during build. Known for clean designs and approachable documentation especially for lower-resource teams.</a:t>
            </a:r>
            <a:endParaRPr b="0" i="0" sz="1050" u="none" cap="none" strike="noStrike">
              <a:solidFill>
                <a:schemeClr val="dk1"/>
              </a:solidFill>
              <a:latin typeface="Calibri"/>
              <a:ea typeface="Calibri"/>
              <a:cs typeface="Calibri"/>
              <a:sym typeface="Calibri"/>
            </a:endParaRPr>
          </a:p>
        </p:txBody>
      </p:sp>
      <p:sp>
        <p:nvSpPr>
          <p:cNvPr id="715" name="Google Shape;715;g3e92e6f0be2_0_171"/>
          <p:cNvSpPr/>
          <p:nvPr/>
        </p:nvSpPr>
        <p:spPr>
          <a:xfrm>
            <a:off x="4709160" y="2295144"/>
            <a:ext cx="4251900" cy="7680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g3e92e6f0be2_0_171"/>
          <p:cNvSpPr/>
          <p:nvPr/>
        </p:nvSpPr>
        <p:spPr>
          <a:xfrm>
            <a:off x="4709160" y="2295144"/>
            <a:ext cx="1097400" cy="7680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g3e92e6f0be2_0_171"/>
          <p:cNvSpPr/>
          <p:nvPr/>
        </p:nvSpPr>
        <p:spPr>
          <a:xfrm>
            <a:off x="4709160" y="2331720"/>
            <a:ext cx="10974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RustHOUNDS (868)</a:t>
            </a:r>
            <a:endParaRPr b="0" i="0" sz="900" u="none" cap="none" strike="noStrike">
              <a:solidFill>
                <a:schemeClr val="dk1"/>
              </a:solidFill>
              <a:latin typeface="Calibri"/>
              <a:ea typeface="Calibri"/>
              <a:cs typeface="Calibri"/>
              <a:sym typeface="Calibri"/>
            </a:endParaRPr>
          </a:p>
        </p:txBody>
      </p:sp>
      <p:sp>
        <p:nvSpPr>
          <p:cNvPr id="718" name="Google Shape;718;g3e92e6f0be2_0_171"/>
          <p:cNvSpPr/>
          <p:nvPr/>
        </p:nvSpPr>
        <p:spPr>
          <a:xfrm>
            <a:off x="4709160" y="2752344"/>
            <a:ext cx="1097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50"/>
              <a:buFont typeface="Calibri"/>
              <a:buNone/>
            </a:pPr>
            <a:r>
              <a:rPr b="0" i="0" lang="en-US" sz="850" u="none" cap="none" strike="noStrike">
                <a:solidFill>
                  <a:srgbClr val="D8E4F0"/>
                </a:solidFill>
                <a:latin typeface="Calibri"/>
                <a:ea typeface="Calibri"/>
                <a:cs typeface="Calibri"/>
                <a:sym typeface="Calibri"/>
              </a:rPr>
              <a:t>Carmel, IN</a:t>
            </a:r>
            <a:endParaRPr b="0" i="0" sz="850" u="none" cap="none" strike="noStrike">
              <a:solidFill>
                <a:schemeClr val="dk1"/>
              </a:solidFill>
              <a:latin typeface="Calibri"/>
              <a:ea typeface="Calibri"/>
              <a:cs typeface="Calibri"/>
              <a:sym typeface="Calibri"/>
            </a:endParaRPr>
          </a:p>
        </p:txBody>
      </p:sp>
      <p:sp>
        <p:nvSpPr>
          <p:cNvPr id="719" name="Google Shape;719;g3e92e6f0be2_0_171"/>
          <p:cNvSpPr/>
          <p:nvPr/>
        </p:nvSpPr>
        <p:spPr>
          <a:xfrm>
            <a:off x="5879592" y="2359152"/>
            <a:ext cx="2999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Alumni from TechHOUNDS FRC 868. Collegiate-style build. Detailed engineering process documentation. Good for teams wanting to understand WHY design choices are made, not just what.</a:t>
            </a:r>
            <a:endParaRPr b="0" i="0" sz="1050" u="none" cap="none" strike="noStrike">
              <a:solidFill>
                <a:schemeClr val="dk1"/>
              </a:solidFill>
              <a:latin typeface="Calibri"/>
              <a:ea typeface="Calibri"/>
              <a:cs typeface="Calibri"/>
              <a:sym typeface="Calibri"/>
            </a:endParaRPr>
          </a:p>
        </p:txBody>
      </p:sp>
      <p:sp>
        <p:nvSpPr>
          <p:cNvPr id="720" name="Google Shape;720;g3e92e6f0be2_0_171"/>
          <p:cNvSpPr/>
          <p:nvPr/>
        </p:nvSpPr>
        <p:spPr>
          <a:xfrm>
            <a:off x="4709160" y="3172968"/>
            <a:ext cx="4251900" cy="7680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g3e92e6f0be2_0_171"/>
          <p:cNvSpPr/>
          <p:nvPr/>
        </p:nvSpPr>
        <p:spPr>
          <a:xfrm>
            <a:off x="4709160" y="3172968"/>
            <a:ext cx="1097400" cy="7680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g3e92e6f0be2_0_171"/>
          <p:cNvSpPr/>
          <p:nvPr/>
        </p:nvSpPr>
        <p:spPr>
          <a:xfrm>
            <a:off x="4709160" y="3209544"/>
            <a:ext cx="10974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Ri3D @ Purdue / Penn State</a:t>
            </a:r>
            <a:endParaRPr b="0" i="0" sz="900" u="none" cap="none" strike="noStrike">
              <a:solidFill>
                <a:schemeClr val="dk1"/>
              </a:solidFill>
              <a:latin typeface="Calibri"/>
              <a:ea typeface="Calibri"/>
              <a:cs typeface="Calibri"/>
              <a:sym typeface="Calibri"/>
            </a:endParaRPr>
          </a:p>
        </p:txBody>
      </p:sp>
      <p:sp>
        <p:nvSpPr>
          <p:cNvPr id="723" name="Google Shape;723;g3e92e6f0be2_0_171"/>
          <p:cNvSpPr/>
          <p:nvPr/>
        </p:nvSpPr>
        <p:spPr>
          <a:xfrm>
            <a:off x="4709160" y="3630168"/>
            <a:ext cx="1097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50"/>
              <a:buFont typeface="Calibri"/>
              <a:buNone/>
            </a:pPr>
            <a:r>
              <a:rPr b="0" i="0" lang="en-US" sz="850" u="none" cap="none" strike="noStrike">
                <a:solidFill>
                  <a:srgbClr val="D8E4F0"/>
                </a:solidFill>
                <a:latin typeface="Calibri"/>
                <a:ea typeface="Calibri"/>
                <a:cs typeface="Calibri"/>
                <a:sym typeface="Calibri"/>
              </a:rPr>
              <a:t>Collegiate</a:t>
            </a:r>
            <a:endParaRPr b="0" i="0" sz="850" u="none" cap="none" strike="noStrike">
              <a:solidFill>
                <a:schemeClr val="dk1"/>
              </a:solidFill>
              <a:latin typeface="Calibri"/>
              <a:ea typeface="Calibri"/>
              <a:cs typeface="Calibri"/>
              <a:sym typeface="Calibri"/>
            </a:endParaRPr>
          </a:p>
        </p:txBody>
      </p:sp>
      <p:sp>
        <p:nvSpPr>
          <p:cNvPr id="724" name="Google Shape;724;g3e92e6f0be2_0_171"/>
          <p:cNvSpPr/>
          <p:nvPr/>
        </p:nvSpPr>
        <p:spPr>
          <a:xfrm>
            <a:off x="5879592" y="3236976"/>
            <a:ext cx="2999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University engineering club Ri3D programs. Mix of experienced FRC alumni. Very strong engineering analysis, often with multiple design iterations per mechanism during 72 hours.</a:t>
            </a:r>
            <a:endParaRPr b="0" i="0" sz="1050" u="none" cap="none" strike="noStrike">
              <a:solidFill>
                <a:schemeClr val="dk1"/>
              </a:solidFill>
              <a:latin typeface="Calibri"/>
              <a:ea typeface="Calibri"/>
              <a:cs typeface="Calibri"/>
              <a:sym typeface="Calibri"/>
            </a:endParaRPr>
          </a:p>
        </p:txBody>
      </p:sp>
      <p:sp>
        <p:nvSpPr>
          <p:cNvPr id="725" name="Google Shape;725;g3e92e6f0be2_0_171"/>
          <p:cNvSpPr/>
          <p:nvPr/>
        </p:nvSpPr>
        <p:spPr>
          <a:xfrm>
            <a:off x="4709160" y="4050792"/>
            <a:ext cx="4251900" cy="7680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g3e92e6f0be2_0_171"/>
          <p:cNvSpPr/>
          <p:nvPr/>
        </p:nvSpPr>
        <p:spPr>
          <a:xfrm>
            <a:off x="4709160" y="4050792"/>
            <a:ext cx="1097400" cy="7680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g3e92e6f0be2_0_171"/>
          <p:cNvSpPr/>
          <p:nvPr/>
        </p:nvSpPr>
        <p:spPr>
          <a:xfrm>
            <a:off x="4709160" y="4087368"/>
            <a:ext cx="1097400" cy="402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Team Ri3D 1.0</a:t>
            </a:r>
            <a:endParaRPr b="0" i="0" sz="900" u="none" cap="none" strike="noStrike">
              <a:solidFill>
                <a:schemeClr val="dk1"/>
              </a:solidFill>
              <a:latin typeface="Calibri"/>
              <a:ea typeface="Calibri"/>
              <a:cs typeface="Calibri"/>
              <a:sym typeface="Calibri"/>
            </a:endParaRPr>
          </a:p>
        </p:txBody>
      </p:sp>
      <p:sp>
        <p:nvSpPr>
          <p:cNvPr id="728" name="Google Shape;728;g3e92e6f0be2_0_171"/>
          <p:cNvSpPr/>
          <p:nvPr/>
        </p:nvSpPr>
        <p:spPr>
          <a:xfrm>
            <a:off x="4709160" y="4507992"/>
            <a:ext cx="10974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50"/>
              <a:buFont typeface="Calibri"/>
              <a:buNone/>
            </a:pPr>
            <a:r>
              <a:rPr b="0" i="0" lang="en-US" sz="850" u="none" cap="none" strike="noStrike">
                <a:solidFill>
                  <a:srgbClr val="D8E4F0"/>
                </a:solidFill>
                <a:latin typeface="Calibri"/>
                <a:ea typeface="Calibri"/>
                <a:cs typeface="Calibri"/>
                <a:sym typeface="Calibri"/>
              </a:rPr>
              <a:t>FRC Veteran Group</a:t>
            </a:r>
            <a:endParaRPr b="0" i="0" sz="850" u="none" cap="none" strike="noStrike">
              <a:solidFill>
                <a:schemeClr val="dk1"/>
              </a:solidFill>
              <a:latin typeface="Calibri"/>
              <a:ea typeface="Calibri"/>
              <a:cs typeface="Calibri"/>
              <a:sym typeface="Calibri"/>
            </a:endParaRPr>
          </a:p>
        </p:txBody>
      </p:sp>
      <p:sp>
        <p:nvSpPr>
          <p:cNvPr id="729" name="Google Shape;729;g3e92e6f0be2_0_171"/>
          <p:cNvSpPr/>
          <p:nvPr/>
        </p:nvSpPr>
        <p:spPr>
          <a:xfrm>
            <a:off x="5879592" y="4114800"/>
            <a:ext cx="29991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One of the original Ri3D programs. Strategy-focused. Provides game analysis, robot concepts, and scoring strategy guides — not just a mechanical reference but a full strategy primer for the season.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6B"/>
        </a:solidFill>
      </p:bgPr>
    </p:bg>
    <p:spTree>
      <p:nvGrpSpPr>
        <p:cNvPr id="734" name="Shape 734"/>
        <p:cNvGrpSpPr/>
        <p:nvPr/>
      </p:nvGrpSpPr>
      <p:grpSpPr>
        <a:xfrm>
          <a:off x="0" y="0"/>
          <a:ext cx="0" cy="0"/>
          <a:chOff x="0" y="0"/>
          <a:chExt cx="0" cy="0"/>
        </a:xfrm>
      </p:grpSpPr>
      <p:sp>
        <p:nvSpPr>
          <p:cNvPr id="735" name="Google Shape;735;p17"/>
          <p:cNvSpPr/>
          <p:nvPr/>
        </p:nvSpPr>
        <p:spPr>
          <a:xfrm>
            <a:off x="0" y="0"/>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7"/>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7"/>
          <p:cNvSpPr/>
          <p:nvPr/>
        </p:nvSpPr>
        <p:spPr>
          <a:xfrm>
            <a:off x="731520" y="1371600"/>
            <a:ext cx="768096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FRC Supplier Guide</a:t>
            </a:r>
            <a:endParaRPr b="0" i="0" sz="4200" u="none" cap="none" strike="noStrike">
              <a:solidFill>
                <a:schemeClr val="dk1"/>
              </a:solidFill>
              <a:latin typeface="Calibri"/>
              <a:ea typeface="Calibri"/>
              <a:cs typeface="Calibri"/>
              <a:sym typeface="Calibri"/>
            </a:endParaRPr>
          </a:p>
        </p:txBody>
      </p:sp>
      <p:sp>
        <p:nvSpPr>
          <p:cNvPr id="738" name="Google Shape;738;p17"/>
          <p:cNvSpPr/>
          <p:nvPr/>
        </p:nvSpPr>
        <p:spPr>
          <a:xfrm>
            <a:off x="914400" y="2926080"/>
            <a:ext cx="73152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500"/>
              <a:buFont typeface="Calibri"/>
              <a:buNone/>
            </a:pPr>
            <a:r>
              <a:rPr b="0" i="1" lang="en-US" sz="1500" u="none" cap="none" strike="noStrike">
                <a:solidFill>
                  <a:srgbClr val="D8E4F0"/>
                </a:solidFill>
                <a:latin typeface="Calibri"/>
                <a:ea typeface="Calibri"/>
                <a:cs typeface="Calibri"/>
                <a:sym typeface="Calibri"/>
              </a:rPr>
              <a:t>REV · CTRE/WCP · AndyMark · SDS · ThriftyBot · and more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743" name="Shape 743"/>
        <p:cNvGrpSpPr/>
        <p:nvPr/>
      </p:nvGrpSpPr>
      <p:grpSpPr>
        <a:xfrm>
          <a:off x="0" y="0"/>
          <a:ext cx="0" cy="0"/>
          <a:chOff x="0" y="0"/>
          <a:chExt cx="0" cy="0"/>
        </a:xfrm>
      </p:grpSpPr>
      <p:sp>
        <p:nvSpPr>
          <p:cNvPr id="744" name="Google Shape;744;p18"/>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8"/>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REV Robotics</a:t>
            </a:r>
            <a:endParaRPr b="0" i="0" sz="2100" u="none" cap="none" strike="noStrike">
              <a:solidFill>
                <a:schemeClr val="dk1"/>
              </a:solidFill>
              <a:latin typeface="Calibri"/>
              <a:ea typeface="Calibri"/>
              <a:cs typeface="Calibri"/>
              <a:sym typeface="Calibri"/>
            </a:endParaRPr>
          </a:p>
        </p:txBody>
      </p:sp>
      <p:sp>
        <p:nvSpPr>
          <p:cNvPr id="746" name="Google Shape;746;p18"/>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8"/>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SUPPLIER</a:t>
            </a:r>
            <a:endParaRPr b="0" i="0" sz="1100" u="none" cap="none" strike="noStrike">
              <a:solidFill>
                <a:schemeClr val="dk1"/>
              </a:solidFill>
              <a:latin typeface="Calibri"/>
              <a:ea typeface="Calibri"/>
              <a:cs typeface="Calibri"/>
              <a:sym typeface="Calibri"/>
            </a:endParaRPr>
          </a:p>
        </p:txBody>
      </p:sp>
      <p:sp>
        <p:nvSpPr>
          <p:cNvPr id="748" name="Google Shape;748;p18"/>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8"/>
          <p:cNvSpPr/>
          <p:nvPr/>
        </p:nvSpPr>
        <p:spPr>
          <a:xfrm>
            <a:off x="457200" y="7772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REV is the official control system partner for FRC and the primary sponsor of team electrical infrastructure. Their ecosystem is highly integrated — all REV devices talk to each other over CAN bus with minimal setup.</a:t>
            </a:r>
            <a:endParaRPr b="0" i="0" sz="1300" u="none" cap="none" strike="noStrike">
              <a:solidFill>
                <a:schemeClr val="dk1"/>
              </a:solidFill>
              <a:latin typeface="Calibri"/>
              <a:ea typeface="Calibri"/>
              <a:cs typeface="Calibri"/>
              <a:sym typeface="Calibri"/>
            </a:endParaRPr>
          </a:p>
        </p:txBody>
      </p:sp>
      <p:sp>
        <p:nvSpPr>
          <p:cNvPr id="750" name="Google Shape;750;p18"/>
          <p:cNvSpPr/>
          <p:nvPr/>
        </p:nvSpPr>
        <p:spPr>
          <a:xfrm>
            <a:off x="274320" y="1463040"/>
            <a:ext cx="2816352" cy="34930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8"/>
          <p:cNvSpPr/>
          <p:nvPr/>
        </p:nvSpPr>
        <p:spPr>
          <a:xfrm>
            <a:off x="274320" y="1463040"/>
            <a:ext cx="2816352" cy="347472"/>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8"/>
          <p:cNvSpPr/>
          <p:nvPr/>
        </p:nvSpPr>
        <p:spPr>
          <a:xfrm>
            <a:off x="347472" y="1463040"/>
            <a:ext cx="2670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Motors &amp; Controllers</a:t>
            </a:r>
            <a:endParaRPr b="0" i="0" sz="1200" u="none" cap="none" strike="noStrike">
              <a:solidFill>
                <a:schemeClr val="dk1"/>
              </a:solidFill>
              <a:latin typeface="Calibri"/>
              <a:ea typeface="Calibri"/>
              <a:cs typeface="Calibri"/>
              <a:sym typeface="Calibri"/>
            </a:endParaRPr>
          </a:p>
        </p:txBody>
      </p:sp>
      <p:sp>
        <p:nvSpPr>
          <p:cNvPr id="753" name="Google Shape;753;p18"/>
          <p:cNvSpPr/>
          <p:nvPr/>
        </p:nvSpPr>
        <p:spPr>
          <a:xfrm>
            <a:off x="365760" y="1865376"/>
            <a:ext cx="2633472" cy="30175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NEO Brushless V1.1 — ~$35 — Compact, 6,000 RPM, extremely popular intake/mechanism motor</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NEO 550 — ~$28 — Tiny brushless for small mechanisms (wrist, rollers, small intakes)</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NEO Vortex — ~$90 — High-power brushless with Hall-effect encoder. Pairs with SPARK Flex</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SPARK MAX — ~$60 — Smart motor controller for NEO/NEO 550. USB tuning, CAN/PWM</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SPARK Flex — ~$75 — Docks directly onto NEO Vortex. Reduces wiring complexity</a:t>
            </a:r>
            <a:endParaRPr b="0" i="0" sz="1050" u="none" cap="none" strike="noStrike">
              <a:solidFill>
                <a:schemeClr val="dk1"/>
              </a:solidFill>
              <a:latin typeface="Calibri"/>
              <a:ea typeface="Calibri"/>
              <a:cs typeface="Calibri"/>
              <a:sym typeface="Calibri"/>
            </a:endParaRPr>
          </a:p>
        </p:txBody>
      </p:sp>
      <p:sp>
        <p:nvSpPr>
          <p:cNvPr id="754" name="Google Shape;754;p18"/>
          <p:cNvSpPr/>
          <p:nvPr/>
        </p:nvSpPr>
        <p:spPr>
          <a:xfrm>
            <a:off x="3218688" y="1463040"/>
            <a:ext cx="2816352" cy="34930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8"/>
          <p:cNvSpPr/>
          <p:nvPr/>
        </p:nvSpPr>
        <p:spPr>
          <a:xfrm>
            <a:off x="3218688" y="1463040"/>
            <a:ext cx="2816352" cy="34747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8"/>
          <p:cNvSpPr/>
          <p:nvPr/>
        </p:nvSpPr>
        <p:spPr>
          <a:xfrm>
            <a:off x="3291840" y="1463040"/>
            <a:ext cx="2670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Control System</a:t>
            </a:r>
            <a:endParaRPr b="0" i="0" sz="1200" u="none" cap="none" strike="noStrike">
              <a:solidFill>
                <a:schemeClr val="dk1"/>
              </a:solidFill>
              <a:latin typeface="Calibri"/>
              <a:ea typeface="Calibri"/>
              <a:cs typeface="Calibri"/>
              <a:sym typeface="Calibri"/>
            </a:endParaRPr>
          </a:p>
        </p:txBody>
      </p:sp>
      <p:sp>
        <p:nvSpPr>
          <p:cNvPr id="757" name="Google Shape;757;p18"/>
          <p:cNvSpPr/>
          <p:nvPr/>
        </p:nvSpPr>
        <p:spPr>
          <a:xfrm>
            <a:off x="3310128" y="1865376"/>
            <a:ext cx="2633472" cy="30175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Power Distribution Hub (PDH) — ~$80 — 24 smart breaker slots, CAN reporting per channel</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REV Control Hub — FTC device, not FRC legal (FRC uses roboRIO)</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Radio Power Module — ~$40 — Provides conditioned power &amp; brownout protection for radio</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MAXPlanetary Gearbox — ~$85+ — Modular planetary system. 3:1–100:1 ratios. Very reliable</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EasySwerve Module — New, ~$350/module — Lower-cost REV swerve. Good for budget teams</a:t>
            </a:r>
            <a:endParaRPr b="0" i="0" sz="1050" u="none" cap="none" strike="noStrike">
              <a:solidFill>
                <a:schemeClr val="dk1"/>
              </a:solidFill>
              <a:latin typeface="Calibri"/>
              <a:ea typeface="Calibri"/>
              <a:cs typeface="Calibri"/>
              <a:sym typeface="Calibri"/>
            </a:endParaRPr>
          </a:p>
        </p:txBody>
      </p:sp>
      <p:sp>
        <p:nvSpPr>
          <p:cNvPr id="758" name="Google Shape;758;p18"/>
          <p:cNvSpPr/>
          <p:nvPr/>
        </p:nvSpPr>
        <p:spPr>
          <a:xfrm>
            <a:off x="6163056" y="1463040"/>
            <a:ext cx="2816352" cy="34930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8"/>
          <p:cNvSpPr/>
          <p:nvPr/>
        </p:nvSpPr>
        <p:spPr>
          <a:xfrm>
            <a:off x="6163056" y="1463040"/>
            <a:ext cx="2816352" cy="347472"/>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8"/>
          <p:cNvSpPr/>
          <p:nvPr/>
        </p:nvSpPr>
        <p:spPr>
          <a:xfrm>
            <a:off x="6236208" y="1463040"/>
            <a:ext cx="2670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Structure (REV ION System)</a:t>
            </a:r>
            <a:endParaRPr b="0" i="0" sz="1200" u="none" cap="none" strike="noStrike">
              <a:solidFill>
                <a:schemeClr val="dk1"/>
              </a:solidFill>
              <a:latin typeface="Calibri"/>
              <a:ea typeface="Calibri"/>
              <a:cs typeface="Calibri"/>
              <a:sym typeface="Calibri"/>
            </a:endParaRPr>
          </a:p>
        </p:txBody>
      </p:sp>
      <p:sp>
        <p:nvSpPr>
          <p:cNvPr id="761" name="Google Shape;761;p18"/>
          <p:cNvSpPr/>
          <p:nvPr/>
        </p:nvSpPr>
        <p:spPr>
          <a:xfrm>
            <a:off x="6254496" y="1865376"/>
            <a:ext cx="2633472" cy="30175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MAXTube 2×1 — ~$25/5ft — Pre-punched 0.5" hole pattern on all 4 sides. Fast prototyping</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MAXTube Endcaps &amp; Connectors — Snap together without tools. Hex shaft compatible</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MAXPattens — 2D pattern plates that attach to MAXTube for mechanism mounting</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Best for: Rookie to intermediate teams wanting a unified structural + electrical ecosystem</a:t>
            </a:r>
            <a:endParaRPr b="0" i="0" sz="1050" u="none" cap="none" strike="noStrike">
              <a:solidFill>
                <a:schemeClr val="dk1"/>
              </a:solidFill>
              <a:latin typeface="Calibri"/>
              <a:ea typeface="Calibri"/>
              <a:cs typeface="Calibri"/>
              <a:sym typeface="Calibri"/>
            </a:endParaRPr>
          </a:p>
        </p:txBody>
      </p:sp>
      <p:sp>
        <p:nvSpPr>
          <p:cNvPr id="762" name="Google Shape;762;p18"/>
          <p:cNvSpPr/>
          <p:nvPr/>
        </p:nvSpPr>
        <p:spPr>
          <a:xfrm>
            <a:off x="365760" y="4919472"/>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100"/>
              <a:buFont typeface="Calibri"/>
              <a:buNone/>
            </a:pPr>
            <a:r>
              <a:rPr b="0" i="0" lang="en-US" sz="1100" u="none" cap="none" strike="noStrike">
                <a:solidFill>
                  <a:srgbClr val="3A6BC4"/>
                </a:solidFill>
                <a:latin typeface="Calibri"/>
                <a:ea typeface="Calibri"/>
                <a:cs typeface="Calibri"/>
                <a:sym typeface="Calibri"/>
              </a:rPr>
              <a:t>🌐  revrobotics.com  |  Best price on: NEO motors, SPARK controllers, MAXTube, PDH</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767" name="Shape 767"/>
        <p:cNvGrpSpPr/>
        <p:nvPr/>
      </p:nvGrpSpPr>
      <p:grpSpPr>
        <a:xfrm>
          <a:off x="0" y="0"/>
          <a:ext cx="0" cy="0"/>
          <a:chOff x="0" y="0"/>
          <a:chExt cx="0" cy="0"/>
        </a:xfrm>
      </p:grpSpPr>
      <p:sp>
        <p:nvSpPr>
          <p:cNvPr id="768" name="Google Shape;768;p19"/>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9"/>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CTRE &amp; West Coast Products (WCP)</a:t>
            </a:r>
            <a:endParaRPr b="0" i="0" sz="2100" u="none" cap="none" strike="noStrike">
              <a:solidFill>
                <a:schemeClr val="dk1"/>
              </a:solidFill>
              <a:latin typeface="Calibri"/>
              <a:ea typeface="Calibri"/>
              <a:cs typeface="Calibri"/>
              <a:sym typeface="Calibri"/>
            </a:endParaRPr>
          </a:p>
        </p:txBody>
      </p:sp>
      <p:sp>
        <p:nvSpPr>
          <p:cNvPr id="770" name="Google Shape;770;p19"/>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9"/>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SUPPLIER</a:t>
            </a:r>
            <a:endParaRPr b="0" i="0" sz="1100" u="none" cap="none" strike="noStrike">
              <a:solidFill>
                <a:schemeClr val="dk1"/>
              </a:solidFill>
              <a:latin typeface="Calibri"/>
              <a:ea typeface="Calibri"/>
              <a:cs typeface="Calibri"/>
              <a:sym typeface="Calibri"/>
            </a:endParaRPr>
          </a:p>
        </p:txBody>
      </p:sp>
      <p:sp>
        <p:nvSpPr>
          <p:cNvPr id="772" name="Google Shape;772;p19"/>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9"/>
          <p:cNvSpPr/>
          <p:nvPr/>
        </p:nvSpPr>
        <p:spPr>
          <a:xfrm>
            <a:off x="457200" y="7772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Cross The Road Electronics (CTRE) and West Coast Products merged/partnered to create the dominant performance motor ecosystem in FRC. The Kraken X60 is now the most popular brushless motor at the competitive level.</a:t>
            </a:r>
            <a:endParaRPr b="0" i="0" sz="1300" u="none" cap="none" strike="noStrike">
              <a:solidFill>
                <a:schemeClr val="dk1"/>
              </a:solidFill>
              <a:latin typeface="Calibri"/>
              <a:ea typeface="Calibri"/>
              <a:cs typeface="Calibri"/>
              <a:sym typeface="Calibri"/>
            </a:endParaRPr>
          </a:p>
        </p:txBody>
      </p:sp>
      <p:sp>
        <p:nvSpPr>
          <p:cNvPr id="774" name="Google Shape;774;p19"/>
          <p:cNvSpPr/>
          <p:nvPr/>
        </p:nvSpPr>
        <p:spPr>
          <a:xfrm>
            <a:off x="274320" y="1463040"/>
            <a:ext cx="4251960" cy="34930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9"/>
          <p:cNvSpPr/>
          <p:nvPr/>
        </p:nvSpPr>
        <p:spPr>
          <a:xfrm>
            <a:off x="274320" y="1463040"/>
            <a:ext cx="4251960" cy="365760"/>
          </a:xfrm>
          <a:prstGeom prst="rect">
            <a:avLst/>
          </a:prstGeom>
          <a:solidFill>
            <a:srgbClr val="8B1A1A"/>
          </a:solidFill>
          <a:ln cap="flat" cmpd="sng" w="12700">
            <a:solidFill>
              <a:srgbClr val="8B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9"/>
          <p:cNvSpPr/>
          <p:nvPr/>
        </p:nvSpPr>
        <p:spPr>
          <a:xfrm>
            <a:off x="365760" y="1463040"/>
            <a:ext cx="4069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CTRE — Electronics &amp; Motors</a:t>
            </a:r>
            <a:endParaRPr b="0" i="0" sz="1300" u="none" cap="none" strike="noStrike">
              <a:solidFill>
                <a:schemeClr val="dk1"/>
              </a:solidFill>
              <a:latin typeface="Calibri"/>
              <a:ea typeface="Calibri"/>
              <a:cs typeface="Calibri"/>
              <a:sym typeface="Calibri"/>
            </a:endParaRPr>
          </a:p>
        </p:txBody>
      </p:sp>
      <p:sp>
        <p:nvSpPr>
          <p:cNvPr id="777" name="Google Shape;777;p19"/>
          <p:cNvSpPr/>
          <p:nvPr/>
        </p:nvSpPr>
        <p:spPr>
          <a:xfrm>
            <a:off x="384048" y="1901952"/>
            <a:ext cx="4005072" cy="297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Kraken X60 — ~$150</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The current top-tier brushless motor. 6,000 RPM, 40A continuous, built-in TalonFX controller. Plug-and-play swerve for SDS/WCP modules. Strongly preferred for drive motors.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400"/>
              <a:buFont typeface="Calibri"/>
              <a:buNone/>
            </a:pPr>
            <a:br>
              <a:rPr b="0" i="0" lang="en-US" sz="4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Kraken X44 — ~$100</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Compact Kraken for steering motors in swerve. Lower profile, ideal for azimuth control.</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400"/>
              <a:buFont typeface="Calibri"/>
              <a:buNone/>
            </a:pPr>
            <a:br>
              <a:rPr b="0" i="0" lang="en-US" sz="4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CANcoder — ~$45 / Pigeon 2.0 IMU — ~$60</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CANcoder: absolute steering encoder for swerve modules. Pigeon 2: best-in-class 9-axis IMU for field-relative swerve. Both use Phoenix 6 API on CAN bus.</a:t>
            </a:r>
            <a:endParaRPr b="0" i="0" sz="1200" u="none" cap="none" strike="noStrike">
              <a:solidFill>
                <a:schemeClr val="dk1"/>
              </a:solidFill>
              <a:latin typeface="Calibri"/>
              <a:ea typeface="Calibri"/>
              <a:cs typeface="Calibri"/>
              <a:sym typeface="Calibri"/>
            </a:endParaRPr>
          </a:p>
        </p:txBody>
      </p:sp>
      <p:sp>
        <p:nvSpPr>
          <p:cNvPr id="778" name="Google Shape;778;p19"/>
          <p:cNvSpPr/>
          <p:nvPr/>
        </p:nvSpPr>
        <p:spPr>
          <a:xfrm>
            <a:off x="4709160" y="1463040"/>
            <a:ext cx="4251960" cy="34930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9"/>
          <p:cNvSpPr/>
          <p:nvPr/>
        </p:nvSpPr>
        <p:spPr>
          <a:xfrm>
            <a:off x="4709160" y="1463040"/>
            <a:ext cx="4251960" cy="365760"/>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9"/>
          <p:cNvSpPr/>
          <p:nvPr/>
        </p:nvSpPr>
        <p:spPr>
          <a:xfrm>
            <a:off x="4800600" y="1463040"/>
            <a:ext cx="4069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WCP — Structure &amp; Mechanisms</a:t>
            </a:r>
            <a:endParaRPr b="0" i="0" sz="1300" u="none" cap="none" strike="noStrike">
              <a:solidFill>
                <a:schemeClr val="dk1"/>
              </a:solidFill>
              <a:latin typeface="Calibri"/>
              <a:ea typeface="Calibri"/>
              <a:cs typeface="Calibri"/>
              <a:sym typeface="Calibri"/>
            </a:endParaRPr>
          </a:p>
        </p:txBody>
      </p:sp>
      <p:sp>
        <p:nvSpPr>
          <p:cNvPr id="781" name="Google Shape;781;p19"/>
          <p:cNvSpPr/>
          <p:nvPr/>
        </p:nvSpPr>
        <p:spPr>
          <a:xfrm>
            <a:off x="4818888" y="1901952"/>
            <a:ext cx="4005072" cy="2971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Greyt Universal Cascade Elevator — ~$185+</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The most popular off-the-shelf elevator kit. Used by hundreds of teams each year. Cascade or continuous options. Integrates with WCP gearboxes seamlessly.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400"/>
              <a:buFont typeface="Calibri"/>
              <a:buNone/>
            </a:pPr>
            <a:br>
              <a:rPr b="0" i="0" lang="en-US" sz="4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WCP SFX Gearbox / FlexBox — ~$75–$120</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Modular, configurable single-stage gearboxes for mechanism power. Very popular for arm pivots, elevators, and roller intakes.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400"/>
              <a:buFont typeface="Calibri"/>
              <a:buNone/>
            </a:pPr>
            <a:br>
              <a:rPr b="0" i="0" lang="en-US" sz="4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WCP SS Drive System / X-Drive — ~$150–$300</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Structural plates for WCD and tank drives. Pre-drilled 2×1 and 1×1 tube systems. WCP DS (Dead-Shaft) pulley system. Favored by teams machining their own chassis.</a:t>
            </a:r>
            <a:endParaRPr b="0" i="0" sz="1200" u="none" cap="none" strike="noStrike">
              <a:solidFill>
                <a:schemeClr val="dk1"/>
              </a:solidFill>
              <a:latin typeface="Calibri"/>
              <a:ea typeface="Calibri"/>
              <a:cs typeface="Calibri"/>
              <a:sym typeface="Calibri"/>
            </a:endParaRPr>
          </a:p>
        </p:txBody>
      </p:sp>
      <p:sp>
        <p:nvSpPr>
          <p:cNvPr id="782" name="Google Shape;782;p19"/>
          <p:cNvSpPr/>
          <p:nvPr/>
        </p:nvSpPr>
        <p:spPr>
          <a:xfrm>
            <a:off x="365760" y="4919472"/>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100"/>
              <a:buFont typeface="Calibri"/>
              <a:buNone/>
            </a:pPr>
            <a:r>
              <a:rPr b="0" i="0" lang="en-US" sz="1100" u="none" cap="none" strike="noStrike">
                <a:solidFill>
                  <a:srgbClr val="3A6BC4"/>
                </a:solidFill>
                <a:latin typeface="Calibri"/>
                <a:ea typeface="Calibri"/>
                <a:cs typeface="Calibri"/>
                <a:sym typeface="Calibri"/>
              </a:rPr>
              <a:t>🌐  wcproducts.com + ctr-electronics.com  |  Best price on: Kraken motors, CANcoder, Greyt elevator, WCP gearboxes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787" name="Shape 787"/>
        <p:cNvGrpSpPr/>
        <p:nvPr/>
      </p:nvGrpSpPr>
      <p:grpSpPr>
        <a:xfrm>
          <a:off x="0" y="0"/>
          <a:ext cx="0" cy="0"/>
          <a:chOff x="0" y="0"/>
          <a:chExt cx="0" cy="0"/>
        </a:xfrm>
      </p:grpSpPr>
      <p:sp>
        <p:nvSpPr>
          <p:cNvPr id="788" name="Google Shape;788;p20"/>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0"/>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AndyMark</a:t>
            </a:r>
            <a:endParaRPr b="0" i="0" sz="2100" u="none" cap="none" strike="noStrike">
              <a:solidFill>
                <a:schemeClr val="dk1"/>
              </a:solidFill>
              <a:latin typeface="Calibri"/>
              <a:ea typeface="Calibri"/>
              <a:cs typeface="Calibri"/>
              <a:sym typeface="Calibri"/>
            </a:endParaRPr>
          </a:p>
        </p:txBody>
      </p:sp>
      <p:sp>
        <p:nvSpPr>
          <p:cNvPr id="790" name="Google Shape;790;p20"/>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0"/>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SUPPLIER</a:t>
            </a:r>
            <a:endParaRPr b="0" i="0" sz="1100" u="none" cap="none" strike="noStrike">
              <a:solidFill>
                <a:schemeClr val="dk1"/>
              </a:solidFill>
              <a:latin typeface="Calibri"/>
              <a:ea typeface="Calibri"/>
              <a:cs typeface="Calibri"/>
              <a:sym typeface="Calibri"/>
            </a:endParaRPr>
          </a:p>
        </p:txBody>
      </p:sp>
      <p:sp>
        <p:nvSpPr>
          <p:cNvPr id="792" name="Google Shape;792;p20"/>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0"/>
          <p:cNvSpPr/>
          <p:nvPr/>
        </p:nvSpPr>
        <p:spPr>
          <a:xfrm>
            <a:off x="457200" y="7772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AndyMark is FIRST's official kit-of-parts partner, supplying every team's AM14U drive base starter chassis and game pieces. They're the go-to for field elements, game pieces, wheels, and reliable mechanical components.</a:t>
            </a:r>
            <a:endParaRPr b="0" i="0" sz="1300" u="none" cap="none" strike="noStrike">
              <a:solidFill>
                <a:schemeClr val="dk1"/>
              </a:solidFill>
              <a:latin typeface="Calibri"/>
              <a:ea typeface="Calibri"/>
              <a:cs typeface="Calibri"/>
              <a:sym typeface="Calibri"/>
            </a:endParaRPr>
          </a:p>
        </p:txBody>
      </p:sp>
      <p:sp>
        <p:nvSpPr>
          <p:cNvPr id="794" name="Google Shape;794;p20"/>
          <p:cNvSpPr/>
          <p:nvPr/>
        </p:nvSpPr>
        <p:spPr>
          <a:xfrm>
            <a:off x="274320" y="1463040"/>
            <a:ext cx="2816352" cy="34930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0"/>
          <p:cNvSpPr/>
          <p:nvPr/>
        </p:nvSpPr>
        <p:spPr>
          <a:xfrm>
            <a:off x="274320" y="1463040"/>
            <a:ext cx="2816352" cy="34747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0"/>
          <p:cNvSpPr/>
          <p:nvPr/>
        </p:nvSpPr>
        <p:spPr>
          <a:xfrm>
            <a:off x="347472" y="1463040"/>
            <a:ext cx="2670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Kit of Parts &amp; Drive Bases</a:t>
            </a:r>
            <a:endParaRPr b="0" i="0" sz="1200" u="none" cap="none" strike="noStrike">
              <a:solidFill>
                <a:schemeClr val="dk1"/>
              </a:solidFill>
              <a:latin typeface="Calibri"/>
              <a:ea typeface="Calibri"/>
              <a:cs typeface="Calibri"/>
              <a:sym typeface="Calibri"/>
            </a:endParaRPr>
          </a:p>
        </p:txBody>
      </p:sp>
      <p:sp>
        <p:nvSpPr>
          <p:cNvPr id="797" name="Google Shape;797;p20"/>
          <p:cNvSpPr/>
          <p:nvPr/>
        </p:nvSpPr>
        <p:spPr>
          <a:xfrm>
            <a:off x="365760" y="1865376"/>
            <a:ext cx="2633472" cy="30175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AM14U5 — The official FIRST KitBot drive base. 6-wheel WCD, AndyMark-provided in KoP</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Toughbox Mini Gearbox — ~$40 — Reliable, comes in KoP. Easy to repair during events</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AM14U custom options — Extended, modified versions for game-specific needs</a:t>
            </a:r>
            <a:endParaRPr b="0" i="0" sz="1050" u="none" cap="none" strike="noStrike">
              <a:solidFill>
                <a:schemeClr val="dk1"/>
              </a:solidFill>
              <a:latin typeface="Calibri"/>
              <a:ea typeface="Calibri"/>
              <a:cs typeface="Calibri"/>
              <a:sym typeface="Calibri"/>
            </a:endParaRPr>
          </a:p>
        </p:txBody>
      </p:sp>
      <p:sp>
        <p:nvSpPr>
          <p:cNvPr id="798" name="Google Shape;798;p20"/>
          <p:cNvSpPr/>
          <p:nvPr/>
        </p:nvSpPr>
        <p:spPr>
          <a:xfrm>
            <a:off x="3218688" y="1463040"/>
            <a:ext cx="2816352" cy="34930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0"/>
          <p:cNvSpPr/>
          <p:nvPr/>
        </p:nvSpPr>
        <p:spPr>
          <a:xfrm>
            <a:off x="3218688" y="1463040"/>
            <a:ext cx="2816352" cy="347472"/>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0"/>
          <p:cNvSpPr/>
          <p:nvPr/>
        </p:nvSpPr>
        <p:spPr>
          <a:xfrm>
            <a:off x="3291840" y="1463040"/>
            <a:ext cx="2670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Wheels (Best Variety in FRC)</a:t>
            </a:r>
            <a:endParaRPr b="0" i="0" sz="1200" u="none" cap="none" strike="noStrike">
              <a:solidFill>
                <a:schemeClr val="dk1"/>
              </a:solidFill>
              <a:latin typeface="Calibri"/>
              <a:ea typeface="Calibri"/>
              <a:cs typeface="Calibri"/>
              <a:sym typeface="Calibri"/>
            </a:endParaRPr>
          </a:p>
        </p:txBody>
      </p:sp>
      <p:sp>
        <p:nvSpPr>
          <p:cNvPr id="801" name="Google Shape;801;p20"/>
          <p:cNvSpPr/>
          <p:nvPr/>
        </p:nvSpPr>
        <p:spPr>
          <a:xfrm>
            <a:off x="3310128" y="1865376"/>
            <a:ext cx="2633472" cy="30175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Compliant Wheels (Green/Blue/Black) — THE most popular intake roller wheel. ~$8</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Colson Wheels — Hard durable wheels for traction drive applications. ~$12–$18</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Mecanum Wheel Set — ~$130 — High-quality mecanum with threaded hub</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Omni Wheels — Various sizes $18–$50 — Essential for H-drive and swerve corners</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Stealth Wheels — Black compliant, popular for shooter/indexer rollers</a:t>
            </a:r>
            <a:endParaRPr b="0" i="0" sz="1050" u="none" cap="none" strike="noStrike">
              <a:solidFill>
                <a:schemeClr val="dk1"/>
              </a:solidFill>
              <a:latin typeface="Calibri"/>
              <a:ea typeface="Calibri"/>
              <a:cs typeface="Calibri"/>
              <a:sym typeface="Calibri"/>
            </a:endParaRPr>
          </a:p>
        </p:txBody>
      </p:sp>
      <p:sp>
        <p:nvSpPr>
          <p:cNvPr id="802" name="Google Shape;802;p20"/>
          <p:cNvSpPr/>
          <p:nvPr/>
        </p:nvSpPr>
        <p:spPr>
          <a:xfrm>
            <a:off x="6163056" y="1463040"/>
            <a:ext cx="2816352" cy="3493008"/>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0"/>
          <p:cNvSpPr/>
          <p:nvPr/>
        </p:nvSpPr>
        <p:spPr>
          <a:xfrm>
            <a:off x="6163056" y="1463040"/>
            <a:ext cx="2816352" cy="347472"/>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0"/>
          <p:cNvSpPr/>
          <p:nvPr/>
        </p:nvSpPr>
        <p:spPr>
          <a:xfrm>
            <a:off x="6236208" y="1463040"/>
            <a:ext cx="2670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Misc. Essentials</a:t>
            </a:r>
            <a:endParaRPr b="0" i="0" sz="1200" u="none" cap="none" strike="noStrike">
              <a:solidFill>
                <a:schemeClr val="dk1"/>
              </a:solidFill>
              <a:latin typeface="Calibri"/>
              <a:ea typeface="Calibri"/>
              <a:cs typeface="Calibri"/>
              <a:sym typeface="Calibri"/>
            </a:endParaRPr>
          </a:p>
        </p:txBody>
      </p:sp>
      <p:sp>
        <p:nvSpPr>
          <p:cNvPr id="805" name="Google Shape;805;p20"/>
          <p:cNvSpPr/>
          <p:nvPr/>
        </p:nvSpPr>
        <p:spPr>
          <a:xfrm>
            <a:off x="6254496" y="1865376"/>
            <a:ext cx="2633472" cy="301752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Pneumatic components — cylinders, solenoids, fittings, tanks, regulators</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Churro (hex tubing) — Lightweight structural tubing, beloved for quick builds</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Game Pieces (Retired) — Buy previous-year game pieces to practice auto</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RI3D Bundles — Discounted build kits tied to Robot-in-3-Days reference designs</a:t>
            </a:r>
            <a:endParaRPr b="0" i="0" sz="10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50"/>
              <a:buFont typeface="Calibri"/>
              <a:buChar char="•"/>
            </a:pPr>
            <a:r>
              <a:rPr b="0" i="0" lang="en-US" sz="1050" u="none" cap="none" strike="noStrike">
                <a:solidFill>
                  <a:srgbClr val="5B6B80"/>
                </a:solidFill>
                <a:latin typeface="Calibri"/>
                <a:ea typeface="Calibri"/>
                <a:cs typeface="Calibri"/>
                <a:sym typeface="Calibri"/>
              </a:rPr>
              <a:t>Best price on: compliant wheels, mecanum sets, pneumatics, game pieces</a:t>
            </a:r>
            <a:endParaRPr b="0" i="0" sz="1050" u="none" cap="none" strike="noStrike">
              <a:solidFill>
                <a:schemeClr val="dk1"/>
              </a:solidFill>
              <a:latin typeface="Calibri"/>
              <a:ea typeface="Calibri"/>
              <a:cs typeface="Calibri"/>
              <a:sym typeface="Calibri"/>
            </a:endParaRPr>
          </a:p>
        </p:txBody>
      </p:sp>
      <p:sp>
        <p:nvSpPr>
          <p:cNvPr id="806" name="Google Shape;806;p20"/>
          <p:cNvSpPr/>
          <p:nvPr/>
        </p:nvSpPr>
        <p:spPr>
          <a:xfrm>
            <a:off x="365760" y="4919472"/>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100"/>
              <a:buFont typeface="Calibri"/>
              <a:buNone/>
            </a:pPr>
            <a:r>
              <a:rPr b="0" i="0" lang="en-US" sz="1100" u="none" cap="none" strike="noStrike">
                <a:solidFill>
                  <a:srgbClr val="3A6BC4"/>
                </a:solidFill>
                <a:latin typeface="Calibri"/>
                <a:ea typeface="Calibri"/>
                <a:cs typeface="Calibri"/>
                <a:sym typeface="Calibri"/>
              </a:rPr>
              <a:t>🌐  andymark.com  |  Best price on: KoP drive base, compliant wheels, mecanum, churro, pneumatics, game pieces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811" name="Shape 811"/>
        <p:cNvGrpSpPr/>
        <p:nvPr/>
      </p:nvGrpSpPr>
      <p:grpSpPr>
        <a:xfrm>
          <a:off x="0" y="0"/>
          <a:ext cx="0" cy="0"/>
          <a:chOff x="0" y="0"/>
          <a:chExt cx="0" cy="0"/>
        </a:xfrm>
      </p:grpSpPr>
      <p:sp>
        <p:nvSpPr>
          <p:cNvPr id="812" name="Google Shape;812;p21"/>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1"/>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Swerve Drive Specialties (SDS)</a:t>
            </a:r>
            <a:endParaRPr b="0" i="0" sz="2100" u="none" cap="none" strike="noStrike">
              <a:solidFill>
                <a:schemeClr val="dk1"/>
              </a:solidFill>
              <a:latin typeface="Calibri"/>
              <a:ea typeface="Calibri"/>
              <a:cs typeface="Calibri"/>
              <a:sym typeface="Calibri"/>
            </a:endParaRPr>
          </a:p>
        </p:txBody>
      </p:sp>
      <p:sp>
        <p:nvSpPr>
          <p:cNvPr id="814" name="Google Shape;814;p21"/>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1"/>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SUPPLIER</a:t>
            </a:r>
            <a:endParaRPr b="0" i="0" sz="1100" u="none" cap="none" strike="noStrike">
              <a:solidFill>
                <a:schemeClr val="dk1"/>
              </a:solidFill>
              <a:latin typeface="Calibri"/>
              <a:ea typeface="Calibri"/>
              <a:cs typeface="Calibri"/>
              <a:sym typeface="Calibri"/>
            </a:endParaRPr>
          </a:p>
        </p:txBody>
      </p:sp>
      <p:sp>
        <p:nvSpPr>
          <p:cNvPr id="816" name="Google Shape;816;p21"/>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1"/>
          <p:cNvSpPr/>
          <p:nvPr/>
        </p:nvSpPr>
        <p:spPr>
          <a:xfrm>
            <a:off x="457200" y="7772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SDS built their entire company on one product: the best swerve modules in FRC. Their MK4i has been the dominant module for 3+ seasons, and the new MK5n represents the next evolution with inverted motor layout and wider tread.</a:t>
            </a:r>
            <a:endParaRPr b="0" i="0" sz="1300" u="none" cap="none" strike="noStrike">
              <a:solidFill>
                <a:schemeClr val="dk1"/>
              </a:solidFill>
              <a:latin typeface="Calibri"/>
              <a:ea typeface="Calibri"/>
              <a:cs typeface="Calibri"/>
              <a:sym typeface="Calibri"/>
            </a:endParaRPr>
          </a:p>
        </p:txBody>
      </p:sp>
      <p:sp>
        <p:nvSpPr>
          <p:cNvPr id="818" name="Google Shape;818;p21"/>
          <p:cNvSpPr/>
          <p:nvPr/>
        </p:nvSpPr>
        <p:spPr>
          <a:xfrm>
            <a:off x="274320" y="1463040"/>
            <a:ext cx="2816352" cy="345643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1"/>
          <p:cNvSpPr/>
          <p:nvPr/>
        </p:nvSpPr>
        <p:spPr>
          <a:xfrm>
            <a:off x="274320" y="1463040"/>
            <a:ext cx="2816352" cy="34747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1"/>
          <p:cNvSpPr/>
          <p:nvPr/>
        </p:nvSpPr>
        <p:spPr>
          <a:xfrm>
            <a:off x="347472" y="1463040"/>
            <a:ext cx="2670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MK4i (Inverted)</a:t>
            </a:r>
            <a:endParaRPr b="0" i="0" sz="1300" u="none" cap="none" strike="noStrike">
              <a:solidFill>
                <a:schemeClr val="dk1"/>
              </a:solidFill>
              <a:latin typeface="Calibri"/>
              <a:ea typeface="Calibri"/>
              <a:cs typeface="Calibri"/>
              <a:sym typeface="Calibri"/>
            </a:endParaRPr>
          </a:p>
        </p:txBody>
      </p:sp>
      <p:sp>
        <p:nvSpPr>
          <p:cNvPr id="821" name="Google Shape;821;p21"/>
          <p:cNvSpPr/>
          <p:nvPr/>
        </p:nvSpPr>
        <p:spPr>
          <a:xfrm>
            <a:off x="365760" y="1865376"/>
            <a:ext cx="26334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C0A"/>
              </a:buClr>
              <a:buSzPts val="1100"/>
              <a:buFont typeface="Calibri"/>
              <a:buNone/>
            </a:pPr>
            <a:r>
              <a:rPr b="1" i="0" lang="en-US" sz="1100" u="none" cap="none" strike="noStrike">
                <a:solidFill>
                  <a:srgbClr val="E87C0A"/>
                </a:solidFill>
                <a:latin typeface="Calibri"/>
                <a:ea typeface="Calibri"/>
                <a:cs typeface="Calibri"/>
                <a:sym typeface="Calibri"/>
              </a:rPr>
              <a:t>~$340–$380/module + motors</a:t>
            </a:r>
            <a:endParaRPr b="0" i="0" sz="1100" u="none" cap="none" strike="noStrike">
              <a:solidFill>
                <a:schemeClr val="dk1"/>
              </a:solidFill>
              <a:latin typeface="Calibri"/>
              <a:ea typeface="Calibri"/>
              <a:cs typeface="Calibri"/>
              <a:sym typeface="Calibri"/>
            </a:endParaRPr>
          </a:p>
        </p:txBody>
      </p:sp>
      <p:sp>
        <p:nvSpPr>
          <p:cNvPr id="822" name="Google Shape;822;p21"/>
          <p:cNvSpPr/>
          <p:nvPr/>
        </p:nvSpPr>
        <p:spPr>
          <a:xfrm>
            <a:off x="365760" y="2194560"/>
            <a:ext cx="2633472" cy="2148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The 'standard' competition swerve module for 2022–2025. Inverted motor layout keeps CG low. 4 gear ratio options (L1–L4). Compatible with NEO V1.1, NEO Vortex, or Kraken X60 drive. Kraken X60 + CANcoder is the most common competition config.</a:t>
            </a:r>
            <a:endParaRPr b="0" i="0" sz="1050" u="none" cap="none" strike="noStrike">
              <a:solidFill>
                <a:schemeClr val="dk1"/>
              </a:solidFill>
              <a:latin typeface="Calibri"/>
              <a:ea typeface="Calibri"/>
              <a:cs typeface="Calibri"/>
              <a:sym typeface="Calibri"/>
            </a:endParaRPr>
          </a:p>
        </p:txBody>
      </p:sp>
      <p:sp>
        <p:nvSpPr>
          <p:cNvPr id="823" name="Google Shape;823;p21"/>
          <p:cNvSpPr/>
          <p:nvPr/>
        </p:nvSpPr>
        <p:spPr>
          <a:xfrm>
            <a:off x="347472" y="4407408"/>
            <a:ext cx="2670048" cy="438912"/>
          </a:xfrm>
          <a:prstGeom prst="rect">
            <a:avLst/>
          </a:prstGeom>
          <a:solidFill>
            <a:srgbClr val="EFF3FA"/>
          </a:solidFill>
          <a:ln cap="flat" cmpd="sng" w="12700">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1"/>
          <p:cNvSpPr/>
          <p:nvPr/>
        </p:nvSpPr>
        <p:spPr>
          <a:xfrm>
            <a:off x="411480" y="4443984"/>
            <a:ext cx="25420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950"/>
              <a:buFont typeface="Calibri"/>
              <a:buNone/>
            </a:pPr>
            <a:r>
              <a:rPr b="0" i="1" lang="en-US" sz="950" u="none" cap="none" strike="noStrike">
                <a:solidFill>
                  <a:srgbClr val="0D1B2A"/>
                </a:solidFill>
                <a:latin typeface="Calibri"/>
                <a:ea typeface="Calibri"/>
                <a:cs typeface="Calibri"/>
                <a:sym typeface="Calibri"/>
              </a:rPr>
              <a:t>Best config: Drive: Kraken X60 | Steer: Kraken X44 or NEO Vortex | Encoder: CANcoder</a:t>
            </a:r>
            <a:endParaRPr b="0" i="0" sz="950" u="none" cap="none" strike="noStrike">
              <a:solidFill>
                <a:schemeClr val="dk1"/>
              </a:solidFill>
              <a:latin typeface="Calibri"/>
              <a:ea typeface="Calibri"/>
              <a:cs typeface="Calibri"/>
              <a:sym typeface="Calibri"/>
            </a:endParaRPr>
          </a:p>
        </p:txBody>
      </p:sp>
      <p:sp>
        <p:nvSpPr>
          <p:cNvPr id="825" name="Google Shape;825;p21"/>
          <p:cNvSpPr/>
          <p:nvPr/>
        </p:nvSpPr>
        <p:spPr>
          <a:xfrm>
            <a:off x="3218688" y="1463040"/>
            <a:ext cx="2816352" cy="345643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1"/>
          <p:cNvSpPr/>
          <p:nvPr/>
        </p:nvSpPr>
        <p:spPr>
          <a:xfrm>
            <a:off x="3218688" y="1463040"/>
            <a:ext cx="2816352" cy="347472"/>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1"/>
          <p:cNvSpPr/>
          <p:nvPr/>
        </p:nvSpPr>
        <p:spPr>
          <a:xfrm>
            <a:off x="3291840" y="1463040"/>
            <a:ext cx="2670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MK5n (Next-Gen)</a:t>
            </a:r>
            <a:endParaRPr b="0" i="0" sz="1300" u="none" cap="none" strike="noStrike">
              <a:solidFill>
                <a:schemeClr val="dk1"/>
              </a:solidFill>
              <a:latin typeface="Calibri"/>
              <a:ea typeface="Calibri"/>
              <a:cs typeface="Calibri"/>
              <a:sym typeface="Calibri"/>
            </a:endParaRPr>
          </a:p>
        </p:txBody>
      </p:sp>
      <p:sp>
        <p:nvSpPr>
          <p:cNvPr id="828" name="Google Shape;828;p21"/>
          <p:cNvSpPr/>
          <p:nvPr/>
        </p:nvSpPr>
        <p:spPr>
          <a:xfrm>
            <a:off x="3310128" y="1865376"/>
            <a:ext cx="26334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C0A"/>
              </a:buClr>
              <a:buSzPts val="1100"/>
              <a:buFont typeface="Calibri"/>
              <a:buNone/>
            </a:pPr>
            <a:r>
              <a:rPr b="1" i="0" lang="en-US" sz="1100" u="none" cap="none" strike="noStrike">
                <a:solidFill>
                  <a:srgbClr val="E87C0A"/>
                </a:solidFill>
                <a:latin typeface="Calibri"/>
                <a:ea typeface="Calibri"/>
                <a:cs typeface="Calibri"/>
                <a:sym typeface="Calibri"/>
              </a:rPr>
              <a:t>~$370–$420/module + motors</a:t>
            </a:r>
            <a:endParaRPr b="0" i="0" sz="1100" u="none" cap="none" strike="noStrike">
              <a:solidFill>
                <a:schemeClr val="dk1"/>
              </a:solidFill>
              <a:latin typeface="Calibri"/>
              <a:ea typeface="Calibri"/>
              <a:cs typeface="Calibri"/>
              <a:sym typeface="Calibri"/>
            </a:endParaRPr>
          </a:p>
        </p:txBody>
      </p:sp>
      <p:sp>
        <p:nvSpPr>
          <p:cNvPr id="829" name="Google Shape;829;p21"/>
          <p:cNvSpPr/>
          <p:nvPr/>
        </p:nvSpPr>
        <p:spPr>
          <a:xfrm>
            <a:off x="3310128" y="2194560"/>
            <a:ext cx="2633472" cy="2148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Released 2024–2025. Smallest SDS inverted-motor module. 5" × 7.5" footprint. Fully gear-driven steering (no belt, more robust). Enclosed bevel gears protect from carpet debris. Wider neoprene wheel tread. Quick-change gear ratio with just a pinion swap.</a:t>
            </a:r>
            <a:endParaRPr b="0" i="0" sz="1050" u="none" cap="none" strike="noStrike">
              <a:solidFill>
                <a:schemeClr val="dk1"/>
              </a:solidFill>
              <a:latin typeface="Calibri"/>
              <a:ea typeface="Calibri"/>
              <a:cs typeface="Calibri"/>
              <a:sym typeface="Calibri"/>
            </a:endParaRPr>
          </a:p>
        </p:txBody>
      </p:sp>
      <p:sp>
        <p:nvSpPr>
          <p:cNvPr id="830" name="Google Shape;830;p21"/>
          <p:cNvSpPr/>
          <p:nvPr/>
        </p:nvSpPr>
        <p:spPr>
          <a:xfrm>
            <a:off x="3291840" y="4407408"/>
            <a:ext cx="2670048" cy="438912"/>
          </a:xfrm>
          <a:prstGeom prst="rect">
            <a:avLst/>
          </a:prstGeom>
          <a:solidFill>
            <a:srgbClr val="EFF3FA"/>
          </a:solidFill>
          <a:ln cap="flat" cmpd="sng" w="12700">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1"/>
          <p:cNvSpPr/>
          <p:nvPr/>
        </p:nvSpPr>
        <p:spPr>
          <a:xfrm>
            <a:off x="3355848" y="4443984"/>
            <a:ext cx="25420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950"/>
              <a:buFont typeface="Calibri"/>
              <a:buNone/>
            </a:pPr>
            <a:r>
              <a:rPr b="0" i="1" lang="en-US" sz="950" u="none" cap="none" strike="noStrike">
                <a:solidFill>
                  <a:srgbClr val="0D1B2A"/>
                </a:solidFill>
                <a:latin typeface="Calibri"/>
                <a:ea typeface="Calibri"/>
                <a:cs typeface="Calibri"/>
                <a:sym typeface="Calibri"/>
              </a:rPr>
              <a:t>Best config: Drive: Kraken X60 | Steer: Kraken X44 | Encoder: CANcoder or Redux Canandmag</a:t>
            </a:r>
            <a:endParaRPr b="0" i="0" sz="950" u="none" cap="none" strike="noStrike">
              <a:solidFill>
                <a:schemeClr val="dk1"/>
              </a:solidFill>
              <a:latin typeface="Calibri"/>
              <a:ea typeface="Calibri"/>
              <a:cs typeface="Calibri"/>
              <a:sym typeface="Calibri"/>
            </a:endParaRPr>
          </a:p>
        </p:txBody>
      </p:sp>
      <p:sp>
        <p:nvSpPr>
          <p:cNvPr id="832" name="Google Shape;832;p21"/>
          <p:cNvSpPr/>
          <p:nvPr/>
        </p:nvSpPr>
        <p:spPr>
          <a:xfrm>
            <a:off x="6163056" y="1463040"/>
            <a:ext cx="2816352" cy="345643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1"/>
          <p:cNvSpPr/>
          <p:nvPr/>
        </p:nvSpPr>
        <p:spPr>
          <a:xfrm>
            <a:off x="6163056" y="1463040"/>
            <a:ext cx="2816352" cy="347472"/>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1"/>
          <p:cNvSpPr/>
          <p:nvPr/>
        </p:nvSpPr>
        <p:spPr>
          <a:xfrm>
            <a:off x="6236208" y="1463040"/>
            <a:ext cx="2670048"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MK4 (Non-inverted)</a:t>
            </a:r>
            <a:endParaRPr b="0" i="0" sz="1300" u="none" cap="none" strike="noStrike">
              <a:solidFill>
                <a:schemeClr val="dk1"/>
              </a:solidFill>
              <a:latin typeface="Calibri"/>
              <a:ea typeface="Calibri"/>
              <a:cs typeface="Calibri"/>
              <a:sym typeface="Calibri"/>
            </a:endParaRPr>
          </a:p>
        </p:txBody>
      </p:sp>
      <p:sp>
        <p:nvSpPr>
          <p:cNvPr id="835" name="Google Shape;835;p21"/>
          <p:cNvSpPr/>
          <p:nvPr/>
        </p:nvSpPr>
        <p:spPr>
          <a:xfrm>
            <a:off x="6254496" y="1865376"/>
            <a:ext cx="26334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7C0A"/>
              </a:buClr>
              <a:buSzPts val="1100"/>
              <a:buFont typeface="Calibri"/>
              <a:buNone/>
            </a:pPr>
            <a:r>
              <a:rPr b="1" i="0" lang="en-US" sz="1100" u="none" cap="none" strike="noStrike">
                <a:solidFill>
                  <a:srgbClr val="E87C0A"/>
                </a:solidFill>
                <a:latin typeface="Calibri"/>
                <a:ea typeface="Calibri"/>
                <a:cs typeface="Calibri"/>
                <a:sym typeface="Calibri"/>
              </a:rPr>
              <a:t>~$290–$320/module + motors</a:t>
            </a:r>
            <a:endParaRPr b="0" i="0" sz="1100" u="none" cap="none" strike="noStrike">
              <a:solidFill>
                <a:schemeClr val="dk1"/>
              </a:solidFill>
              <a:latin typeface="Calibri"/>
              <a:ea typeface="Calibri"/>
              <a:cs typeface="Calibri"/>
              <a:sym typeface="Calibri"/>
            </a:endParaRPr>
          </a:p>
        </p:txBody>
      </p:sp>
      <p:sp>
        <p:nvSpPr>
          <p:cNvPr id="836" name="Google Shape;836;p21"/>
          <p:cNvSpPr/>
          <p:nvPr/>
        </p:nvSpPr>
        <p:spPr>
          <a:xfrm>
            <a:off x="6254496" y="2194560"/>
            <a:ext cx="2633472" cy="2148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The original SDS module that started the swerve revolution. Motor sits upright on top. Still widely used and fully competitive. Great choice for teams on budget who can find them second-hand. Compatible with same motors as MK4i.</a:t>
            </a:r>
            <a:endParaRPr b="0" i="0" sz="1050" u="none" cap="none" strike="noStrike">
              <a:solidFill>
                <a:schemeClr val="dk1"/>
              </a:solidFill>
              <a:latin typeface="Calibri"/>
              <a:ea typeface="Calibri"/>
              <a:cs typeface="Calibri"/>
              <a:sym typeface="Calibri"/>
            </a:endParaRPr>
          </a:p>
        </p:txBody>
      </p:sp>
      <p:sp>
        <p:nvSpPr>
          <p:cNvPr id="837" name="Google Shape;837;p21"/>
          <p:cNvSpPr/>
          <p:nvPr/>
        </p:nvSpPr>
        <p:spPr>
          <a:xfrm>
            <a:off x="6236208" y="4407408"/>
            <a:ext cx="2670048" cy="438912"/>
          </a:xfrm>
          <a:prstGeom prst="rect">
            <a:avLst/>
          </a:prstGeom>
          <a:solidFill>
            <a:srgbClr val="EFF3FA"/>
          </a:solidFill>
          <a:ln cap="flat" cmpd="sng" w="12700">
            <a:solidFill>
              <a:srgbClr val="D8E4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1"/>
          <p:cNvSpPr/>
          <p:nvPr/>
        </p:nvSpPr>
        <p:spPr>
          <a:xfrm>
            <a:off x="6300216" y="4443984"/>
            <a:ext cx="25420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950"/>
              <a:buFont typeface="Calibri"/>
              <a:buNone/>
            </a:pPr>
            <a:r>
              <a:rPr b="0" i="1" lang="en-US" sz="950" u="none" cap="none" strike="noStrike">
                <a:solidFill>
                  <a:srgbClr val="0D1B2A"/>
                </a:solidFill>
                <a:latin typeface="Calibri"/>
                <a:ea typeface="Calibri"/>
                <a:cs typeface="Calibri"/>
                <a:sym typeface="Calibri"/>
              </a:rPr>
              <a:t>Best config: Budget option — find used MK4s in FRC buy/sell groups ($150–200/module used)</a:t>
            </a:r>
            <a:endParaRPr b="0" i="0" sz="950" u="none" cap="none" strike="noStrike">
              <a:solidFill>
                <a:schemeClr val="dk1"/>
              </a:solidFill>
              <a:latin typeface="Calibri"/>
              <a:ea typeface="Calibri"/>
              <a:cs typeface="Calibri"/>
              <a:sym typeface="Calibri"/>
            </a:endParaRPr>
          </a:p>
        </p:txBody>
      </p:sp>
      <p:sp>
        <p:nvSpPr>
          <p:cNvPr id="839" name="Google Shape;839;p21"/>
          <p:cNvSpPr/>
          <p:nvPr/>
        </p:nvSpPr>
        <p:spPr>
          <a:xfrm>
            <a:off x="365760" y="4919472"/>
            <a:ext cx="8412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100"/>
              <a:buFont typeface="Calibri"/>
              <a:buNone/>
            </a:pPr>
            <a:r>
              <a:rPr b="0" i="0" lang="en-US" sz="1100" u="none" cap="none" strike="noStrike">
                <a:solidFill>
                  <a:srgbClr val="3A6BC4"/>
                </a:solidFill>
                <a:latin typeface="Calibri"/>
                <a:ea typeface="Calibri"/>
                <a:cs typeface="Calibri"/>
                <a:sym typeface="Calibri"/>
              </a:rPr>
              <a:t>🌐  swervedrivespecialties.com  |  Best price on: MK4i / MK5n modules. Buy directly — no cheaper resellers exist</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844" name="Shape 844"/>
        <p:cNvGrpSpPr/>
        <p:nvPr/>
      </p:nvGrpSpPr>
      <p:grpSpPr>
        <a:xfrm>
          <a:off x="0" y="0"/>
          <a:ext cx="0" cy="0"/>
          <a:chOff x="0" y="0"/>
          <a:chExt cx="0" cy="0"/>
        </a:xfrm>
      </p:grpSpPr>
      <p:sp>
        <p:nvSpPr>
          <p:cNvPr id="845" name="Google Shape;845;p22"/>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2"/>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ThriftyBot &amp; Other Key Suppliers</a:t>
            </a:r>
            <a:endParaRPr b="0" i="0" sz="2100" u="none" cap="none" strike="noStrike">
              <a:solidFill>
                <a:schemeClr val="dk1"/>
              </a:solidFill>
              <a:latin typeface="Calibri"/>
              <a:ea typeface="Calibri"/>
              <a:cs typeface="Calibri"/>
              <a:sym typeface="Calibri"/>
            </a:endParaRPr>
          </a:p>
        </p:txBody>
      </p:sp>
      <p:sp>
        <p:nvSpPr>
          <p:cNvPr id="847" name="Google Shape;847;p22"/>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2"/>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SUPPLIER</a:t>
            </a:r>
            <a:endParaRPr b="0" i="0" sz="1100" u="none" cap="none" strike="noStrike">
              <a:solidFill>
                <a:schemeClr val="dk1"/>
              </a:solidFill>
              <a:latin typeface="Calibri"/>
              <a:ea typeface="Calibri"/>
              <a:cs typeface="Calibri"/>
              <a:sym typeface="Calibri"/>
            </a:endParaRPr>
          </a:p>
        </p:txBody>
      </p:sp>
      <p:sp>
        <p:nvSpPr>
          <p:cNvPr id="849" name="Google Shape;849;p22"/>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2"/>
          <p:cNvSpPr/>
          <p:nvPr/>
        </p:nvSpPr>
        <p:spPr>
          <a:xfrm>
            <a:off x="457200" y="7772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ThriftyBot was founded by an FRC mentor to provide budget-friendly alternatives to expensive components. Many of their products are designed to be drop-in replacements for $$$  parts at a fraction of the cost.</a:t>
            </a:r>
            <a:endParaRPr b="0" i="0" sz="1300" u="none" cap="none" strike="noStrike">
              <a:solidFill>
                <a:schemeClr val="dk1"/>
              </a:solidFill>
              <a:latin typeface="Calibri"/>
              <a:ea typeface="Calibri"/>
              <a:cs typeface="Calibri"/>
              <a:sym typeface="Calibri"/>
            </a:endParaRPr>
          </a:p>
        </p:txBody>
      </p:sp>
      <p:sp>
        <p:nvSpPr>
          <p:cNvPr id="851" name="Google Shape;851;p22"/>
          <p:cNvSpPr/>
          <p:nvPr/>
        </p:nvSpPr>
        <p:spPr>
          <a:xfrm>
            <a:off x="274320" y="1444752"/>
            <a:ext cx="4251960" cy="3547872"/>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2"/>
          <p:cNvSpPr/>
          <p:nvPr/>
        </p:nvSpPr>
        <p:spPr>
          <a:xfrm>
            <a:off x="274320" y="1444752"/>
            <a:ext cx="4251960" cy="365760"/>
          </a:xfrm>
          <a:prstGeom prst="rect">
            <a:avLst/>
          </a:prstGeom>
          <a:solidFill>
            <a:srgbClr val="6A2E0A"/>
          </a:solidFill>
          <a:ln cap="flat" cmpd="sng" w="12700">
            <a:solidFill>
              <a:srgbClr val="6A2E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2"/>
          <p:cNvSpPr/>
          <p:nvPr/>
        </p:nvSpPr>
        <p:spPr>
          <a:xfrm>
            <a:off x="365760" y="1444752"/>
            <a:ext cx="4069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ThriftyBot — thethriftybot.com</a:t>
            </a:r>
            <a:endParaRPr b="0" i="0" sz="1300" u="none" cap="none" strike="noStrike">
              <a:solidFill>
                <a:schemeClr val="dk1"/>
              </a:solidFill>
              <a:latin typeface="Calibri"/>
              <a:ea typeface="Calibri"/>
              <a:cs typeface="Calibri"/>
              <a:sym typeface="Calibri"/>
            </a:endParaRPr>
          </a:p>
        </p:txBody>
      </p:sp>
      <p:sp>
        <p:nvSpPr>
          <p:cNvPr id="854" name="Google Shape;854;p22"/>
          <p:cNvSpPr/>
          <p:nvPr/>
        </p:nvSpPr>
        <p:spPr>
          <a:xfrm>
            <a:off x="384048" y="1874520"/>
            <a:ext cx="4005072" cy="30632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Thrifty Absolute Magnetic Encoder — ~$20</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Drop-in replacement for CANcoder at 1/3 the price. Used as swerve module steering encoder. Highly popular budget option.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400"/>
              <a:buFont typeface="Calibri"/>
              <a:buNone/>
            </a:pPr>
            <a:br>
              <a:rPr b="0" i="0" lang="en-US" sz="4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Thrifty Elevator Kit — ~$65</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Budget cascade elevator. Not as polished as WCP Greyt, but functional for simpler scoring tasks. Good for rookie teams.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400"/>
              <a:buFont typeface="Calibri"/>
              <a:buNone/>
            </a:pPr>
            <a:br>
              <a:rPr b="0" i="0" lang="en-US" sz="4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Nova Linear Actuator — ~$85</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12V linear actuator for deployable mechanisms. Replaces expensive pneumatic pistons in many applications. No compressor needed.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400"/>
              <a:buFont typeface="Calibri"/>
              <a:buNone/>
            </a:pPr>
            <a:br>
              <a:rPr b="0" i="0" lang="en-US" sz="400" u="none" cap="none" strike="noStrike">
                <a:solidFill>
                  <a:srgbClr val="00000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ThriftyCam Vision Camera — ~$60</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Budget co-processor camera for AprilTag vision. Works with PhotonVision. Entry-level vision at low cost.</a:t>
            </a:r>
            <a:endParaRPr b="0" i="0" sz="1200" u="none" cap="none" strike="noStrike">
              <a:solidFill>
                <a:schemeClr val="dk1"/>
              </a:solidFill>
              <a:latin typeface="Calibri"/>
              <a:ea typeface="Calibri"/>
              <a:cs typeface="Calibri"/>
              <a:sym typeface="Calibri"/>
            </a:endParaRPr>
          </a:p>
        </p:txBody>
      </p:sp>
      <p:sp>
        <p:nvSpPr>
          <p:cNvPr id="855" name="Google Shape;855;p22"/>
          <p:cNvSpPr/>
          <p:nvPr/>
        </p:nvSpPr>
        <p:spPr>
          <a:xfrm>
            <a:off x="4709160" y="1444752"/>
            <a:ext cx="4251960" cy="768096"/>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2"/>
          <p:cNvSpPr/>
          <p:nvPr/>
        </p:nvSpPr>
        <p:spPr>
          <a:xfrm>
            <a:off x="4709160" y="1444752"/>
            <a:ext cx="1051560" cy="768096"/>
          </a:xfrm>
          <a:prstGeom prst="rect">
            <a:avLst/>
          </a:prstGeom>
          <a:solidFill>
            <a:srgbClr val="4A1E8B"/>
          </a:solidFill>
          <a:ln cap="flat" cmpd="sng" w="12700">
            <a:solidFill>
              <a:srgbClr val="4A1E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2"/>
          <p:cNvSpPr/>
          <p:nvPr/>
        </p:nvSpPr>
        <p:spPr>
          <a:xfrm>
            <a:off x="4709160" y="148132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Redux Robotics</a:t>
            </a:r>
            <a:endParaRPr b="0" i="0" sz="900" u="none" cap="none" strike="noStrike">
              <a:solidFill>
                <a:schemeClr val="dk1"/>
              </a:solidFill>
              <a:latin typeface="Calibri"/>
              <a:ea typeface="Calibri"/>
              <a:cs typeface="Calibri"/>
              <a:sym typeface="Calibri"/>
            </a:endParaRPr>
          </a:p>
        </p:txBody>
      </p:sp>
      <p:sp>
        <p:nvSpPr>
          <p:cNvPr id="858" name="Google Shape;858;p22"/>
          <p:cNvSpPr/>
          <p:nvPr/>
        </p:nvSpPr>
        <p:spPr>
          <a:xfrm>
            <a:off x="4709160" y="1883664"/>
            <a:ext cx="10515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1" lang="en-US" sz="800" u="none" cap="none" strike="noStrike">
                <a:solidFill>
                  <a:srgbClr val="D8E4F0"/>
                </a:solidFill>
                <a:latin typeface="Calibri"/>
                <a:ea typeface="Calibri"/>
                <a:cs typeface="Calibri"/>
                <a:sym typeface="Calibri"/>
              </a:rPr>
              <a:t>reduxrobotics.com</a:t>
            </a:r>
            <a:endParaRPr b="0" i="0" sz="800" u="none" cap="none" strike="noStrike">
              <a:solidFill>
                <a:schemeClr val="dk1"/>
              </a:solidFill>
              <a:latin typeface="Calibri"/>
              <a:ea typeface="Calibri"/>
              <a:cs typeface="Calibri"/>
              <a:sym typeface="Calibri"/>
            </a:endParaRPr>
          </a:p>
        </p:txBody>
      </p:sp>
      <p:sp>
        <p:nvSpPr>
          <p:cNvPr id="859" name="Google Shape;859;p22"/>
          <p:cNvSpPr/>
          <p:nvPr/>
        </p:nvSpPr>
        <p:spPr>
          <a:xfrm>
            <a:off x="5833872" y="1499616"/>
            <a:ext cx="3063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Canandmag encoder ($38) — popular CANcoder alternative. HELIUM sensor series. Reliable CAN-based sensors at competitive prices.</a:t>
            </a:r>
            <a:endParaRPr b="0" i="0" sz="1050" u="none" cap="none" strike="noStrike">
              <a:solidFill>
                <a:schemeClr val="dk1"/>
              </a:solidFill>
              <a:latin typeface="Calibri"/>
              <a:ea typeface="Calibri"/>
              <a:cs typeface="Calibri"/>
              <a:sym typeface="Calibri"/>
            </a:endParaRPr>
          </a:p>
        </p:txBody>
      </p:sp>
      <p:sp>
        <p:nvSpPr>
          <p:cNvPr id="860" name="Google Shape;860;p22"/>
          <p:cNvSpPr/>
          <p:nvPr/>
        </p:nvSpPr>
        <p:spPr>
          <a:xfrm>
            <a:off x="4709160" y="2313432"/>
            <a:ext cx="4251960" cy="768096"/>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2"/>
          <p:cNvSpPr/>
          <p:nvPr/>
        </p:nvSpPr>
        <p:spPr>
          <a:xfrm>
            <a:off x="4709160" y="2313432"/>
            <a:ext cx="1051560" cy="768096"/>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2"/>
          <p:cNvSpPr/>
          <p:nvPr/>
        </p:nvSpPr>
        <p:spPr>
          <a:xfrm>
            <a:off x="4709160" y="235000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Limelight</a:t>
            </a:r>
            <a:endParaRPr b="0" i="0" sz="900" u="none" cap="none" strike="noStrike">
              <a:solidFill>
                <a:schemeClr val="dk1"/>
              </a:solidFill>
              <a:latin typeface="Calibri"/>
              <a:ea typeface="Calibri"/>
              <a:cs typeface="Calibri"/>
              <a:sym typeface="Calibri"/>
            </a:endParaRPr>
          </a:p>
        </p:txBody>
      </p:sp>
      <p:sp>
        <p:nvSpPr>
          <p:cNvPr id="863" name="Google Shape;863;p22"/>
          <p:cNvSpPr/>
          <p:nvPr/>
        </p:nvSpPr>
        <p:spPr>
          <a:xfrm>
            <a:off x="4709160" y="2752344"/>
            <a:ext cx="10515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1" lang="en-US" sz="800" u="none" cap="none" strike="noStrike">
                <a:solidFill>
                  <a:srgbClr val="D8E4F0"/>
                </a:solidFill>
                <a:latin typeface="Calibri"/>
                <a:ea typeface="Calibri"/>
                <a:cs typeface="Calibri"/>
                <a:sym typeface="Calibri"/>
              </a:rPr>
              <a:t>limelightvision.io</a:t>
            </a:r>
            <a:endParaRPr b="0" i="0" sz="800" u="none" cap="none" strike="noStrike">
              <a:solidFill>
                <a:schemeClr val="dk1"/>
              </a:solidFill>
              <a:latin typeface="Calibri"/>
              <a:ea typeface="Calibri"/>
              <a:cs typeface="Calibri"/>
              <a:sym typeface="Calibri"/>
            </a:endParaRPr>
          </a:p>
        </p:txBody>
      </p:sp>
      <p:sp>
        <p:nvSpPr>
          <p:cNvPr id="864" name="Google Shape;864;p22"/>
          <p:cNvSpPr/>
          <p:nvPr/>
        </p:nvSpPr>
        <p:spPr>
          <a:xfrm>
            <a:off x="5833872" y="2368296"/>
            <a:ext cx="3063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Limelight 3/4 — $250–$400. The gold standard for AprilTag localization. Built-in ML, 100fps, plug-and-play with any language. Most top teams run Limelight.</a:t>
            </a:r>
            <a:endParaRPr b="0" i="0" sz="1050" u="none" cap="none" strike="noStrike">
              <a:solidFill>
                <a:schemeClr val="dk1"/>
              </a:solidFill>
              <a:latin typeface="Calibri"/>
              <a:ea typeface="Calibri"/>
              <a:cs typeface="Calibri"/>
              <a:sym typeface="Calibri"/>
            </a:endParaRPr>
          </a:p>
        </p:txBody>
      </p:sp>
      <p:sp>
        <p:nvSpPr>
          <p:cNvPr id="865" name="Google Shape;865;p22"/>
          <p:cNvSpPr/>
          <p:nvPr/>
        </p:nvSpPr>
        <p:spPr>
          <a:xfrm>
            <a:off x="4709160" y="3182112"/>
            <a:ext cx="4251960" cy="768096"/>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2"/>
          <p:cNvSpPr/>
          <p:nvPr/>
        </p:nvSpPr>
        <p:spPr>
          <a:xfrm>
            <a:off x="4709160" y="3182112"/>
            <a:ext cx="1051560" cy="768096"/>
          </a:xfrm>
          <a:prstGeom prst="rect">
            <a:avLst/>
          </a:prstGeom>
          <a:solidFill>
            <a:srgbClr val="1E5C2E"/>
          </a:solidFill>
          <a:ln cap="flat" cmpd="sng" w="12700">
            <a:solidFill>
              <a:srgbClr val="1E5C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2"/>
          <p:cNvSpPr/>
          <p:nvPr/>
        </p:nvSpPr>
        <p:spPr>
          <a:xfrm>
            <a:off x="4709160" y="321868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PhotonVision</a:t>
            </a:r>
            <a:endParaRPr b="0" i="0" sz="900" u="none" cap="none" strike="noStrike">
              <a:solidFill>
                <a:schemeClr val="dk1"/>
              </a:solidFill>
              <a:latin typeface="Calibri"/>
              <a:ea typeface="Calibri"/>
              <a:cs typeface="Calibri"/>
              <a:sym typeface="Calibri"/>
            </a:endParaRPr>
          </a:p>
        </p:txBody>
      </p:sp>
      <p:sp>
        <p:nvSpPr>
          <p:cNvPr id="868" name="Google Shape;868;p22"/>
          <p:cNvSpPr/>
          <p:nvPr/>
        </p:nvSpPr>
        <p:spPr>
          <a:xfrm>
            <a:off x="4709160" y="3621024"/>
            <a:ext cx="10515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1" lang="en-US" sz="800" u="none" cap="none" strike="noStrike">
                <a:solidFill>
                  <a:srgbClr val="D8E4F0"/>
                </a:solidFill>
                <a:latin typeface="Calibri"/>
                <a:ea typeface="Calibri"/>
                <a:cs typeface="Calibri"/>
                <a:sym typeface="Calibri"/>
              </a:rPr>
              <a:t>photonvision.org</a:t>
            </a:r>
            <a:endParaRPr b="0" i="0" sz="800" u="none" cap="none" strike="noStrike">
              <a:solidFill>
                <a:schemeClr val="dk1"/>
              </a:solidFill>
              <a:latin typeface="Calibri"/>
              <a:ea typeface="Calibri"/>
              <a:cs typeface="Calibri"/>
              <a:sym typeface="Calibri"/>
            </a:endParaRPr>
          </a:p>
        </p:txBody>
      </p:sp>
      <p:sp>
        <p:nvSpPr>
          <p:cNvPr id="869" name="Google Shape;869;p22"/>
          <p:cNvSpPr/>
          <p:nvPr/>
        </p:nvSpPr>
        <p:spPr>
          <a:xfrm>
            <a:off x="5833872" y="3236976"/>
            <a:ext cx="3063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Free open-source vision library. Runs on Orange Pi or Raspberry Pi (~$60 hardware). Excellent for teams avoiding Limelight cost. Community supported.</a:t>
            </a:r>
            <a:endParaRPr b="0" i="0" sz="1050" u="none" cap="none" strike="noStrike">
              <a:solidFill>
                <a:schemeClr val="dk1"/>
              </a:solidFill>
              <a:latin typeface="Calibri"/>
              <a:ea typeface="Calibri"/>
              <a:cs typeface="Calibri"/>
              <a:sym typeface="Calibri"/>
            </a:endParaRPr>
          </a:p>
        </p:txBody>
      </p:sp>
      <p:sp>
        <p:nvSpPr>
          <p:cNvPr id="870" name="Google Shape;870;p22"/>
          <p:cNvSpPr/>
          <p:nvPr/>
        </p:nvSpPr>
        <p:spPr>
          <a:xfrm>
            <a:off x="4709160" y="4050792"/>
            <a:ext cx="4251960" cy="768096"/>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2"/>
          <p:cNvSpPr/>
          <p:nvPr/>
        </p:nvSpPr>
        <p:spPr>
          <a:xfrm>
            <a:off x="4709160" y="4050792"/>
            <a:ext cx="1051560" cy="768096"/>
          </a:xfrm>
          <a:prstGeom prst="rect">
            <a:avLst/>
          </a:prstGeom>
          <a:solidFill>
            <a:srgbClr val="5C3A1E"/>
          </a:solidFill>
          <a:ln cap="flat" cmpd="sng" w="12700">
            <a:solidFill>
              <a:srgbClr val="5C3A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2"/>
          <p:cNvSpPr/>
          <p:nvPr/>
        </p:nvSpPr>
        <p:spPr>
          <a:xfrm>
            <a:off x="4709160" y="4087368"/>
            <a:ext cx="1051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Grapple Robotics</a:t>
            </a:r>
            <a:endParaRPr b="0" i="0" sz="900" u="none" cap="none" strike="noStrike">
              <a:solidFill>
                <a:schemeClr val="dk1"/>
              </a:solidFill>
              <a:latin typeface="Calibri"/>
              <a:ea typeface="Calibri"/>
              <a:cs typeface="Calibri"/>
              <a:sym typeface="Calibri"/>
            </a:endParaRPr>
          </a:p>
        </p:txBody>
      </p:sp>
      <p:sp>
        <p:nvSpPr>
          <p:cNvPr id="873" name="Google Shape;873;p22"/>
          <p:cNvSpPr/>
          <p:nvPr/>
        </p:nvSpPr>
        <p:spPr>
          <a:xfrm>
            <a:off x="4709160" y="4489704"/>
            <a:ext cx="105156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800"/>
              <a:buFont typeface="Calibri"/>
              <a:buNone/>
            </a:pPr>
            <a:r>
              <a:rPr b="0" i="1" lang="en-US" sz="800" u="none" cap="none" strike="noStrike">
                <a:solidFill>
                  <a:srgbClr val="D8E4F0"/>
                </a:solidFill>
                <a:latin typeface="Calibri"/>
                <a:ea typeface="Calibri"/>
                <a:cs typeface="Calibri"/>
                <a:sym typeface="Calibri"/>
              </a:rPr>
              <a:t>grapplerobotics.com</a:t>
            </a:r>
            <a:endParaRPr b="0" i="0" sz="800" u="none" cap="none" strike="noStrike">
              <a:solidFill>
                <a:schemeClr val="dk1"/>
              </a:solidFill>
              <a:latin typeface="Calibri"/>
              <a:ea typeface="Calibri"/>
              <a:cs typeface="Calibri"/>
              <a:sym typeface="Calibri"/>
            </a:endParaRPr>
          </a:p>
        </p:txBody>
      </p:sp>
      <p:sp>
        <p:nvSpPr>
          <p:cNvPr id="874" name="Google Shape;874;p22"/>
          <p:cNvSpPr/>
          <p:nvPr/>
        </p:nvSpPr>
        <p:spPr>
          <a:xfrm>
            <a:off x="5833872" y="4105656"/>
            <a:ext cx="30632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Budget CTRE/REV alternatives. Flash (motor controller), LaserCAN (distance sensor). Growing brand targeting cost-sensitive teams.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879" name="Shape 879"/>
        <p:cNvGrpSpPr/>
        <p:nvPr/>
      </p:nvGrpSpPr>
      <p:grpSpPr>
        <a:xfrm>
          <a:off x="0" y="0"/>
          <a:ext cx="0" cy="0"/>
          <a:chOff x="0" y="0"/>
          <a:chExt cx="0" cy="0"/>
        </a:xfrm>
      </p:grpSpPr>
      <p:sp>
        <p:nvSpPr>
          <p:cNvPr id="880" name="Google Shape;880;p23"/>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3"/>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Best Price Guide — What to Buy Where</a:t>
            </a:r>
            <a:endParaRPr b="0" i="0" sz="2100" u="none" cap="none" strike="noStrike">
              <a:solidFill>
                <a:schemeClr val="dk1"/>
              </a:solidFill>
              <a:latin typeface="Calibri"/>
              <a:ea typeface="Calibri"/>
              <a:cs typeface="Calibri"/>
              <a:sym typeface="Calibri"/>
            </a:endParaRPr>
          </a:p>
        </p:txBody>
      </p:sp>
      <p:sp>
        <p:nvSpPr>
          <p:cNvPr id="882" name="Google Shape;882;p23"/>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3"/>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SUPPLIER SUMMARY</a:t>
            </a:r>
            <a:endParaRPr b="0" i="0" sz="1100" u="none" cap="none" strike="noStrike">
              <a:solidFill>
                <a:schemeClr val="dk1"/>
              </a:solidFill>
              <a:latin typeface="Calibri"/>
              <a:ea typeface="Calibri"/>
              <a:cs typeface="Calibri"/>
              <a:sym typeface="Calibri"/>
            </a:endParaRPr>
          </a:p>
        </p:txBody>
      </p:sp>
      <p:sp>
        <p:nvSpPr>
          <p:cNvPr id="884" name="Google Shape;884;p23"/>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885" name="Google Shape;885;p23"/>
          <p:cNvGraphicFramePr/>
          <p:nvPr/>
        </p:nvGraphicFramePr>
        <p:xfrm>
          <a:off x="274320" y="749808"/>
          <a:ext cx="3000000" cy="3000000"/>
        </p:xfrm>
        <a:graphic>
          <a:graphicData uri="http://schemas.openxmlformats.org/drawingml/2006/table">
            <a:tbl>
              <a:tblPr>
                <a:noFill/>
                <a:tableStyleId>{FC7D8A60-8819-47AD-AC98-8979D3194A4D}</a:tableStyleId>
              </a:tblPr>
              <a:tblGrid>
                <a:gridCol w="2286000"/>
                <a:gridCol w="2286000"/>
                <a:gridCol w="2286000"/>
                <a:gridCol w="1737350"/>
              </a:tblGrid>
              <a:tr h="30697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Component</a:t>
                      </a:r>
                      <a:endParaRPr sz="12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Best Source</a:t>
                      </a:r>
                      <a:endParaRPr sz="12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Budget Alt.</a:t>
                      </a:r>
                      <a:endParaRPr sz="12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Approx. Cost</a:t>
                      </a:r>
                      <a:endParaRPr sz="12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0D1B2A"/>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Swerve Modules</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SDS (MK4i/MK5n)</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REV EasySwerve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$340–420/module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Drive Motors</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CTRE Kraken X60</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REV NEO Vortex</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$100–150 each</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Steer Motors</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CTRE Kraken X44</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REV NEO V1.1</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$35–100 each</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Motor Controllers</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Integrated in Kraken</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REV SPARK MAX</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$55–75 each</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Swerve Encoder</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CTRE CANcoder</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Redux Canandmag / Thrifty</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$20–45 each</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IMU / Gyro</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CTRE Pigeon 2.0</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NavX-MXP (Kauai Labs)</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$60–80</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Vision Camera</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Limelight 3/4</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PhotonVision + OrangePi</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$60–400</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Elevator Kit</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WCP Greyt Universal</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ThriftyBot Elevator</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$65–200</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Gearbox</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WCP SFX / FlexBox</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MAXPlanetary (REV)</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$75–120</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Structural Tube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WCP / McMaster 2×1</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REV MAXTube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$15–25/5ft</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Intake Wheels</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AndyMark Compliant</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Any compliant wheel</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$7–12 each</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Pneumatics</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AndyMark bundle</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McMaster-Carr</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Varies</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r h="306975">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Power Distrib.</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REV PDH</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CTRE PDH</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100"/>
                        <a:buFont typeface="Calibri"/>
                        <a:buNone/>
                      </a:pPr>
                      <a:r>
                        <a:rPr lang="en-US" sz="1100" u="none" cap="none" strike="noStrike">
                          <a:solidFill>
                            <a:srgbClr val="000000"/>
                          </a:solidFill>
                        </a:rPr>
                        <a:t>$75–80</a:t>
                      </a:r>
                      <a:endParaRPr sz="1100" u="none" cap="none" strike="noStrike"/>
                    </a:p>
                  </a:txBody>
                  <a:tcPr marT="45725" marB="45725" marR="91450" marL="91450">
                    <a:lnL cap="flat" cmpd="sng" w="9525">
                      <a:solidFill>
                        <a:srgbClr val="D8E4F0"/>
                      </a:solidFill>
                      <a:prstDash val="solid"/>
                      <a:round/>
                      <a:headEnd len="sm" w="sm" type="none"/>
                      <a:tailEnd len="sm" w="sm" type="none"/>
                    </a:lnL>
                    <a:lnR cap="flat" cmpd="sng" w="9525">
                      <a:solidFill>
                        <a:srgbClr val="D8E4F0"/>
                      </a:solidFill>
                      <a:prstDash val="solid"/>
                      <a:round/>
                      <a:headEnd len="sm" w="sm" type="none"/>
                      <a:tailEnd len="sm" w="sm" type="none"/>
                    </a:lnR>
                    <a:lnT cap="flat" cmpd="sng" w="9525">
                      <a:solidFill>
                        <a:srgbClr val="D8E4F0"/>
                      </a:solidFill>
                      <a:prstDash val="solid"/>
                      <a:round/>
                      <a:headEnd len="sm" w="sm" type="none"/>
                      <a:tailEnd len="sm" w="sm" type="none"/>
                    </a:lnT>
                    <a:lnB cap="flat" cmpd="sng" w="9525">
                      <a:solidFill>
                        <a:srgbClr val="D8E4F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3A6B"/>
        </a:solidFill>
      </p:bgPr>
    </p:bg>
    <p:spTree>
      <p:nvGrpSpPr>
        <p:cNvPr id="890" name="Shape 890"/>
        <p:cNvGrpSpPr/>
        <p:nvPr/>
      </p:nvGrpSpPr>
      <p:grpSpPr>
        <a:xfrm>
          <a:off x="0" y="0"/>
          <a:ext cx="0" cy="0"/>
          <a:chOff x="0" y="0"/>
          <a:chExt cx="0" cy="0"/>
        </a:xfrm>
      </p:grpSpPr>
      <p:sp>
        <p:nvSpPr>
          <p:cNvPr id="891" name="Google Shape;891;g3e92e6f0be2_0_249"/>
          <p:cNvSpPr/>
          <p:nvPr/>
        </p:nvSpPr>
        <p:spPr>
          <a:xfrm>
            <a:off x="0" y="0"/>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g3e92e6f0be2_0_249"/>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g3e92e6f0be2_0_249"/>
          <p:cNvSpPr/>
          <p:nvPr/>
        </p:nvSpPr>
        <p:spPr>
          <a:xfrm>
            <a:off x="731520" y="1371600"/>
            <a:ext cx="76809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200"/>
              <a:buFont typeface="Calibri"/>
              <a:buNone/>
            </a:pPr>
            <a:r>
              <a:rPr b="1" lang="en-US" sz="4200">
                <a:solidFill>
                  <a:srgbClr val="FFFFFF"/>
                </a:solidFill>
                <a:latin typeface="Calibri"/>
                <a:ea typeface="Calibri"/>
                <a:cs typeface="Calibri"/>
                <a:sym typeface="Calibri"/>
              </a:rPr>
              <a:t>FRC Tools and Resources</a:t>
            </a:r>
            <a:endParaRPr b="0" i="0" sz="4200" u="none" cap="none" strike="noStrike">
              <a:solidFill>
                <a:schemeClr val="dk1"/>
              </a:solidFill>
              <a:latin typeface="Calibri"/>
              <a:ea typeface="Calibri"/>
              <a:cs typeface="Calibri"/>
              <a:sym typeface="Calibri"/>
            </a:endParaRPr>
          </a:p>
        </p:txBody>
      </p:sp>
      <p:sp>
        <p:nvSpPr>
          <p:cNvPr id="894" name="Google Shape;894;g3e92e6f0be2_0_249"/>
          <p:cNvSpPr/>
          <p:nvPr/>
        </p:nvSpPr>
        <p:spPr>
          <a:xfrm>
            <a:off x="914400" y="2926080"/>
            <a:ext cx="7315200" cy="73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500"/>
              <a:buFont typeface="Calibri"/>
              <a:buNone/>
            </a:pPr>
            <a:r>
              <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899" name="Shape 899"/>
        <p:cNvGrpSpPr/>
        <p:nvPr/>
      </p:nvGrpSpPr>
      <p:grpSpPr>
        <a:xfrm>
          <a:off x="0" y="0"/>
          <a:ext cx="0" cy="0"/>
          <a:chOff x="0" y="0"/>
          <a:chExt cx="0" cy="0"/>
        </a:xfrm>
      </p:grpSpPr>
      <p:sp>
        <p:nvSpPr>
          <p:cNvPr id="900" name="Google Shape;900;p24"/>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4"/>
          <p:cNvSpPr/>
          <p:nvPr/>
        </p:nvSpPr>
        <p:spPr>
          <a:xfrm>
            <a:off x="457200" y="64008"/>
            <a:ext cx="68580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Essential FRC Resources</a:t>
            </a:r>
            <a:endParaRPr b="0" i="0" sz="2100" u="none" cap="none" strike="noStrike">
              <a:solidFill>
                <a:schemeClr val="dk1"/>
              </a:solidFill>
              <a:latin typeface="Calibri"/>
              <a:ea typeface="Calibri"/>
              <a:cs typeface="Calibri"/>
              <a:sym typeface="Calibri"/>
            </a:endParaRPr>
          </a:p>
        </p:txBody>
      </p:sp>
      <p:sp>
        <p:nvSpPr>
          <p:cNvPr id="902" name="Google Shape;902;p24"/>
          <p:cNvSpPr/>
          <p:nvPr/>
        </p:nvSpPr>
        <p:spPr>
          <a:xfrm>
            <a:off x="7132320" y="109728"/>
            <a:ext cx="1536192" cy="420624"/>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4"/>
          <p:cNvSpPr/>
          <p:nvPr/>
        </p:nvSpPr>
        <p:spPr>
          <a:xfrm>
            <a:off x="7132320" y="109728"/>
            <a:ext cx="1536192"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REFERENCE</a:t>
            </a:r>
            <a:endParaRPr b="0" i="0" sz="1100" u="none" cap="none" strike="noStrike">
              <a:solidFill>
                <a:schemeClr val="dk1"/>
              </a:solidFill>
              <a:latin typeface="Calibri"/>
              <a:ea typeface="Calibri"/>
              <a:cs typeface="Calibri"/>
              <a:sym typeface="Calibri"/>
            </a:endParaRPr>
          </a:p>
        </p:txBody>
      </p:sp>
      <p:sp>
        <p:nvSpPr>
          <p:cNvPr id="904" name="Google Shape;904;p24"/>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4"/>
          <p:cNvSpPr/>
          <p:nvPr/>
        </p:nvSpPr>
        <p:spPr>
          <a:xfrm>
            <a:off x="274320" y="822960"/>
            <a:ext cx="4251960" cy="128016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4"/>
          <p:cNvSpPr/>
          <p:nvPr/>
        </p:nvSpPr>
        <p:spPr>
          <a:xfrm>
            <a:off x="274320" y="822960"/>
            <a:ext cx="4251960" cy="73152"/>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4"/>
          <p:cNvSpPr/>
          <p:nvPr/>
        </p:nvSpPr>
        <p:spPr>
          <a:xfrm>
            <a:off x="384048" y="969264"/>
            <a:ext cx="2743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The Blue Alliance (TBA)</a:t>
            </a:r>
            <a:endParaRPr b="0" i="0" sz="1300" u="none" cap="none" strike="noStrike">
              <a:solidFill>
                <a:schemeClr val="dk1"/>
              </a:solidFill>
              <a:latin typeface="Calibri"/>
              <a:ea typeface="Calibri"/>
              <a:cs typeface="Calibri"/>
              <a:sym typeface="Calibri"/>
            </a:endParaRPr>
          </a:p>
        </p:txBody>
      </p:sp>
      <p:sp>
        <p:nvSpPr>
          <p:cNvPr id="908" name="Google Shape;908;p24"/>
          <p:cNvSpPr/>
          <p:nvPr/>
        </p:nvSpPr>
        <p:spPr>
          <a:xfrm>
            <a:off x="384048" y="1298448"/>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thebluealliance.com</a:t>
            </a:r>
            <a:endParaRPr b="0" i="0" sz="1000" u="none" cap="none" strike="noStrike">
              <a:solidFill>
                <a:schemeClr val="dk1"/>
              </a:solidFill>
              <a:latin typeface="Calibri"/>
              <a:ea typeface="Calibri"/>
              <a:cs typeface="Calibri"/>
              <a:sym typeface="Calibri"/>
            </a:endParaRPr>
          </a:p>
        </p:txBody>
      </p:sp>
      <p:sp>
        <p:nvSpPr>
          <p:cNvPr id="909" name="Google Shape;909;p24"/>
          <p:cNvSpPr/>
          <p:nvPr/>
        </p:nvSpPr>
        <p:spPr>
          <a:xfrm>
            <a:off x="384048" y="1536192"/>
            <a:ext cx="40233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Match results, team stats, event schedules, OPR calculations. The official unofficial data hub. Use for scouting research and checking team history.</a:t>
            </a:r>
            <a:endParaRPr b="0" i="0" sz="1050" u="none" cap="none" strike="noStrike">
              <a:solidFill>
                <a:schemeClr val="dk1"/>
              </a:solidFill>
              <a:latin typeface="Calibri"/>
              <a:ea typeface="Calibri"/>
              <a:cs typeface="Calibri"/>
              <a:sym typeface="Calibri"/>
            </a:endParaRPr>
          </a:p>
        </p:txBody>
      </p:sp>
      <p:sp>
        <p:nvSpPr>
          <p:cNvPr id="910" name="Google Shape;910;p24"/>
          <p:cNvSpPr/>
          <p:nvPr/>
        </p:nvSpPr>
        <p:spPr>
          <a:xfrm>
            <a:off x="4709160" y="822960"/>
            <a:ext cx="4251960" cy="128016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4"/>
          <p:cNvSpPr/>
          <p:nvPr/>
        </p:nvSpPr>
        <p:spPr>
          <a:xfrm>
            <a:off x="4709160" y="822960"/>
            <a:ext cx="4251960" cy="73152"/>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4"/>
          <p:cNvSpPr/>
          <p:nvPr/>
        </p:nvSpPr>
        <p:spPr>
          <a:xfrm>
            <a:off x="4818888" y="969264"/>
            <a:ext cx="2743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Statbotics.io</a:t>
            </a:r>
            <a:endParaRPr b="0" i="0" sz="1300" u="none" cap="none" strike="noStrike">
              <a:solidFill>
                <a:schemeClr val="dk1"/>
              </a:solidFill>
              <a:latin typeface="Calibri"/>
              <a:ea typeface="Calibri"/>
              <a:cs typeface="Calibri"/>
              <a:sym typeface="Calibri"/>
            </a:endParaRPr>
          </a:p>
        </p:txBody>
      </p:sp>
      <p:sp>
        <p:nvSpPr>
          <p:cNvPr id="913" name="Google Shape;913;p24"/>
          <p:cNvSpPr/>
          <p:nvPr/>
        </p:nvSpPr>
        <p:spPr>
          <a:xfrm>
            <a:off x="4818888" y="1298448"/>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statbotics.io</a:t>
            </a:r>
            <a:endParaRPr b="0" i="0" sz="1000" u="none" cap="none" strike="noStrike">
              <a:solidFill>
                <a:schemeClr val="dk1"/>
              </a:solidFill>
              <a:latin typeface="Calibri"/>
              <a:ea typeface="Calibri"/>
              <a:cs typeface="Calibri"/>
              <a:sym typeface="Calibri"/>
            </a:endParaRPr>
          </a:p>
        </p:txBody>
      </p:sp>
      <p:sp>
        <p:nvSpPr>
          <p:cNvPr id="914" name="Google Shape;914;p24"/>
          <p:cNvSpPr/>
          <p:nvPr/>
        </p:nvSpPr>
        <p:spPr>
          <a:xfrm>
            <a:off x="4818888" y="1536192"/>
            <a:ext cx="40233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EPA-based (Expected Points Added) analytics. Better power ranking than OPR. Great for comparing teams across years and finding undervalued pick list candidates.</a:t>
            </a:r>
            <a:endParaRPr b="0" i="0" sz="1050" u="none" cap="none" strike="noStrike">
              <a:solidFill>
                <a:schemeClr val="dk1"/>
              </a:solidFill>
              <a:latin typeface="Calibri"/>
              <a:ea typeface="Calibri"/>
              <a:cs typeface="Calibri"/>
              <a:sym typeface="Calibri"/>
            </a:endParaRPr>
          </a:p>
        </p:txBody>
      </p:sp>
      <p:sp>
        <p:nvSpPr>
          <p:cNvPr id="915" name="Google Shape;915;p24"/>
          <p:cNvSpPr/>
          <p:nvPr/>
        </p:nvSpPr>
        <p:spPr>
          <a:xfrm>
            <a:off x="274320" y="2212848"/>
            <a:ext cx="4251960" cy="128016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4"/>
          <p:cNvSpPr/>
          <p:nvPr/>
        </p:nvSpPr>
        <p:spPr>
          <a:xfrm>
            <a:off x="274320" y="2212848"/>
            <a:ext cx="425196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4"/>
          <p:cNvSpPr/>
          <p:nvPr/>
        </p:nvSpPr>
        <p:spPr>
          <a:xfrm>
            <a:off x="384048" y="2359152"/>
            <a:ext cx="2743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Chief Delphi</a:t>
            </a:r>
            <a:endParaRPr b="0" i="0" sz="1300" u="none" cap="none" strike="noStrike">
              <a:solidFill>
                <a:schemeClr val="dk1"/>
              </a:solidFill>
              <a:latin typeface="Calibri"/>
              <a:ea typeface="Calibri"/>
              <a:cs typeface="Calibri"/>
              <a:sym typeface="Calibri"/>
            </a:endParaRPr>
          </a:p>
        </p:txBody>
      </p:sp>
      <p:sp>
        <p:nvSpPr>
          <p:cNvPr id="918" name="Google Shape;918;p24"/>
          <p:cNvSpPr/>
          <p:nvPr/>
        </p:nvSpPr>
        <p:spPr>
          <a:xfrm>
            <a:off x="384048" y="2688336"/>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chiefdelphi.com</a:t>
            </a:r>
            <a:endParaRPr b="0" i="0" sz="1000" u="none" cap="none" strike="noStrike">
              <a:solidFill>
                <a:schemeClr val="dk1"/>
              </a:solidFill>
              <a:latin typeface="Calibri"/>
              <a:ea typeface="Calibri"/>
              <a:cs typeface="Calibri"/>
              <a:sym typeface="Calibri"/>
            </a:endParaRPr>
          </a:p>
        </p:txBody>
      </p:sp>
      <p:sp>
        <p:nvSpPr>
          <p:cNvPr id="919" name="Google Shape;919;p24"/>
          <p:cNvSpPr/>
          <p:nvPr/>
        </p:nvSpPr>
        <p:spPr>
          <a:xfrm>
            <a:off x="384048" y="2926080"/>
            <a:ext cx="40233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The FRC community forum. Build threads, technical discussions, game strategy, supplier releases, Open Alliance documentation. Essential for serious teams.</a:t>
            </a:r>
            <a:endParaRPr b="0" i="0" sz="1050" u="none" cap="none" strike="noStrike">
              <a:solidFill>
                <a:schemeClr val="dk1"/>
              </a:solidFill>
              <a:latin typeface="Calibri"/>
              <a:ea typeface="Calibri"/>
              <a:cs typeface="Calibri"/>
              <a:sym typeface="Calibri"/>
            </a:endParaRPr>
          </a:p>
        </p:txBody>
      </p:sp>
      <p:sp>
        <p:nvSpPr>
          <p:cNvPr id="920" name="Google Shape;920;p24"/>
          <p:cNvSpPr/>
          <p:nvPr/>
        </p:nvSpPr>
        <p:spPr>
          <a:xfrm>
            <a:off x="4709160" y="2212848"/>
            <a:ext cx="4251960" cy="128016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4"/>
          <p:cNvSpPr/>
          <p:nvPr/>
        </p:nvSpPr>
        <p:spPr>
          <a:xfrm>
            <a:off x="4709160" y="2212848"/>
            <a:ext cx="4251960" cy="73152"/>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4"/>
          <p:cNvSpPr/>
          <p:nvPr/>
        </p:nvSpPr>
        <p:spPr>
          <a:xfrm>
            <a:off x="4818888" y="2359152"/>
            <a:ext cx="2743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PathPlanner</a:t>
            </a:r>
            <a:endParaRPr b="0" i="0" sz="1300" u="none" cap="none" strike="noStrike">
              <a:solidFill>
                <a:schemeClr val="dk1"/>
              </a:solidFill>
              <a:latin typeface="Calibri"/>
              <a:ea typeface="Calibri"/>
              <a:cs typeface="Calibri"/>
              <a:sym typeface="Calibri"/>
            </a:endParaRPr>
          </a:p>
        </p:txBody>
      </p:sp>
      <p:sp>
        <p:nvSpPr>
          <p:cNvPr id="923" name="Google Shape;923;p24"/>
          <p:cNvSpPr/>
          <p:nvPr/>
        </p:nvSpPr>
        <p:spPr>
          <a:xfrm>
            <a:off x="4818888" y="2688336"/>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pathplanner.dev</a:t>
            </a:r>
            <a:endParaRPr b="0" i="0" sz="1000" u="none" cap="none" strike="noStrike">
              <a:solidFill>
                <a:schemeClr val="dk1"/>
              </a:solidFill>
              <a:latin typeface="Calibri"/>
              <a:ea typeface="Calibri"/>
              <a:cs typeface="Calibri"/>
              <a:sym typeface="Calibri"/>
            </a:endParaRPr>
          </a:p>
        </p:txBody>
      </p:sp>
      <p:sp>
        <p:nvSpPr>
          <p:cNvPr id="924" name="Google Shape;924;p24"/>
          <p:cNvSpPr/>
          <p:nvPr/>
        </p:nvSpPr>
        <p:spPr>
          <a:xfrm>
            <a:off x="4818888" y="2926080"/>
            <a:ext cx="40233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Best-in-class graphical autonomous path planning tool. Holonomic and tank support. Free, maintained by FRC students. Near-universal adoption at competitive level.</a:t>
            </a:r>
            <a:endParaRPr b="0" i="0" sz="1050" u="none" cap="none" strike="noStrike">
              <a:solidFill>
                <a:schemeClr val="dk1"/>
              </a:solidFill>
              <a:latin typeface="Calibri"/>
              <a:ea typeface="Calibri"/>
              <a:cs typeface="Calibri"/>
              <a:sym typeface="Calibri"/>
            </a:endParaRPr>
          </a:p>
        </p:txBody>
      </p:sp>
      <p:sp>
        <p:nvSpPr>
          <p:cNvPr id="925" name="Google Shape;925;p24"/>
          <p:cNvSpPr/>
          <p:nvPr/>
        </p:nvSpPr>
        <p:spPr>
          <a:xfrm>
            <a:off x="274320" y="3602736"/>
            <a:ext cx="4251960" cy="128016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4"/>
          <p:cNvSpPr/>
          <p:nvPr/>
        </p:nvSpPr>
        <p:spPr>
          <a:xfrm>
            <a:off x="274320" y="3602736"/>
            <a:ext cx="4251960" cy="73152"/>
          </a:xfrm>
          <a:prstGeom prst="rect">
            <a:avLst/>
          </a:prstGeom>
          <a:solidFill>
            <a:srgbClr val="4A1E8B"/>
          </a:solidFill>
          <a:ln cap="flat" cmpd="sng" w="12700">
            <a:solidFill>
              <a:srgbClr val="4A1E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4"/>
          <p:cNvSpPr/>
          <p:nvPr/>
        </p:nvSpPr>
        <p:spPr>
          <a:xfrm>
            <a:off x="384048" y="3749040"/>
            <a:ext cx="2743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AdvantageScope</a:t>
            </a:r>
            <a:endParaRPr b="0" i="0" sz="1300" u="none" cap="none" strike="noStrike">
              <a:solidFill>
                <a:schemeClr val="dk1"/>
              </a:solidFill>
              <a:latin typeface="Calibri"/>
              <a:ea typeface="Calibri"/>
              <a:cs typeface="Calibri"/>
              <a:sym typeface="Calibri"/>
            </a:endParaRPr>
          </a:p>
        </p:txBody>
      </p:sp>
      <p:sp>
        <p:nvSpPr>
          <p:cNvPr id="928" name="Google Shape;928;p24"/>
          <p:cNvSpPr/>
          <p:nvPr/>
        </p:nvSpPr>
        <p:spPr>
          <a:xfrm>
            <a:off x="384048" y="4078224"/>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github.com/Mechanical Advantage</a:t>
            </a:r>
            <a:endParaRPr b="0" i="0" sz="1000" u="none" cap="none" strike="noStrike">
              <a:solidFill>
                <a:schemeClr val="dk1"/>
              </a:solidFill>
              <a:latin typeface="Calibri"/>
              <a:ea typeface="Calibri"/>
              <a:cs typeface="Calibri"/>
              <a:sym typeface="Calibri"/>
            </a:endParaRPr>
          </a:p>
        </p:txBody>
      </p:sp>
      <p:sp>
        <p:nvSpPr>
          <p:cNvPr id="929" name="Google Shape;929;p24"/>
          <p:cNvSpPr/>
          <p:nvPr/>
        </p:nvSpPr>
        <p:spPr>
          <a:xfrm>
            <a:off x="384048" y="4315968"/>
            <a:ext cx="40233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Robot telemetry visualization tool by 6328. Replay logs, visualize pose on field, debug mechanisms. Used alongside AdvantageKit logging framework.</a:t>
            </a:r>
            <a:endParaRPr b="0" i="0" sz="1050" u="none" cap="none" strike="noStrike">
              <a:solidFill>
                <a:schemeClr val="dk1"/>
              </a:solidFill>
              <a:latin typeface="Calibri"/>
              <a:ea typeface="Calibri"/>
              <a:cs typeface="Calibri"/>
              <a:sym typeface="Calibri"/>
            </a:endParaRPr>
          </a:p>
        </p:txBody>
      </p:sp>
      <p:sp>
        <p:nvSpPr>
          <p:cNvPr id="930" name="Google Shape;930;p24"/>
          <p:cNvSpPr/>
          <p:nvPr/>
        </p:nvSpPr>
        <p:spPr>
          <a:xfrm>
            <a:off x="4709160" y="3602736"/>
            <a:ext cx="4251960" cy="128016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4"/>
          <p:cNvSpPr/>
          <p:nvPr/>
        </p:nvSpPr>
        <p:spPr>
          <a:xfrm>
            <a:off x="4709160" y="3602736"/>
            <a:ext cx="4251960" cy="73152"/>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4"/>
          <p:cNvSpPr/>
          <p:nvPr/>
        </p:nvSpPr>
        <p:spPr>
          <a:xfrm>
            <a:off x="4818888" y="3749040"/>
            <a:ext cx="2743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FRC Discord / r/FRC</a:t>
            </a:r>
            <a:endParaRPr b="0" i="0" sz="1300" u="none" cap="none" strike="noStrike">
              <a:solidFill>
                <a:schemeClr val="dk1"/>
              </a:solidFill>
              <a:latin typeface="Calibri"/>
              <a:ea typeface="Calibri"/>
              <a:cs typeface="Calibri"/>
              <a:sym typeface="Calibri"/>
            </a:endParaRPr>
          </a:p>
        </p:txBody>
      </p:sp>
      <p:sp>
        <p:nvSpPr>
          <p:cNvPr id="933" name="Google Shape;933;p24"/>
          <p:cNvSpPr/>
          <p:nvPr/>
        </p:nvSpPr>
        <p:spPr>
          <a:xfrm>
            <a:off x="4818888" y="4078224"/>
            <a:ext cx="39319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discord.gg/frc</a:t>
            </a:r>
            <a:endParaRPr b="0" i="0" sz="1000" u="none" cap="none" strike="noStrike">
              <a:solidFill>
                <a:schemeClr val="dk1"/>
              </a:solidFill>
              <a:latin typeface="Calibri"/>
              <a:ea typeface="Calibri"/>
              <a:cs typeface="Calibri"/>
              <a:sym typeface="Calibri"/>
            </a:endParaRPr>
          </a:p>
        </p:txBody>
      </p:sp>
      <p:sp>
        <p:nvSpPr>
          <p:cNvPr id="934" name="Google Shape;934;p24"/>
          <p:cNvSpPr/>
          <p:nvPr/>
        </p:nvSpPr>
        <p:spPr>
          <a:xfrm>
            <a:off x="4818888" y="4315968"/>
            <a:ext cx="40233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50"/>
              <a:buFont typeface="Calibri"/>
              <a:buNone/>
            </a:pPr>
            <a:r>
              <a:rPr b="0" i="0" lang="en-US" sz="1050" u="none" cap="none" strike="noStrike">
                <a:solidFill>
                  <a:srgbClr val="5B6B80"/>
                </a:solidFill>
                <a:latin typeface="Calibri"/>
                <a:ea typeface="Calibri"/>
                <a:cs typeface="Calibri"/>
                <a:sym typeface="Calibri"/>
              </a:rPr>
              <a:t>Real-time help, sponsor introductions, team recruitment, game strategy chat. The r/FRC subreddit is active during build and competition season.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939" name="Shape 939"/>
        <p:cNvGrpSpPr/>
        <p:nvPr/>
      </p:nvGrpSpPr>
      <p:grpSpPr>
        <a:xfrm>
          <a:off x="0" y="0"/>
          <a:ext cx="0" cy="0"/>
          <a:chOff x="0" y="0"/>
          <a:chExt cx="0" cy="0"/>
        </a:xfrm>
      </p:grpSpPr>
      <p:sp>
        <p:nvSpPr>
          <p:cNvPr id="940" name="Google Shape;940;g3e92e6f0be2_0_207"/>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g3e92e6f0be2_0_207"/>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Essential FRC Tools Built by the Community</a:t>
            </a:r>
            <a:endParaRPr b="0" i="0" sz="2100" u="none" cap="none" strike="noStrike">
              <a:solidFill>
                <a:schemeClr val="dk1"/>
              </a:solidFill>
              <a:latin typeface="Calibri"/>
              <a:ea typeface="Calibri"/>
              <a:cs typeface="Calibri"/>
              <a:sym typeface="Calibri"/>
            </a:endParaRPr>
          </a:p>
        </p:txBody>
      </p:sp>
      <p:sp>
        <p:nvSpPr>
          <p:cNvPr id="942" name="Google Shape;942;g3e92e6f0be2_0_207"/>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g3e92e6f0be2_0_207"/>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TOOLS &amp; SOFTWARE</a:t>
            </a:r>
            <a:endParaRPr b="0" i="0" sz="1100" u="none" cap="none" strike="noStrike">
              <a:solidFill>
                <a:schemeClr val="dk1"/>
              </a:solidFill>
              <a:latin typeface="Calibri"/>
              <a:ea typeface="Calibri"/>
              <a:cs typeface="Calibri"/>
              <a:sym typeface="Calibri"/>
            </a:endParaRPr>
          </a:p>
        </p:txBody>
      </p:sp>
      <p:sp>
        <p:nvSpPr>
          <p:cNvPr id="944" name="Google Shape;944;g3e92e6f0be2_0_207"/>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g3e92e6f0be2_0_207"/>
          <p:cNvSpPr/>
          <p:nvPr/>
        </p:nvSpPr>
        <p:spPr>
          <a:xfrm>
            <a:off x="457200" y="777240"/>
            <a:ext cx="82296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The FRC community builds and maintains dozens of free tools that rival or exceed professional software. These are the essential ones every competitive team should know.</a:t>
            </a:r>
            <a:endParaRPr b="0" i="0" sz="1300" u="none" cap="none" strike="noStrike">
              <a:solidFill>
                <a:schemeClr val="dk1"/>
              </a:solidFill>
              <a:latin typeface="Calibri"/>
              <a:ea typeface="Calibri"/>
              <a:cs typeface="Calibri"/>
              <a:sym typeface="Calibri"/>
            </a:endParaRPr>
          </a:p>
        </p:txBody>
      </p:sp>
      <p:sp>
        <p:nvSpPr>
          <p:cNvPr id="946" name="Google Shape;946;g3e92e6f0be2_0_207"/>
          <p:cNvSpPr/>
          <p:nvPr/>
        </p:nvSpPr>
        <p:spPr>
          <a:xfrm>
            <a:off x="274320" y="141732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g3e92e6f0be2_0_207"/>
          <p:cNvSpPr/>
          <p:nvPr/>
        </p:nvSpPr>
        <p:spPr>
          <a:xfrm>
            <a:off x="274320" y="1417320"/>
            <a:ext cx="4251900" cy="732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g3e92e6f0be2_0_207"/>
          <p:cNvSpPr/>
          <p:nvPr/>
        </p:nvSpPr>
        <p:spPr>
          <a:xfrm>
            <a:off x="365760" y="1545336"/>
            <a:ext cx="2743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PathPlanner</a:t>
            </a:r>
            <a:endParaRPr b="0" i="0" sz="1300" u="none" cap="none" strike="noStrike">
              <a:solidFill>
                <a:schemeClr val="dk1"/>
              </a:solidFill>
              <a:latin typeface="Calibri"/>
              <a:ea typeface="Calibri"/>
              <a:cs typeface="Calibri"/>
              <a:sym typeface="Calibri"/>
            </a:endParaRPr>
          </a:p>
        </p:txBody>
      </p:sp>
      <p:sp>
        <p:nvSpPr>
          <p:cNvPr id="949" name="Google Shape;949;g3e92e6f0be2_0_207"/>
          <p:cNvSpPr/>
          <p:nvPr/>
        </p:nvSpPr>
        <p:spPr>
          <a:xfrm>
            <a:off x="365760" y="184708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pathplanner.dev</a:t>
            </a:r>
            <a:endParaRPr b="0" i="0" sz="1000" u="none" cap="none" strike="noStrike">
              <a:solidFill>
                <a:schemeClr val="dk1"/>
              </a:solidFill>
              <a:latin typeface="Calibri"/>
              <a:ea typeface="Calibri"/>
              <a:cs typeface="Calibri"/>
              <a:sym typeface="Calibri"/>
            </a:endParaRPr>
          </a:p>
        </p:txBody>
      </p:sp>
      <p:sp>
        <p:nvSpPr>
          <p:cNvPr id="950" name="Google Shape;950;g3e92e6f0be2_0_207"/>
          <p:cNvSpPr/>
          <p:nvPr/>
        </p:nvSpPr>
        <p:spPr>
          <a:xfrm>
            <a:off x="365760" y="205740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GUI-based autonomous path planning for swerve + tank. Drag-and-drop waypoints on the actual field image. Generates time-optimal, holonomic-aware trajectories. Created by a single FRC student (mjansen4857). The most widely-used auto tool in competitive FRC. Java/Python/C++ support.</a:t>
            </a:r>
            <a:endParaRPr b="0" i="0" sz="950" u="none" cap="none" strike="noStrike">
              <a:solidFill>
                <a:schemeClr val="dk1"/>
              </a:solidFill>
              <a:latin typeface="Calibri"/>
              <a:ea typeface="Calibri"/>
              <a:cs typeface="Calibri"/>
              <a:sym typeface="Calibri"/>
            </a:endParaRPr>
          </a:p>
        </p:txBody>
      </p:sp>
      <p:sp>
        <p:nvSpPr>
          <p:cNvPr id="951" name="Google Shape;951;g3e92e6f0be2_0_207"/>
          <p:cNvSpPr/>
          <p:nvPr/>
        </p:nvSpPr>
        <p:spPr>
          <a:xfrm>
            <a:off x="4709160" y="141732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g3e92e6f0be2_0_207"/>
          <p:cNvSpPr/>
          <p:nvPr/>
        </p:nvSpPr>
        <p:spPr>
          <a:xfrm>
            <a:off x="4709160" y="1417320"/>
            <a:ext cx="4251900" cy="732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g3e92e6f0be2_0_207"/>
          <p:cNvSpPr/>
          <p:nvPr/>
        </p:nvSpPr>
        <p:spPr>
          <a:xfrm>
            <a:off x="4800600" y="1545336"/>
            <a:ext cx="2743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Choreo</a:t>
            </a:r>
            <a:endParaRPr b="0" i="0" sz="1300" u="none" cap="none" strike="noStrike">
              <a:solidFill>
                <a:schemeClr val="dk1"/>
              </a:solidFill>
              <a:latin typeface="Calibri"/>
              <a:ea typeface="Calibri"/>
              <a:cs typeface="Calibri"/>
              <a:sym typeface="Calibri"/>
            </a:endParaRPr>
          </a:p>
        </p:txBody>
      </p:sp>
      <p:sp>
        <p:nvSpPr>
          <p:cNvPr id="954" name="Google Shape;954;g3e92e6f0be2_0_207"/>
          <p:cNvSpPr/>
          <p:nvPr/>
        </p:nvSpPr>
        <p:spPr>
          <a:xfrm>
            <a:off x="4800600" y="184708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choreo.autos</a:t>
            </a:r>
            <a:endParaRPr b="0" i="0" sz="1000" u="none" cap="none" strike="noStrike">
              <a:solidFill>
                <a:schemeClr val="dk1"/>
              </a:solidFill>
              <a:latin typeface="Calibri"/>
              <a:ea typeface="Calibri"/>
              <a:cs typeface="Calibri"/>
              <a:sym typeface="Calibri"/>
            </a:endParaRPr>
          </a:p>
        </p:txBody>
      </p:sp>
      <p:sp>
        <p:nvSpPr>
          <p:cNvPr id="955" name="Google Shape;955;g3e92e6f0be2_0_207"/>
          <p:cNvSpPr/>
          <p:nvPr/>
        </p:nvSpPr>
        <p:spPr>
          <a:xfrm>
            <a:off x="4800600" y="205740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WPILib-integrated time-optimal trajectory generator. Similar to PathPlanner but mathematically optimizes every constraint simultaneously (motor physics, swerve kinematics). Now officially in WPILib docs. Preferred by teams wanting physics-accurate trajectories that squeeze every millisecond from auto.</a:t>
            </a:r>
            <a:endParaRPr b="0" i="0" sz="950" u="none" cap="none" strike="noStrike">
              <a:solidFill>
                <a:schemeClr val="dk1"/>
              </a:solidFill>
              <a:latin typeface="Calibri"/>
              <a:ea typeface="Calibri"/>
              <a:cs typeface="Calibri"/>
              <a:sym typeface="Calibri"/>
            </a:endParaRPr>
          </a:p>
        </p:txBody>
      </p:sp>
      <p:sp>
        <p:nvSpPr>
          <p:cNvPr id="956" name="Google Shape;956;g3e92e6f0be2_0_207"/>
          <p:cNvSpPr/>
          <p:nvPr/>
        </p:nvSpPr>
        <p:spPr>
          <a:xfrm>
            <a:off x="274320" y="260604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g3e92e6f0be2_0_207"/>
          <p:cNvSpPr/>
          <p:nvPr/>
        </p:nvSpPr>
        <p:spPr>
          <a:xfrm>
            <a:off x="274320" y="2606040"/>
            <a:ext cx="4251900" cy="732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g3e92e6f0be2_0_207"/>
          <p:cNvSpPr/>
          <p:nvPr/>
        </p:nvSpPr>
        <p:spPr>
          <a:xfrm>
            <a:off x="365760" y="2734056"/>
            <a:ext cx="2743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AdvantageKit + AdvantageScope</a:t>
            </a:r>
            <a:endParaRPr b="0" i="0" sz="1300" u="none" cap="none" strike="noStrike">
              <a:solidFill>
                <a:schemeClr val="dk1"/>
              </a:solidFill>
              <a:latin typeface="Calibri"/>
              <a:ea typeface="Calibri"/>
              <a:cs typeface="Calibri"/>
              <a:sym typeface="Calibri"/>
            </a:endParaRPr>
          </a:p>
        </p:txBody>
      </p:sp>
      <p:sp>
        <p:nvSpPr>
          <p:cNvPr id="959" name="Google Shape;959;g3e92e6f0be2_0_207"/>
          <p:cNvSpPr/>
          <p:nvPr/>
        </p:nvSpPr>
        <p:spPr>
          <a:xfrm>
            <a:off x="365760" y="303580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github.com/Mechanical-Advantage</a:t>
            </a:r>
            <a:endParaRPr b="0" i="0" sz="1000" u="none" cap="none" strike="noStrike">
              <a:solidFill>
                <a:schemeClr val="dk1"/>
              </a:solidFill>
              <a:latin typeface="Calibri"/>
              <a:ea typeface="Calibri"/>
              <a:cs typeface="Calibri"/>
              <a:sym typeface="Calibri"/>
            </a:endParaRPr>
          </a:p>
        </p:txBody>
      </p:sp>
      <p:sp>
        <p:nvSpPr>
          <p:cNvPr id="960" name="Google Shape;960;g3e92e6f0be2_0_207"/>
          <p:cNvSpPr/>
          <p:nvPr/>
        </p:nvSpPr>
        <p:spPr>
          <a:xfrm>
            <a:off x="365760" y="324612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AdvantageKit: logging framework that records every robot input/output, enabling full match replay. AdvantageScope: visualization tool to watch robot telemetry, pose on field, mechanism states from logs. Pioneered by 6328. Used by 500+ teams. Has essentially become the expected standard at the competitive level.</a:t>
            </a:r>
            <a:endParaRPr b="0" i="0" sz="950" u="none" cap="none" strike="noStrike">
              <a:solidFill>
                <a:schemeClr val="dk1"/>
              </a:solidFill>
              <a:latin typeface="Calibri"/>
              <a:ea typeface="Calibri"/>
              <a:cs typeface="Calibri"/>
              <a:sym typeface="Calibri"/>
            </a:endParaRPr>
          </a:p>
        </p:txBody>
      </p:sp>
      <p:sp>
        <p:nvSpPr>
          <p:cNvPr id="961" name="Google Shape;961;g3e92e6f0be2_0_207"/>
          <p:cNvSpPr/>
          <p:nvPr/>
        </p:nvSpPr>
        <p:spPr>
          <a:xfrm>
            <a:off x="4709160" y="260604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g3e92e6f0be2_0_207"/>
          <p:cNvSpPr/>
          <p:nvPr/>
        </p:nvSpPr>
        <p:spPr>
          <a:xfrm>
            <a:off x="4709160" y="2606040"/>
            <a:ext cx="4251900" cy="73200"/>
          </a:xfrm>
          <a:prstGeom prst="rect">
            <a:avLst/>
          </a:prstGeom>
          <a:solidFill>
            <a:srgbClr val="8B4513"/>
          </a:solidFill>
          <a:ln cap="flat" cmpd="sng" w="12700">
            <a:solidFill>
              <a:srgbClr val="8B45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g3e92e6f0be2_0_207"/>
          <p:cNvSpPr/>
          <p:nvPr/>
        </p:nvSpPr>
        <p:spPr>
          <a:xfrm>
            <a:off x="4800600" y="2734056"/>
            <a:ext cx="2743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Elastic Dashboard</a:t>
            </a:r>
            <a:endParaRPr b="0" i="0" sz="1300" u="none" cap="none" strike="noStrike">
              <a:solidFill>
                <a:schemeClr val="dk1"/>
              </a:solidFill>
              <a:latin typeface="Calibri"/>
              <a:ea typeface="Calibri"/>
              <a:cs typeface="Calibri"/>
              <a:sym typeface="Calibri"/>
            </a:endParaRPr>
          </a:p>
        </p:txBody>
      </p:sp>
      <p:sp>
        <p:nvSpPr>
          <p:cNvPr id="964" name="Google Shape;964;g3e92e6f0be2_0_207"/>
          <p:cNvSpPr/>
          <p:nvPr/>
        </p:nvSpPr>
        <p:spPr>
          <a:xfrm>
            <a:off x="4800600" y="303580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github.com/Gold872/elastic-dashboard</a:t>
            </a:r>
            <a:endParaRPr b="0" i="0" sz="1000" u="none" cap="none" strike="noStrike">
              <a:solidFill>
                <a:schemeClr val="dk1"/>
              </a:solidFill>
              <a:latin typeface="Calibri"/>
              <a:ea typeface="Calibri"/>
              <a:cs typeface="Calibri"/>
              <a:sym typeface="Calibri"/>
            </a:endParaRPr>
          </a:p>
        </p:txBody>
      </p:sp>
      <p:sp>
        <p:nvSpPr>
          <p:cNvPr id="965" name="Google Shape;965;g3e92e6f0be2_0_207"/>
          <p:cNvSpPr/>
          <p:nvPr/>
        </p:nvSpPr>
        <p:spPr>
          <a:xfrm>
            <a:off x="4800600" y="324612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Modern replacement for Shuffleboard. Lower latency, customizable widgets, swerve visualization, cleaner UI. Created by FRC student Gold872. Drag-and-drop telemetry panels, live PID tuning, field positioning widgets. Widely adopted by teams upgrading from basic Shuffleboard setups.</a:t>
            </a:r>
            <a:endParaRPr b="0" i="0" sz="950" u="none" cap="none" strike="noStrike">
              <a:solidFill>
                <a:schemeClr val="dk1"/>
              </a:solidFill>
              <a:latin typeface="Calibri"/>
              <a:ea typeface="Calibri"/>
              <a:cs typeface="Calibri"/>
              <a:sym typeface="Calibri"/>
            </a:endParaRPr>
          </a:p>
        </p:txBody>
      </p:sp>
      <p:sp>
        <p:nvSpPr>
          <p:cNvPr id="966" name="Google Shape;966;g3e92e6f0be2_0_207"/>
          <p:cNvSpPr/>
          <p:nvPr/>
        </p:nvSpPr>
        <p:spPr>
          <a:xfrm>
            <a:off x="274320" y="379476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g3e92e6f0be2_0_207"/>
          <p:cNvSpPr/>
          <p:nvPr/>
        </p:nvSpPr>
        <p:spPr>
          <a:xfrm>
            <a:off x="274320" y="3794760"/>
            <a:ext cx="4251900" cy="73200"/>
          </a:xfrm>
          <a:prstGeom prst="rect">
            <a:avLst/>
          </a:prstGeom>
          <a:solidFill>
            <a:srgbClr val="4A1E8B"/>
          </a:solidFill>
          <a:ln cap="flat" cmpd="sng" w="12700">
            <a:solidFill>
              <a:srgbClr val="4A1E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g3e92e6f0be2_0_207"/>
          <p:cNvSpPr/>
          <p:nvPr/>
        </p:nvSpPr>
        <p:spPr>
          <a:xfrm>
            <a:off x="365760" y="3922776"/>
            <a:ext cx="2743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RECA (Robot Efficiency Calc.)</a:t>
            </a:r>
            <a:endParaRPr b="0" i="0" sz="1300" u="none" cap="none" strike="noStrike">
              <a:solidFill>
                <a:schemeClr val="dk1"/>
              </a:solidFill>
              <a:latin typeface="Calibri"/>
              <a:ea typeface="Calibri"/>
              <a:cs typeface="Calibri"/>
              <a:sym typeface="Calibri"/>
            </a:endParaRPr>
          </a:p>
        </p:txBody>
      </p:sp>
      <p:sp>
        <p:nvSpPr>
          <p:cNvPr id="969" name="Google Shape;969;g3e92e6f0be2_0_207"/>
          <p:cNvSpPr/>
          <p:nvPr/>
        </p:nvSpPr>
        <p:spPr>
          <a:xfrm>
            <a:off x="365760" y="422452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reca.lc</a:t>
            </a:r>
            <a:endParaRPr b="0" i="0" sz="1000" u="none" cap="none" strike="noStrike">
              <a:solidFill>
                <a:schemeClr val="dk1"/>
              </a:solidFill>
              <a:latin typeface="Calibri"/>
              <a:ea typeface="Calibri"/>
              <a:cs typeface="Calibri"/>
              <a:sym typeface="Calibri"/>
            </a:endParaRPr>
          </a:p>
        </p:txBody>
      </p:sp>
      <p:sp>
        <p:nvSpPr>
          <p:cNvPr id="970" name="Google Shape;970;g3e92e6f0be2_0_207"/>
          <p:cNvSpPr/>
          <p:nvPr/>
        </p:nvSpPr>
        <p:spPr>
          <a:xfrm>
            <a:off x="365760" y="443484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The AMB Design Spreadsheet but in web form. Input motor, gear ratio, load — get speed, force, current draw, efficiency. Essential for gearbox ratio selection for arms, elevators, and intakes. Prevents underpowered or overpowered mechanisms before you build anything.</a:t>
            </a:r>
            <a:endParaRPr b="0" i="0" sz="950" u="none" cap="none" strike="noStrike">
              <a:solidFill>
                <a:schemeClr val="dk1"/>
              </a:solidFill>
              <a:latin typeface="Calibri"/>
              <a:ea typeface="Calibri"/>
              <a:cs typeface="Calibri"/>
              <a:sym typeface="Calibri"/>
            </a:endParaRPr>
          </a:p>
        </p:txBody>
      </p:sp>
      <p:sp>
        <p:nvSpPr>
          <p:cNvPr id="971" name="Google Shape;971;g3e92e6f0be2_0_207"/>
          <p:cNvSpPr/>
          <p:nvPr/>
        </p:nvSpPr>
        <p:spPr>
          <a:xfrm>
            <a:off x="4709160" y="379476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g3e92e6f0be2_0_207"/>
          <p:cNvSpPr/>
          <p:nvPr/>
        </p:nvSpPr>
        <p:spPr>
          <a:xfrm>
            <a:off x="4709160" y="3794760"/>
            <a:ext cx="4251900" cy="73200"/>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g3e92e6f0be2_0_207"/>
          <p:cNvSpPr/>
          <p:nvPr/>
        </p:nvSpPr>
        <p:spPr>
          <a:xfrm>
            <a:off x="4800600" y="3922776"/>
            <a:ext cx="2743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MKCad (OnShape Library)</a:t>
            </a:r>
            <a:endParaRPr b="0" i="0" sz="1300" u="none" cap="none" strike="noStrike">
              <a:solidFill>
                <a:schemeClr val="dk1"/>
              </a:solidFill>
              <a:latin typeface="Calibri"/>
              <a:ea typeface="Calibri"/>
              <a:cs typeface="Calibri"/>
              <a:sym typeface="Calibri"/>
            </a:endParaRPr>
          </a:p>
        </p:txBody>
      </p:sp>
      <p:sp>
        <p:nvSpPr>
          <p:cNvPr id="974" name="Google Shape;974;g3e92e6f0be2_0_207"/>
          <p:cNvSpPr/>
          <p:nvPr/>
        </p:nvSpPr>
        <p:spPr>
          <a:xfrm>
            <a:off x="4800600" y="422452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mkcad.org</a:t>
            </a:r>
            <a:endParaRPr b="0" i="0" sz="1000" u="none" cap="none" strike="noStrike">
              <a:solidFill>
                <a:schemeClr val="dk1"/>
              </a:solidFill>
              <a:latin typeface="Calibri"/>
              <a:ea typeface="Calibri"/>
              <a:cs typeface="Calibri"/>
              <a:sym typeface="Calibri"/>
            </a:endParaRPr>
          </a:p>
        </p:txBody>
      </p:sp>
      <p:sp>
        <p:nvSpPr>
          <p:cNvPr id="975" name="Google Shape;975;g3e92e6f0be2_0_207"/>
          <p:cNvSpPr/>
          <p:nvPr/>
        </p:nvSpPr>
        <p:spPr>
          <a:xfrm>
            <a:off x="4800600" y="443484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Community-maintained OnShape parts library with every FRC COTS part: motors, gearboxes, wheels, electronics, structural tubing, swerve modules, and more. Auto-updated every season. Essential for any team using OnShape for CAD — insert any part directly into your robot assembly in seconds.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980" name="Shape 980"/>
        <p:cNvGrpSpPr/>
        <p:nvPr/>
      </p:nvGrpSpPr>
      <p:grpSpPr>
        <a:xfrm>
          <a:off x="0" y="0"/>
          <a:ext cx="0" cy="0"/>
          <a:chOff x="0" y="0"/>
          <a:chExt cx="0" cy="0"/>
        </a:xfrm>
      </p:grpSpPr>
      <p:sp>
        <p:nvSpPr>
          <p:cNvPr id="981" name="Google Shape;981;g3e92e6f0be2_0_257"/>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g3e92e6f0be2_0_257"/>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Community Platforms &amp; Analysis Resources</a:t>
            </a:r>
            <a:endParaRPr b="0" i="0" sz="2100" u="none" cap="none" strike="noStrike">
              <a:solidFill>
                <a:schemeClr val="dk1"/>
              </a:solidFill>
              <a:latin typeface="Calibri"/>
              <a:ea typeface="Calibri"/>
              <a:cs typeface="Calibri"/>
              <a:sym typeface="Calibri"/>
            </a:endParaRPr>
          </a:p>
        </p:txBody>
      </p:sp>
      <p:sp>
        <p:nvSpPr>
          <p:cNvPr id="983" name="Google Shape;983;g3e92e6f0be2_0_257"/>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g3e92e6f0be2_0_257"/>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RESOURCES</a:t>
            </a:r>
            <a:endParaRPr b="0" i="0" sz="1100" u="none" cap="none" strike="noStrike">
              <a:solidFill>
                <a:schemeClr val="dk1"/>
              </a:solidFill>
              <a:latin typeface="Calibri"/>
              <a:ea typeface="Calibri"/>
              <a:cs typeface="Calibri"/>
              <a:sym typeface="Calibri"/>
            </a:endParaRPr>
          </a:p>
        </p:txBody>
      </p:sp>
      <p:sp>
        <p:nvSpPr>
          <p:cNvPr id="985" name="Google Shape;985;g3e92e6f0be2_0_257"/>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g3e92e6f0be2_0_257"/>
          <p:cNvSpPr/>
          <p:nvPr/>
        </p:nvSpPr>
        <p:spPr>
          <a:xfrm>
            <a:off x="457200" y="777240"/>
            <a:ext cx="82296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Beyond the main tools, these platforms are where FRC strategy, scouting, and community knowledge actually lives. Knowing them gives your team a significant analytical edge.</a:t>
            </a:r>
            <a:endParaRPr b="0" i="0" sz="1300" u="none" cap="none" strike="noStrike">
              <a:solidFill>
                <a:schemeClr val="dk1"/>
              </a:solidFill>
              <a:latin typeface="Calibri"/>
              <a:ea typeface="Calibri"/>
              <a:cs typeface="Calibri"/>
              <a:sym typeface="Calibri"/>
            </a:endParaRPr>
          </a:p>
        </p:txBody>
      </p:sp>
      <p:sp>
        <p:nvSpPr>
          <p:cNvPr id="987" name="Google Shape;987;g3e92e6f0be2_0_257"/>
          <p:cNvSpPr/>
          <p:nvPr/>
        </p:nvSpPr>
        <p:spPr>
          <a:xfrm>
            <a:off x="274320" y="141732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g3e92e6f0be2_0_257"/>
          <p:cNvSpPr/>
          <p:nvPr/>
        </p:nvSpPr>
        <p:spPr>
          <a:xfrm>
            <a:off x="274320" y="1417320"/>
            <a:ext cx="4251900" cy="732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g3e92e6f0be2_0_257"/>
          <p:cNvSpPr/>
          <p:nvPr/>
        </p:nvSpPr>
        <p:spPr>
          <a:xfrm>
            <a:off x="365760" y="1545336"/>
            <a:ext cx="2926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The Compass Alliance</a:t>
            </a:r>
            <a:endParaRPr b="0" i="0" sz="1200" u="none" cap="none" strike="noStrike">
              <a:solidFill>
                <a:schemeClr val="dk1"/>
              </a:solidFill>
              <a:latin typeface="Calibri"/>
              <a:ea typeface="Calibri"/>
              <a:cs typeface="Calibri"/>
              <a:sym typeface="Calibri"/>
            </a:endParaRPr>
          </a:p>
        </p:txBody>
      </p:sp>
      <p:sp>
        <p:nvSpPr>
          <p:cNvPr id="990" name="Google Shape;990;g3e92e6f0be2_0_257"/>
          <p:cNvSpPr/>
          <p:nvPr/>
        </p:nvSpPr>
        <p:spPr>
          <a:xfrm>
            <a:off x="365760" y="184708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thecompassalliance.org</a:t>
            </a:r>
            <a:endParaRPr b="0" i="0" sz="1000" u="none" cap="none" strike="noStrike">
              <a:solidFill>
                <a:schemeClr val="dk1"/>
              </a:solidFill>
              <a:latin typeface="Calibri"/>
              <a:ea typeface="Calibri"/>
              <a:cs typeface="Calibri"/>
              <a:sym typeface="Calibri"/>
            </a:endParaRPr>
          </a:p>
        </p:txBody>
      </p:sp>
      <p:sp>
        <p:nvSpPr>
          <p:cNvPr id="991" name="Google Shape;991;g3e92e6f0be2_0_257"/>
          <p:cNvSpPr/>
          <p:nvPr/>
        </p:nvSpPr>
        <p:spPr>
          <a:xfrm>
            <a:off x="365760" y="205740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Self-described 'one-stop shop' for FRC resources. Curated links to strategy guides, technical documents, game analysis worksheets, award preparation guides. Run by a group of FRC mentors dedicated to helping teams across all experience levels. Great starting point for new teams.</a:t>
            </a:r>
            <a:endParaRPr b="0" i="0" sz="950" u="none" cap="none" strike="noStrike">
              <a:solidFill>
                <a:schemeClr val="dk1"/>
              </a:solidFill>
              <a:latin typeface="Calibri"/>
              <a:ea typeface="Calibri"/>
              <a:cs typeface="Calibri"/>
              <a:sym typeface="Calibri"/>
            </a:endParaRPr>
          </a:p>
        </p:txBody>
      </p:sp>
      <p:sp>
        <p:nvSpPr>
          <p:cNvPr id="992" name="Google Shape;992;g3e92e6f0be2_0_257"/>
          <p:cNvSpPr/>
          <p:nvPr/>
        </p:nvSpPr>
        <p:spPr>
          <a:xfrm>
            <a:off x="4709160" y="141732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g3e92e6f0be2_0_257"/>
          <p:cNvSpPr/>
          <p:nvPr/>
        </p:nvSpPr>
        <p:spPr>
          <a:xfrm>
            <a:off x="4709160" y="1417320"/>
            <a:ext cx="4251900" cy="732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g3e92e6f0be2_0_257"/>
          <p:cNvSpPr/>
          <p:nvPr/>
        </p:nvSpPr>
        <p:spPr>
          <a:xfrm>
            <a:off x="4800600" y="1545336"/>
            <a:ext cx="2926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LYNK Library of Knowledge</a:t>
            </a:r>
            <a:endParaRPr b="0" i="0" sz="1200" u="none" cap="none" strike="noStrike">
              <a:solidFill>
                <a:schemeClr val="dk1"/>
              </a:solidFill>
              <a:latin typeface="Calibri"/>
              <a:ea typeface="Calibri"/>
              <a:cs typeface="Calibri"/>
              <a:sym typeface="Calibri"/>
            </a:endParaRPr>
          </a:p>
        </p:txBody>
      </p:sp>
      <p:sp>
        <p:nvSpPr>
          <p:cNvPr id="995" name="Google Shape;995;g3e92e6f0be2_0_257"/>
          <p:cNvSpPr/>
          <p:nvPr/>
        </p:nvSpPr>
        <p:spPr>
          <a:xfrm>
            <a:off x="4800600" y="184708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docs.lynkrobotics.org</a:t>
            </a:r>
            <a:endParaRPr b="0" i="0" sz="1000" u="none" cap="none" strike="noStrike">
              <a:solidFill>
                <a:schemeClr val="dk1"/>
              </a:solidFill>
              <a:latin typeface="Calibri"/>
              <a:ea typeface="Calibri"/>
              <a:cs typeface="Calibri"/>
              <a:sym typeface="Calibri"/>
            </a:endParaRPr>
          </a:p>
        </p:txBody>
      </p:sp>
      <p:sp>
        <p:nvSpPr>
          <p:cNvPr id="996" name="Google Shape;996;g3e92e6f0be2_0_257"/>
          <p:cNvSpPr/>
          <p:nvPr/>
        </p:nvSpPr>
        <p:spPr>
          <a:xfrm>
            <a:off x="4800600" y="205740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Organized catalog of community-contributed FRC resources by category: Design, Programming, Strategy, Business, Community. Direct links to whitepapers from 1678, 3847, 971, and others. Think of it as a curated, searchable index of Chief Delphi's best content without the noise.</a:t>
            </a:r>
            <a:endParaRPr b="0" i="0" sz="950" u="none" cap="none" strike="noStrike">
              <a:solidFill>
                <a:schemeClr val="dk1"/>
              </a:solidFill>
              <a:latin typeface="Calibri"/>
              <a:ea typeface="Calibri"/>
              <a:cs typeface="Calibri"/>
              <a:sym typeface="Calibri"/>
            </a:endParaRPr>
          </a:p>
        </p:txBody>
      </p:sp>
      <p:sp>
        <p:nvSpPr>
          <p:cNvPr id="997" name="Google Shape;997;g3e92e6f0be2_0_257"/>
          <p:cNvSpPr/>
          <p:nvPr/>
        </p:nvSpPr>
        <p:spPr>
          <a:xfrm>
            <a:off x="274320" y="260604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g3e92e6f0be2_0_257"/>
          <p:cNvSpPr/>
          <p:nvPr/>
        </p:nvSpPr>
        <p:spPr>
          <a:xfrm>
            <a:off x="274320" y="2606040"/>
            <a:ext cx="4251900" cy="73200"/>
          </a:xfrm>
          <a:prstGeom prst="rect">
            <a:avLst/>
          </a:prstGeom>
          <a:solidFill>
            <a:srgbClr val="8B2020"/>
          </a:solidFill>
          <a:ln cap="flat" cmpd="sng" w="12700">
            <a:solidFill>
              <a:srgbClr val="8B2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g3e92e6f0be2_0_257"/>
          <p:cNvSpPr/>
          <p:nvPr/>
        </p:nvSpPr>
        <p:spPr>
          <a:xfrm>
            <a:off x="365760" y="2734056"/>
            <a:ext cx="2926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NASA Robotics Alliance Project</a:t>
            </a:r>
            <a:endParaRPr b="0" i="0" sz="1200" u="none" cap="none" strike="noStrike">
              <a:solidFill>
                <a:schemeClr val="dk1"/>
              </a:solidFill>
              <a:latin typeface="Calibri"/>
              <a:ea typeface="Calibri"/>
              <a:cs typeface="Calibri"/>
              <a:sym typeface="Calibri"/>
            </a:endParaRPr>
          </a:p>
        </p:txBody>
      </p:sp>
      <p:sp>
        <p:nvSpPr>
          <p:cNvPr id="1000" name="Google Shape;1000;g3e92e6f0be2_0_257"/>
          <p:cNvSpPr/>
          <p:nvPr/>
        </p:nvSpPr>
        <p:spPr>
          <a:xfrm>
            <a:off x="365760" y="303580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robotics.nasa.gov/frc-resources</a:t>
            </a:r>
            <a:endParaRPr b="0" i="0" sz="1000" u="none" cap="none" strike="noStrike">
              <a:solidFill>
                <a:schemeClr val="dk1"/>
              </a:solidFill>
              <a:latin typeface="Calibri"/>
              <a:ea typeface="Calibri"/>
              <a:cs typeface="Calibri"/>
              <a:sym typeface="Calibri"/>
            </a:endParaRPr>
          </a:p>
        </p:txBody>
      </p:sp>
      <p:sp>
        <p:nvSpPr>
          <p:cNvPr id="1001" name="Google Shape;1001;g3e92e6f0be2_0_257"/>
          <p:cNvSpPr/>
          <p:nvPr/>
        </p:nvSpPr>
        <p:spPr>
          <a:xfrm>
            <a:off x="365760" y="324612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Official NASA resource list for FRC. Direct links to Everybot, 254's resources, 971's workshops, team handbook templates, and the NASA design guide — all on NASA-maintained infrastructure so it won't disappear. Especially valuable for teams seeking NASA sponsorship resources.</a:t>
            </a:r>
            <a:endParaRPr b="0" i="0" sz="950" u="none" cap="none" strike="noStrike">
              <a:solidFill>
                <a:schemeClr val="dk1"/>
              </a:solidFill>
              <a:latin typeface="Calibri"/>
              <a:ea typeface="Calibri"/>
              <a:cs typeface="Calibri"/>
              <a:sym typeface="Calibri"/>
            </a:endParaRPr>
          </a:p>
        </p:txBody>
      </p:sp>
      <p:sp>
        <p:nvSpPr>
          <p:cNvPr id="1002" name="Google Shape;1002;g3e92e6f0be2_0_257"/>
          <p:cNvSpPr/>
          <p:nvPr/>
        </p:nvSpPr>
        <p:spPr>
          <a:xfrm>
            <a:off x="4709160" y="260604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g3e92e6f0be2_0_257"/>
          <p:cNvSpPr/>
          <p:nvPr/>
        </p:nvSpPr>
        <p:spPr>
          <a:xfrm>
            <a:off x="4709160" y="2606040"/>
            <a:ext cx="4251900" cy="732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g3e92e6f0be2_0_257"/>
          <p:cNvSpPr/>
          <p:nvPr/>
        </p:nvSpPr>
        <p:spPr>
          <a:xfrm>
            <a:off x="4800600" y="2734056"/>
            <a:ext cx="2926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Spectrum 3847 Resources</a:t>
            </a:r>
            <a:endParaRPr b="0" i="0" sz="1200" u="none" cap="none" strike="noStrike">
              <a:solidFill>
                <a:schemeClr val="dk1"/>
              </a:solidFill>
              <a:latin typeface="Calibri"/>
              <a:ea typeface="Calibri"/>
              <a:cs typeface="Calibri"/>
              <a:sym typeface="Calibri"/>
            </a:endParaRPr>
          </a:p>
        </p:txBody>
      </p:sp>
      <p:sp>
        <p:nvSpPr>
          <p:cNvPr id="1005" name="Google Shape;1005;g3e92e6f0be2_0_257"/>
          <p:cNvSpPr/>
          <p:nvPr/>
        </p:nvSpPr>
        <p:spPr>
          <a:xfrm>
            <a:off x="4800600" y="303580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spectrum3847.org/resources</a:t>
            </a:r>
            <a:endParaRPr b="0" i="0" sz="1000" u="none" cap="none" strike="noStrike">
              <a:solidFill>
                <a:schemeClr val="dk1"/>
              </a:solidFill>
              <a:latin typeface="Calibri"/>
              <a:ea typeface="Calibri"/>
              <a:cs typeface="Calibri"/>
              <a:sym typeface="Calibri"/>
            </a:endParaRPr>
          </a:p>
        </p:txBody>
      </p:sp>
      <p:sp>
        <p:nvSpPr>
          <p:cNvPr id="1006" name="Google Shape;1006;g3e92e6f0be2_0_257"/>
          <p:cNvSpPr/>
          <p:nvPr/>
        </p:nvSpPr>
        <p:spPr>
          <a:xfrm>
            <a:off x="4800600" y="324612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Nearly 200 slides covering FRC mechanical design from physics fundamentals to COTS parts. Separate guides for pneumatics, electrical wiring, robot maintenance, and beginner swerve. Updated regularly. One of the single most valuable free mechanical education resources in FRC.</a:t>
            </a:r>
            <a:endParaRPr b="0" i="0" sz="950" u="none" cap="none" strike="noStrike">
              <a:solidFill>
                <a:schemeClr val="dk1"/>
              </a:solidFill>
              <a:latin typeface="Calibri"/>
              <a:ea typeface="Calibri"/>
              <a:cs typeface="Calibri"/>
              <a:sym typeface="Calibri"/>
            </a:endParaRPr>
          </a:p>
        </p:txBody>
      </p:sp>
      <p:sp>
        <p:nvSpPr>
          <p:cNvPr id="1007" name="Google Shape;1007;g3e92e6f0be2_0_257"/>
          <p:cNvSpPr/>
          <p:nvPr/>
        </p:nvSpPr>
        <p:spPr>
          <a:xfrm>
            <a:off x="274320" y="379476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g3e92e6f0be2_0_257"/>
          <p:cNvSpPr/>
          <p:nvPr/>
        </p:nvSpPr>
        <p:spPr>
          <a:xfrm>
            <a:off x="274320" y="3794760"/>
            <a:ext cx="4251900" cy="73200"/>
          </a:xfrm>
          <a:prstGeom prst="rect">
            <a:avLst/>
          </a:prstGeom>
          <a:solidFill>
            <a:srgbClr val="4A1E8B"/>
          </a:solidFill>
          <a:ln cap="flat" cmpd="sng" w="12700">
            <a:solidFill>
              <a:srgbClr val="4A1E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g3e92e6f0be2_0_257"/>
          <p:cNvSpPr/>
          <p:nvPr/>
        </p:nvSpPr>
        <p:spPr>
          <a:xfrm>
            <a:off x="365760" y="3922776"/>
            <a:ext cx="2926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Statbotics.io</a:t>
            </a:r>
            <a:endParaRPr b="0" i="0" sz="1200" u="none" cap="none" strike="noStrike">
              <a:solidFill>
                <a:schemeClr val="dk1"/>
              </a:solidFill>
              <a:latin typeface="Calibri"/>
              <a:ea typeface="Calibri"/>
              <a:cs typeface="Calibri"/>
              <a:sym typeface="Calibri"/>
            </a:endParaRPr>
          </a:p>
        </p:txBody>
      </p:sp>
      <p:sp>
        <p:nvSpPr>
          <p:cNvPr id="1010" name="Google Shape;1010;g3e92e6f0be2_0_257"/>
          <p:cNvSpPr/>
          <p:nvPr/>
        </p:nvSpPr>
        <p:spPr>
          <a:xfrm>
            <a:off x="365760" y="422452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statbotics.io</a:t>
            </a:r>
            <a:endParaRPr b="0" i="0" sz="1000" u="none" cap="none" strike="noStrike">
              <a:solidFill>
                <a:schemeClr val="dk1"/>
              </a:solidFill>
              <a:latin typeface="Calibri"/>
              <a:ea typeface="Calibri"/>
              <a:cs typeface="Calibri"/>
              <a:sym typeface="Calibri"/>
            </a:endParaRPr>
          </a:p>
        </p:txBody>
      </p:sp>
      <p:sp>
        <p:nvSpPr>
          <p:cNvPr id="1011" name="Google Shape;1011;g3e92e6f0be2_0_257"/>
          <p:cNvSpPr/>
          <p:nvPr/>
        </p:nvSpPr>
        <p:spPr>
          <a:xfrm>
            <a:off x="365760" y="443484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EPA (Expected Points Added) analytics platform. More accurate than OPR for ranking teams — accounts for alliance quality. Historical data back to 2002. Use it for: finding underrated pick list candidates, comparing teams across different events, and understanding which robots actually contributed to scores.</a:t>
            </a:r>
            <a:endParaRPr b="0" i="0" sz="950" u="none" cap="none" strike="noStrike">
              <a:solidFill>
                <a:schemeClr val="dk1"/>
              </a:solidFill>
              <a:latin typeface="Calibri"/>
              <a:ea typeface="Calibri"/>
              <a:cs typeface="Calibri"/>
              <a:sym typeface="Calibri"/>
            </a:endParaRPr>
          </a:p>
        </p:txBody>
      </p:sp>
      <p:sp>
        <p:nvSpPr>
          <p:cNvPr id="1012" name="Google Shape;1012;g3e92e6f0be2_0_257"/>
          <p:cNvSpPr/>
          <p:nvPr/>
        </p:nvSpPr>
        <p:spPr>
          <a:xfrm>
            <a:off x="4709160" y="3794760"/>
            <a:ext cx="4251900" cy="10791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g3e92e6f0be2_0_257"/>
          <p:cNvSpPr/>
          <p:nvPr/>
        </p:nvSpPr>
        <p:spPr>
          <a:xfrm>
            <a:off x="4709160" y="3794760"/>
            <a:ext cx="4251900" cy="73200"/>
          </a:xfrm>
          <a:prstGeom prst="rect">
            <a:avLst/>
          </a:prstGeom>
          <a:solidFill>
            <a:srgbClr val="1A5276"/>
          </a:solidFill>
          <a:ln cap="flat" cmpd="sng" w="12700">
            <a:solidFill>
              <a:srgbClr val="1A527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g3e92e6f0be2_0_257"/>
          <p:cNvSpPr/>
          <p:nvPr/>
        </p:nvSpPr>
        <p:spPr>
          <a:xfrm>
            <a:off x="4800600" y="3922776"/>
            <a:ext cx="2926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FRC Discord Server</a:t>
            </a:r>
            <a:endParaRPr b="0" i="0" sz="1200" u="none" cap="none" strike="noStrike">
              <a:solidFill>
                <a:schemeClr val="dk1"/>
              </a:solidFill>
              <a:latin typeface="Calibri"/>
              <a:ea typeface="Calibri"/>
              <a:cs typeface="Calibri"/>
              <a:sym typeface="Calibri"/>
            </a:endParaRPr>
          </a:p>
        </p:txBody>
      </p:sp>
      <p:sp>
        <p:nvSpPr>
          <p:cNvPr id="1015" name="Google Shape;1015;g3e92e6f0be2_0_257"/>
          <p:cNvSpPr/>
          <p:nvPr/>
        </p:nvSpPr>
        <p:spPr>
          <a:xfrm>
            <a:off x="4800600" y="422452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discord.gg/frc</a:t>
            </a:r>
            <a:endParaRPr b="0" i="0" sz="1000" u="none" cap="none" strike="noStrike">
              <a:solidFill>
                <a:schemeClr val="dk1"/>
              </a:solidFill>
              <a:latin typeface="Calibri"/>
              <a:ea typeface="Calibri"/>
              <a:cs typeface="Calibri"/>
              <a:sym typeface="Calibri"/>
            </a:endParaRPr>
          </a:p>
        </p:txBody>
      </p:sp>
      <p:sp>
        <p:nvSpPr>
          <p:cNvPr id="1016" name="Google Shape;1016;g3e92e6f0be2_0_257"/>
          <p:cNvSpPr/>
          <p:nvPr/>
        </p:nvSpPr>
        <p:spPr>
          <a:xfrm>
            <a:off x="4800600" y="4434840"/>
            <a:ext cx="40599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The real-time FRC community hub. Channels for every topic: game analysis, programming help, supplier deals, team intros, open alliance discussion. Fastest way to get help during build season. Moderators include FRC alumni from top teams. Active all year round, not just during season.</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1021" name="Shape 1021"/>
        <p:cNvGrpSpPr/>
        <p:nvPr/>
      </p:nvGrpSpPr>
      <p:grpSpPr>
        <a:xfrm>
          <a:off x="0" y="0"/>
          <a:ext cx="0" cy="0"/>
          <a:chOff x="0" y="0"/>
          <a:chExt cx="0" cy="0"/>
        </a:xfrm>
      </p:grpSpPr>
      <p:sp>
        <p:nvSpPr>
          <p:cNvPr id="1022" name="Google Shape;1022;g3e92e6f0be2_0_299"/>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g3e92e6f0be2_0_299"/>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Training Resource: FRCdesign.org</a:t>
            </a:r>
            <a:endParaRPr b="0" i="0" sz="2100" u="none" cap="none" strike="noStrike">
              <a:solidFill>
                <a:schemeClr val="dk1"/>
              </a:solidFill>
              <a:latin typeface="Calibri"/>
              <a:ea typeface="Calibri"/>
              <a:cs typeface="Calibri"/>
              <a:sym typeface="Calibri"/>
            </a:endParaRPr>
          </a:p>
        </p:txBody>
      </p:sp>
      <p:sp>
        <p:nvSpPr>
          <p:cNvPr id="1024" name="Google Shape;1024;g3e92e6f0be2_0_299"/>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g3e92e6f0be2_0_299"/>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TRAINING</a:t>
            </a:r>
            <a:endParaRPr b="0" i="0" sz="1100" u="none" cap="none" strike="noStrike">
              <a:solidFill>
                <a:schemeClr val="dk1"/>
              </a:solidFill>
              <a:latin typeface="Calibri"/>
              <a:ea typeface="Calibri"/>
              <a:cs typeface="Calibri"/>
              <a:sym typeface="Calibri"/>
            </a:endParaRPr>
          </a:p>
        </p:txBody>
      </p:sp>
      <p:sp>
        <p:nvSpPr>
          <p:cNvPr id="1026" name="Google Shape;1026;g3e92e6f0be2_0_299"/>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g3e92e6f0be2_0_299"/>
          <p:cNvSpPr/>
          <p:nvPr/>
        </p:nvSpPr>
        <p:spPr>
          <a:xfrm>
            <a:off x="274320" y="777240"/>
            <a:ext cx="8595300" cy="567000"/>
          </a:xfrm>
          <a:prstGeom prst="rect">
            <a:avLst/>
          </a:prstGeom>
          <a:solidFill>
            <a:srgbClr val="0D1B2A"/>
          </a:solidFill>
          <a:ln cap="flat" cmpd="sng" w="12700">
            <a:solidFill>
              <a:srgbClr val="0D1B2A"/>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g3e92e6f0be2_0_299"/>
          <p:cNvSpPr/>
          <p:nvPr/>
        </p:nvSpPr>
        <p:spPr>
          <a:xfrm>
            <a:off x="457200" y="777240"/>
            <a:ext cx="82296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300"/>
              <a:buFont typeface="Calibri"/>
              <a:buNone/>
            </a:pPr>
            <a:r>
              <a:rPr b="0" i="0" lang="en-US" sz="1300" u="none" cap="none" strike="noStrike">
                <a:solidFill>
                  <a:srgbClr val="D8E4F0"/>
                </a:solidFill>
                <a:latin typeface="Calibri"/>
                <a:ea typeface="Calibri"/>
                <a:cs typeface="Calibri"/>
                <a:sym typeface="Calibri"/>
              </a:rPr>
              <a:t>frcdesign.org  ·  Free  ·  Community-built  ·  Onshape-based  ·  From beginner to competition-ready robot design</a:t>
            </a:r>
            <a:endParaRPr b="0" i="0" sz="1300" u="none" cap="none" strike="noStrike">
              <a:solidFill>
                <a:schemeClr val="dk1"/>
              </a:solidFill>
              <a:latin typeface="Calibri"/>
              <a:ea typeface="Calibri"/>
              <a:cs typeface="Calibri"/>
              <a:sym typeface="Calibri"/>
            </a:endParaRPr>
          </a:p>
        </p:txBody>
      </p:sp>
      <p:sp>
        <p:nvSpPr>
          <p:cNvPr id="1029" name="Google Shape;1029;g3e92e6f0be2_0_299"/>
          <p:cNvSpPr/>
          <p:nvPr/>
        </p:nvSpPr>
        <p:spPr>
          <a:xfrm>
            <a:off x="274320" y="1463040"/>
            <a:ext cx="2048400" cy="34929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g3e92e6f0be2_0_299"/>
          <p:cNvSpPr/>
          <p:nvPr/>
        </p:nvSpPr>
        <p:spPr>
          <a:xfrm>
            <a:off x="274320" y="1463040"/>
            <a:ext cx="2048400" cy="3657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g3e92e6f0be2_0_299"/>
          <p:cNvSpPr/>
          <p:nvPr/>
        </p:nvSpPr>
        <p:spPr>
          <a:xfrm>
            <a:off x="347472" y="1463040"/>
            <a:ext cx="1902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Learning Course</a:t>
            </a:r>
            <a:endParaRPr b="0" i="0" sz="1200" u="none" cap="none" strike="noStrike">
              <a:solidFill>
                <a:schemeClr val="dk1"/>
              </a:solidFill>
              <a:latin typeface="Calibri"/>
              <a:ea typeface="Calibri"/>
              <a:cs typeface="Calibri"/>
              <a:sym typeface="Calibri"/>
            </a:endParaRPr>
          </a:p>
        </p:txBody>
      </p:sp>
      <p:sp>
        <p:nvSpPr>
          <p:cNvPr id="1032" name="Google Shape;1032;g3e92e6f0be2_0_299"/>
          <p:cNvSpPr/>
          <p:nvPr/>
        </p:nvSpPr>
        <p:spPr>
          <a:xfrm>
            <a:off x="347472" y="1883664"/>
            <a:ext cx="1902000" cy="3017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Structured curriculum: from zero CAD experience to modeling a full competition robot</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Uses Onshape (free, browser-based) — no license needed</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Projects escalate from basic sketches → mechanisms → full robot assemblies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Exercises are FRC-specific: tube structures, shafts, bearings, gearboxes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Comparable to a semester-long CAD course — compressed into self-paced modules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Start here if your students have never used CAD before</a:t>
            </a:r>
            <a:endParaRPr b="0" i="0" sz="1000" u="none" cap="none" strike="noStrike">
              <a:solidFill>
                <a:schemeClr val="dk1"/>
              </a:solidFill>
              <a:latin typeface="Calibri"/>
              <a:ea typeface="Calibri"/>
              <a:cs typeface="Calibri"/>
              <a:sym typeface="Calibri"/>
            </a:endParaRPr>
          </a:p>
        </p:txBody>
      </p:sp>
      <p:sp>
        <p:nvSpPr>
          <p:cNvPr id="1033" name="Google Shape;1033;g3e92e6f0be2_0_299"/>
          <p:cNvSpPr/>
          <p:nvPr/>
        </p:nvSpPr>
        <p:spPr>
          <a:xfrm>
            <a:off x="2450592" y="1463040"/>
            <a:ext cx="2048400" cy="34929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g3e92e6f0be2_0_299"/>
          <p:cNvSpPr/>
          <p:nvPr/>
        </p:nvSpPr>
        <p:spPr>
          <a:xfrm>
            <a:off x="2450592" y="1463040"/>
            <a:ext cx="2048400" cy="3657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g3e92e6f0be2_0_299"/>
          <p:cNvSpPr/>
          <p:nvPr/>
        </p:nvSpPr>
        <p:spPr>
          <a:xfrm>
            <a:off x="2523744" y="1463040"/>
            <a:ext cx="1902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Design Fundamentals Wiki</a:t>
            </a:r>
            <a:endParaRPr b="0" i="0" sz="1200" u="none" cap="none" strike="noStrike">
              <a:solidFill>
                <a:schemeClr val="dk1"/>
              </a:solidFill>
              <a:latin typeface="Calibri"/>
              <a:ea typeface="Calibri"/>
              <a:cs typeface="Calibri"/>
              <a:sym typeface="Calibri"/>
            </a:endParaRPr>
          </a:p>
        </p:txBody>
      </p:sp>
      <p:sp>
        <p:nvSpPr>
          <p:cNvPr id="1036" name="Google Shape;1036;g3e92e6f0be2_0_299"/>
          <p:cNvSpPr/>
          <p:nvPr/>
        </p:nvSpPr>
        <p:spPr>
          <a:xfrm>
            <a:off x="2523744" y="1883664"/>
            <a:ext cx="1902000" cy="3017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Reference guide (not a course): explains concepts for competitive robot design</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Topics: game analysis, design principles, iteration, tolerancing, packaging</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Complements the learning course — return to it during build season for decisions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Includes mechanism theory, not just CAD: how to think about your robot first</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Written by FRC students and alumni who've competed at the highest levels</a:t>
            </a:r>
            <a:endParaRPr b="0" i="0" sz="1000" u="none" cap="none" strike="noStrike">
              <a:solidFill>
                <a:schemeClr val="dk1"/>
              </a:solidFill>
              <a:latin typeface="Calibri"/>
              <a:ea typeface="Calibri"/>
              <a:cs typeface="Calibri"/>
              <a:sym typeface="Calibri"/>
            </a:endParaRPr>
          </a:p>
        </p:txBody>
      </p:sp>
      <p:sp>
        <p:nvSpPr>
          <p:cNvPr id="1037" name="Google Shape;1037;g3e92e6f0be2_0_299"/>
          <p:cNvSpPr/>
          <p:nvPr/>
        </p:nvSpPr>
        <p:spPr>
          <a:xfrm>
            <a:off x="4626864" y="1463040"/>
            <a:ext cx="2048400" cy="34929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g3e92e6f0be2_0_299"/>
          <p:cNvSpPr/>
          <p:nvPr/>
        </p:nvSpPr>
        <p:spPr>
          <a:xfrm>
            <a:off x="4626864" y="1463040"/>
            <a:ext cx="2048400" cy="3657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g3e92e6f0be2_0_299"/>
          <p:cNvSpPr/>
          <p:nvPr/>
        </p:nvSpPr>
        <p:spPr>
          <a:xfrm>
            <a:off x="4700016" y="1463040"/>
            <a:ext cx="1902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Mechanism Examples</a:t>
            </a:r>
            <a:endParaRPr b="0" i="0" sz="1200" u="none" cap="none" strike="noStrike">
              <a:solidFill>
                <a:schemeClr val="dk1"/>
              </a:solidFill>
              <a:latin typeface="Calibri"/>
              <a:ea typeface="Calibri"/>
              <a:cs typeface="Calibri"/>
              <a:sym typeface="Calibri"/>
            </a:endParaRPr>
          </a:p>
        </p:txBody>
      </p:sp>
      <p:sp>
        <p:nvSpPr>
          <p:cNvPr id="1040" name="Google Shape;1040;g3e92e6f0be2_0_299"/>
          <p:cNvSpPr/>
          <p:nvPr/>
        </p:nvSpPr>
        <p:spPr>
          <a:xfrm>
            <a:off x="4700016" y="1883664"/>
            <a:ext cx="1902000" cy="3017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Hand-picked mechanism designs with detailed breakdown of why they work</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Not just a collection — each example explains design intent and tradeoffs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Elevators, arms, intakes, shooters, climbers — all with CAD walkthroughs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Updated each season with relevant examples from that year's game</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Great for build season: 'we need an intake' → look at examples → understand options</a:t>
            </a:r>
            <a:endParaRPr b="0" i="0" sz="1000" u="none" cap="none" strike="noStrike">
              <a:solidFill>
                <a:schemeClr val="dk1"/>
              </a:solidFill>
              <a:latin typeface="Calibri"/>
              <a:ea typeface="Calibri"/>
              <a:cs typeface="Calibri"/>
              <a:sym typeface="Calibri"/>
            </a:endParaRPr>
          </a:p>
        </p:txBody>
      </p:sp>
      <p:sp>
        <p:nvSpPr>
          <p:cNvPr id="1041" name="Google Shape;1041;g3e92e6f0be2_0_299"/>
          <p:cNvSpPr/>
          <p:nvPr/>
        </p:nvSpPr>
        <p:spPr>
          <a:xfrm>
            <a:off x="6803136" y="1463040"/>
            <a:ext cx="2048400" cy="34929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g3e92e6f0be2_0_299"/>
          <p:cNvSpPr/>
          <p:nvPr/>
        </p:nvSpPr>
        <p:spPr>
          <a:xfrm>
            <a:off x="6803136" y="1463040"/>
            <a:ext cx="2048400" cy="3657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g3e92e6f0be2_0_299"/>
          <p:cNvSpPr/>
          <p:nvPr/>
        </p:nvSpPr>
        <p:spPr>
          <a:xfrm>
            <a:off x="6876288" y="1463040"/>
            <a:ext cx="1902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Onshape Featurescripts</a:t>
            </a:r>
            <a:endParaRPr b="0" i="0" sz="1200" u="none" cap="none" strike="noStrike">
              <a:solidFill>
                <a:schemeClr val="dk1"/>
              </a:solidFill>
              <a:latin typeface="Calibri"/>
              <a:ea typeface="Calibri"/>
              <a:cs typeface="Calibri"/>
              <a:sym typeface="Calibri"/>
            </a:endParaRPr>
          </a:p>
        </p:txBody>
      </p:sp>
      <p:sp>
        <p:nvSpPr>
          <p:cNvPr id="1044" name="Google Shape;1044;g3e92e6f0be2_0_299"/>
          <p:cNvSpPr/>
          <p:nvPr/>
        </p:nvSpPr>
        <p:spPr>
          <a:xfrm>
            <a:off x="6876288" y="1883664"/>
            <a:ext cx="1902000" cy="3017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FRC-specific Onshape scripts that automate repetitive CAD tasks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Examples: punch tube holes on a pattern, generate belt/chain routing paths</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MKCad integration: pull any COTS part directly into your assembly</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Saves hours of manual work per week during crunch build season</a:t>
            </a:r>
            <a:endParaRPr b="0" i="0" sz="1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5B6B80"/>
              </a:buClr>
              <a:buSzPts val="1000"/>
              <a:buFont typeface="Calibri"/>
              <a:buChar char="•"/>
            </a:pPr>
            <a:r>
              <a:rPr b="0" i="0" lang="en-US" sz="1000" u="none" cap="none" strike="noStrike">
                <a:solidFill>
                  <a:srgbClr val="5B6B80"/>
                </a:solidFill>
                <a:latin typeface="Calibri"/>
                <a:ea typeface="Calibri"/>
                <a:cs typeface="Calibri"/>
                <a:sym typeface="Calibri"/>
              </a:rPr>
              <a:t>Shared via Onshape's public library — install once, use forever</a:t>
            </a:r>
            <a:endParaRPr b="0" i="0" sz="1000" u="none" cap="none" strike="noStrike">
              <a:solidFill>
                <a:schemeClr val="dk1"/>
              </a:solidFill>
              <a:latin typeface="Calibri"/>
              <a:ea typeface="Calibri"/>
              <a:cs typeface="Calibri"/>
              <a:sym typeface="Calibri"/>
            </a:endParaRPr>
          </a:p>
        </p:txBody>
      </p:sp>
      <p:sp>
        <p:nvSpPr>
          <p:cNvPr id="1045" name="Google Shape;1045;g3e92e6f0be2_0_299"/>
          <p:cNvSpPr/>
          <p:nvPr/>
        </p:nvSpPr>
        <p:spPr>
          <a:xfrm>
            <a:off x="365760" y="4919472"/>
            <a:ext cx="8412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100"/>
              <a:buFont typeface="Calibri"/>
              <a:buNone/>
            </a:pPr>
            <a:r>
              <a:rPr b="0" i="1" lang="en-US" sz="1100" u="none" cap="none" strike="noStrike">
                <a:solidFill>
                  <a:srgbClr val="3A6BC4"/>
                </a:solidFill>
                <a:latin typeface="Calibri"/>
                <a:ea typeface="Calibri"/>
                <a:cs typeface="Calibri"/>
                <a:sym typeface="Calibri"/>
              </a:rPr>
              <a:t>💡  FRCdesign.org is the fastest way to go from 'no CAD experience' to 'I can design a real robot' — and it's entirely free.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1050" name="Shape 1050"/>
        <p:cNvGrpSpPr/>
        <p:nvPr/>
      </p:nvGrpSpPr>
      <p:grpSpPr>
        <a:xfrm>
          <a:off x="0" y="0"/>
          <a:ext cx="0" cy="0"/>
          <a:chOff x="0" y="0"/>
          <a:chExt cx="0" cy="0"/>
        </a:xfrm>
      </p:grpSpPr>
      <p:sp>
        <p:nvSpPr>
          <p:cNvPr id="1051" name="Google Shape;1051;g3e92e6f0be2_0_329"/>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g3e92e6f0be2_0_329"/>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Training Resources: WPILib &amp; Programming Ecosystem</a:t>
            </a:r>
            <a:endParaRPr b="0" i="0" sz="2100" u="none" cap="none" strike="noStrike">
              <a:solidFill>
                <a:schemeClr val="dk1"/>
              </a:solidFill>
              <a:latin typeface="Calibri"/>
              <a:ea typeface="Calibri"/>
              <a:cs typeface="Calibri"/>
              <a:sym typeface="Calibri"/>
            </a:endParaRPr>
          </a:p>
        </p:txBody>
      </p:sp>
      <p:sp>
        <p:nvSpPr>
          <p:cNvPr id="1053" name="Google Shape;1053;g3e92e6f0be2_0_329"/>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g3e92e6f0be2_0_329"/>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TRAINING</a:t>
            </a:r>
            <a:endParaRPr b="0" i="0" sz="1100" u="none" cap="none" strike="noStrike">
              <a:solidFill>
                <a:schemeClr val="dk1"/>
              </a:solidFill>
              <a:latin typeface="Calibri"/>
              <a:ea typeface="Calibri"/>
              <a:cs typeface="Calibri"/>
              <a:sym typeface="Calibri"/>
            </a:endParaRPr>
          </a:p>
        </p:txBody>
      </p:sp>
      <p:sp>
        <p:nvSpPr>
          <p:cNvPr id="1055" name="Google Shape;1055;g3e92e6f0be2_0_329"/>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g3e92e6f0be2_0_329"/>
          <p:cNvSpPr/>
          <p:nvPr/>
        </p:nvSpPr>
        <p:spPr>
          <a:xfrm>
            <a:off x="457200" y="777240"/>
            <a:ext cx="82296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WPILib is the official software framework for FRC robots. Understanding it deeply is the single biggest competitive advantage in programming — most teams only scratch the surface.</a:t>
            </a:r>
            <a:endParaRPr b="0" i="0" sz="1300" u="none" cap="none" strike="noStrike">
              <a:solidFill>
                <a:schemeClr val="dk1"/>
              </a:solidFill>
              <a:latin typeface="Calibri"/>
              <a:ea typeface="Calibri"/>
              <a:cs typeface="Calibri"/>
              <a:sym typeface="Calibri"/>
            </a:endParaRPr>
          </a:p>
        </p:txBody>
      </p:sp>
      <p:sp>
        <p:nvSpPr>
          <p:cNvPr id="1057" name="Google Shape;1057;g3e92e6f0be2_0_329"/>
          <p:cNvSpPr/>
          <p:nvPr/>
        </p:nvSpPr>
        <p:spPr>
          <a:xfrm>
            <a:off x="274320" y="1417320"/>
            <a:ext cx="4251900" cy="35478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g3e92e6f0be2_0_329"/>
          <p:cNvSpPr/>
          <p:nvPr/>
        </p:nvSpPr>
        <p:spPr>
          <a:xfrm>
            <a:off x="274320" y="1417320"/>
            <a:ext cx="4251900" cy="3657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g3e92e6f0be2_0_329"/>
          <p:cNvSpPr/>
          <p:nvPr/>
        </p:nvSpPr>
        <p:spPr>
          <a:xfrm>
            <a:off x="365760" y="1417320"/>
            <a:ext cx="4069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WPILib — docs.wpilib.org</a:t>
            </a:r>
            <a:endParaRPr b="0" i="0" sz="1300" u="none" cap="none" strike="noStrike">
              <a:solidFill>
                <a:schemeClr val="dk1"/>
              </a:solidFill>
              <a:latin typeface="Calibri"/>
              <a:ea typeface="Calibri"/>
              <a:cs typeface="Calibri"/>
              <a:sym typeface="Calibri"/>
            </a:endParaRPr>
          </a:p>
        </p:txBody>
      </p:sp>
      <p:sp>
        <p:nvSpPr>
          <p:cNvPr id="1060" name="Google Shape;1060;g3e92e6f0be2_0_329"/>
          <p:cNvSpPr/>
          <p:nvPr/>
        </p:nvSpPr>
        <p:spPr>
          <a:xfrm>
            <a:off x="411480" y="1847088"/>
            <a:ext cx="3977700" cy="3045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The official FRC programming library and documentation. Java, C++, and Python supported. The documentation covers: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Core topics: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Command-Based Programming (the standard architecture)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Subsystem &amp; Command structure — RobotContainer pattern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Control theory: PID, feedforward, state-space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Kinematics &amp; odometry (swerve, differential)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Vision integration (AprilTag, PhotonVision)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PathPlanner &amp; Choreo integration guides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Robot simulation framework</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00000"/>
              </a:buClr>
              <a:buSzPts val="500"/>
              <a:buFont typeface="Calibri"/>
              <a:buNone/>
            </a:pPr>
            <a:br>
              <a:rPr b="0" i="0" lang="en-US" sz="500" u="none" cap="none" strike="noStrike">
                <a:solidFill>
                  <a:srgbClr val="000000"/>
                </a:solidFill>
                <a:latin typeface="Calibri"/>
                <a:ea typeface="Calibri"/>
                <a:cs typeface="Calibri"/>
                <a:sym typeface="Calibri"/>
              </a:rPr>
            </a:b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2025 additions: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Elastic Dashboard integration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Annotation-based logging (Java)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WPIcal AprilTag calibration tool</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B6B80"/>
              </a:buClr>
              <a:buSzPts val="1100"/>
              <a:buFont typeface="Calibri"/>
              <a:buNone/>
            </a:pPr>
            <a:r>
              <a:rPr b="0" i="0" lang="en-US" sz="1100" u="none" cap="none" strike="noStrike">
                <a:solidFill>
                  <a:srgbClr val="5B6B80"/>
                </a:solidFill>
                <a:latin typeface="Calibri"/>
                <a:ea typeface="Calibri"/>
                <a:cs typeface="Calibri"/>
                <a:sym typeface="Calibri"/>
              </a:rPr>
              <a:t>• Java Units library refactor</a:t>
            </a:r>
            <a:endParaRPr b="0" i="0" sz="1100" u="none" cap="none" strike="noStrike">
              <a:solidFill>
                <a:schemeClr val="dk1"/>
              </a:solidFill>
              <a:latin typeface="Calibri"/>
              <a:ea typeface="Calibri"/>
              <a:cs typeface="Calibri"/>
              <a:sym typeface="Calibri"/>
            </a:endParaRPr>
          </a:p>
        </p:txBody>
      </p:sp>
      <p:sp>
        <p:nvSpPr>
          <p:cNvPr id="1061" name="Google Shape;1061;g3e92e6f0be2_0_329"/>
          <p:cNvSpPr/>
          <p:nvPr/>
        </p:nvSpPr>
        <p:spPr>
          <a:xfrm>
            <a:off x="4709160" y="1417320"/>
            <a:ext cx="4251900" cy="7680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g3e92e6f0be2_0_329"/>
          <p:cNvSpPr/>
          <p:nvPr/>
        </p:nvSpPr>
        <p:spPr>
          <a:xfrm>
            <a:off x="4709160" y="1417320"/>
            <a:ext cx="4251900" cy="732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g3e92e6f0be2_0_329"/>
          <p:cNvSpPr/>
          <p:nvPr/>
        </p:nvSpPr>
        <p:spPr>
          <a:xfrm>
            <a:off x="4800600" y="1527048"/>
            <a:ext cx="397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Zero to Robot (WPILib)</a:t>
            </a:r>
            <a:endParaRPr b="0" i="0" sz="1200" u="none" cap="none" strike="noStrike">
              <a:solidFill>
                <a:schemeClr val="dk1"/>
              </a:solidFill>
              <a:latin typeface="Calibri"/>
              <a:ea typeface="Calibri"/>
              <a:cs typeface="Calibri"/>
              <a:sym typeface="Calibri"/>
            </a:endParaRPr>
          </a:p>
        </p:txBody>
      </p:sp>
      <p:sp>
        <p:nvSpPr>
          <p:cNvPr id="1064" name="Google Shape;1064;g3e92e6f0be2_0_329"/>
          <p:cNvSpPr/>
          <p:nvPr/>
        </p:nvSpPr>
        <p:spPr>
          <a:xfrm>
            <a:off x="4800600" y="1810512"/>
            <a:ext cx="3977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950"/>
              <a:buFont typeface="Calibri"/>
              <a:buNone/>
            </a:pPr>
            <a:r>
              <a:rPr b="0" i="1" lang="en-US" sz="950" u="none" cap="none" strike="noStrike">
                <a:solidFill>
                  <a:srgbClr val="3A6BC4"/>
                </a:solidFill>
                <a:latin typeface="Calibri"/>
                <a:ea typeface="Calibri"/>
                <a:cs typeface="Calibri"/>
                <a:sym typeface="Calibri"/>
              </a:rPr>
              <a:t>docs.wpilib.org/zero-to-robot</a:t>
            </a:r>
            <a:endParaRPr b="0" i="0" sz="950" u="none" cap="none" strike="noStrike">
              <a:solidFill>
                <a:schemeClr val="dk1"/>
              </a:solidFill>
              <a:latin typeface="Calibri"/>
              <a:ea typeface="Calibri"/>
              <a:cs typeface="Calibri"/>
              <a:sym typeface="Calibri"/>
            </a:endParaRPr>
          </a:p>
        </p:txBody>
      </p:sp>
      <p:sp>
        <p:nvSpPr>
          <p:cNvPr id="1065" name="Google Shape;1065;g3e92e6f0be2_0_329"/>
          <p:cNvSpPr/>
          <p:nvPr/>
        </p:nvSpPr>
        <p:spPr>
          <a:xfrm>
            <a:off x="4800600" y="1993392"/>
            <a:ext cx="397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Step-by-step series: install tools → wire robot → deploy first code → control a motor → use sensors. The official onboarding path. Every new programmer should start here before touching any custom code.</a:t>
            </a:r>
            <a:endParaRPr b="0" i="0" sz="950" u="none" cap="none" strike="noStrike">
              <a:solidFill>
                <a:schemeClr val="dk1"/>
              </a:solidFill>
              <a:latin typeface="Calibri"/>
              <a:ea typeface="Calibri"/>
              <a:cs typeface="Calibri"/>
              <a:sym typeface="Calibri"/>
            </a:endParaRPr>
          </a:p>
        </p:txBody>
      </p:sp>
      <p:sp>
        <p:nvSpPr>
          <p:cNvPr id="1066" name="Google Shape;1066;g3e92e6f0be2_0_329"/>
          <p:cNvSpPr/>
          <p:nvPr/>
        </p:nvSpPr>
        <p:spPr>
          <a:xfrm>
            <a:off x="4709160" y="2295144"/>
            <a:ext cx="4251900" cy="7680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g3e92e6f0be2_0_329"/>
          <p:cNvSpPr/>
          <p:nvPr/>
        </p:nvSpPr>
        <p:spPr>
          <a:xfrm>
            <a:off x="4709160" y="2295144"/>
            <a:ext cx="4251900" cy="732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g3e92e6f0be2_0_329"/>
          <p:cNvSpPr/>
          <p:nvPr/>
        </p:nvSpPr>
        <p:spPr>
          <a:xfrm>
            <a:off x="4800600" y="2404872"/>
            <a:ext cx="397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6328 Mechanical Advantage Code</a:t>
            </a:r>
            <a:endParaRPr b="0" i="0" sz="1200" u="none" cap="none" strike="noStrike">
              <a:solidFill>
                <a:schemeClr val="dk1"/>
              </a:solidFill>
              <a:latin typeface="Calibri"/>
              <a:ea typeface="Calibri"/>
              <a:cs typeface="Calibri"/>
              <a:sym typeface="Calibri"/>
            </a:endParaRPr>
          </a:p>
        </p:txBody>
      </p:sp>
      <p:sp>
        <p:nvSpPr>
          <p:cNvPr id="1069" name="Google Shape;1069;g3e92e6f0be2_0_329"/>
          <p:cNvSpPr/>
          <p:nvPr/>
        </p:nvSpPr>
        <p:spPr>
          <a:xfrm>
            <a:off x="4800600" y="2688336"/>
            <a:ext cx="3977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950"/>
              <a:buFont typeface="Calibri"/>
              <a:buNone/>
            </a:pPr>
            <a:r>
              <a:rPr b="0" i="1" lang="en-US" sz="950" u="none" cap="none" strike="noStrike">
                <a:solidFill>
                  <a:srgbClr val="3A6BC4"/>
                </a:solidFill>
                <a:latin typeface="Calibri"/>
                <a:ea typeface="Calibri"/>
                <a:cs typeface="Calibri"/>
                <a:sym typeface="Calibri"/>
              </a:rPr>
              <a:t>github.com/Mechanical-Advantage</a:t>
            </a:r>
            <a:endParaRPr b="0" i="0" sz="950" u="none" cap="none" strike="noStrike">
              <a:solidFill>
                <a:schemeClr val="dk1"/>
              </a:solidFill>
              <a:latin typeface="Calibri"/>
              <a:ea typeface="Calibri"/>
              <a:cs typeface="Calibri"/>
              <a:sym typeface="Calibri"/>
            </a:endParaRPr>
          </a:p>
        </p:txBody>
      </p:sp>
      <p:sp>
        <p:nvSpPr>
          <p:cNvPr id="1070" name="Google Shape;1070;g3e92e6f0be2_0_329"/>
          <p:cNvSpPr/>
          <p:nvPr/>
        </p:nvSpPr>
        <p:spPr>
          <a:xfrm>
            <a:off x="4800600" y="2871216"/>
            <a:ext cx="397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The most-studied open-source FRC code in history. Their AdvantageKit-based robot code is a masterclass in clean architecture, simulation support, and logging. Read it even if you don't use it.</a:t>
            </a:r>
            <a:endParaRPr b="0" i="0" sz="950" u="none" cap="none" strike="noStrike">
              <a:solidFill>
                <a:schemeClr val="dk1"/>
              </a:solidFill>
              <a:latin typeface="Calibri"/>
              <a:ea typeface="Calibri"/>
              <a:cs typeface="Calibri"/>
              <a:sym typeface="Calibri"/>
            </a:endParaRPr>
          </a:p>
        </p:txBody>
      </p:sp>
      <p:sp>
        <p:nvSpPr>
          <p:cNvPr id="1071" name="Google Shape;1071;g3e92e6f0be2_0_329"/>
          <p:cNvSpPr/>
          <p:nvPr/>
        </p:nvSpPr>
        <p:spPr>
          <a:xfrm>
            <a:off x="4709160" y="3172968"/>
            <a:ext cx="4251900" cy="7680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g3e92e6f0be2_0_329"/>
          <p:cNvSpPr/>
          <p:nvPr/>
        </p:nvSpPr>
        <p:spPr>
          <a:xfrm>
            <a:off x="4709160" y="3172968"/>
            <a:ext cx="4251900" cy="73200"/>
          </a:xfrm>
          <a:prstGeom prst="rect">
            <a:avLst/>
          </a:prstGeom>
          <a:solidFill>
            <a:srgbClr val="8B2020"/>
          </a:solidFill>
          <a:ln cap="flat" cmpd="sng" w="12700">
            <a:solidFill>
              <a:srgbClr val="8B20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g3e92e6f0be2_0_329"/>
          <p:cNvSpPr/>
          <p:nvPr/>
        </p:nvSpPr>
        <p:spPr>
          <a:xfrm>
            <a:off x="4800600" y="3282696"/>
            <a:ext cx="397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REV Hardware Client + Phoenix Tuner X</a:t>
            </a:r>
            <a:endParaRPr b="0" i="0" sz="1200" u="none" cap="none" strike="noStrike">
              <a:solidFill>
                <a:schemeClr val="dk1"/>
              </a:solidFill>
              <a:latin typeface="Calibri"/>
              <a:ea typeface="Calibri"/>
              <a:cs typeface="Calibri"/>
              <a:sym typeface="Calibri"/>
            </a:endParaRPr>
          </a:p>
        </p:txBody>
      </p:sp>
      <p:sp>
        <p:nvSpPr>
          <p:cNvPr id="1074" name="Google Shape;1074;g3e92e6f0be2_0_329"/>
          <p:cNvSpPr/>
          <p:nvPr/>
        </p:nvSpPr>
        <p:spPr>
          <a:xfrm>
            <a:off x="4800600" y="3566160"/>
            <a:ext cx="3977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950"/>
              <a:buFont typeface="Calibri"/>
              <a:buNone/>
            </a:pPr>
            <a:r>
              <a:rPr b="0" i="1" lang="en-US" sz="950" u="none" cap="none" strike="noStrike">
                <a:solidFill>
                  <a:srgbClr val="3A6BC4"/>
                </a:solidFill>
                <a:latin typeface="Calibri"/>
                <a:ea typeface="Calibri"/>
                <a:cs typeface="Calibri"/>
                <a:sym typeface="Calibri"/>
              </a:rPr>
              <a:t>revrobotics.com / ctr-electronics.com</a:t>
            </a:r>
            <a:endParaRPr b="0" i="0" sz="950" u="none" cap="none" strike="noStrike">
              <a:solidFill>
                <a:schemeClr val="dk1"/>
              </a:solidFill>
              <a:latin typeface="Calibri"/>
              <a:ea typeface="Calibri"/>
              <a:cs typeface="Calibri"/>
              <a:sym typeface="Calibri"/>
            </a:endParaRPr>
          </a:p>
        </p:txBody>
      </p:sp>
      <p:sp>
        <p:nvSpPr>
          <p:cNvPr id="1075" name="Google Shape;1075;g3e92e6f0be2_0_329"/>
          <p:cNvSpPr/>
          <p:nvPr/>
        </p:nvSpPr>
        <p:spPr>
          <a:xfrm>
            <a:off x="4800600" y="3749040"/>
            <a:ext cx="397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Device configuration and calibration tools from REV and CTRE. Use Phoenix Tuner X to zero CANcoders for swerve, set CAN IDs, and run motor tests. Use REV Hardware Client to update SPARK firmware and configure motor settings.</a:t>
            </a:r>
            <a:endParaRPr b="0" i="0" sz="950" u="none" cap="none" strike="noStrike">
              <a:solidFill>
                <a:schemeClr val="dk1"/>
              </a:solidFill>
              <a:latin typeface="Calibri"/>
              <a:ea typeface="Calibri"/>
              <a:cs typeface="Calibri"/>
              <a:sym typeface="Calibri"/>
            </a:endParaRPr>
          </a:p>
        </p:txBody>
      </p:sp>
      <p:sp>
        <p:nvSpPr>
          <p:cNvPr id="1076" name="Google Shape;1076;g3e92e6f0be2_0_329"/>
          <p:cNvSpPr/>
          <p:nvPr/>
        </p:nvSpPr>
        <p:spPr>
          <a:xfrm>
            <a:off x="4709160" y="4050792"/>
            <a:ext cx="4251900" cy="7680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g3e92e6f0be2_0_329"/>
          <p:cNvSpPr/>
          <p:nvPr/>
        </p:nvSpPr>
        <p:spPr>
          <a:xfrm>
            <a:off x="4709160" y="4050792"/>
            <a:ext cx="4251900" cy="732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g3e92e6f0be2_0_329"/>
          <p:cNvSpPr/>
          <p:nvPr/>
        </p:nvSpPr>
        <p:spPr>
          <a:xfrm>
            <a:off x="4800600" y="4160520"/>
            <a:ext cx="3977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The Compass Alliance — Programming</a:t>
            </a:r>
            <a:endParaRPr b="0" i="0" sz="1200" u="none" cap="none" strike="noStrike">
              <a:solidFill>
                <a:schemeClr val="dk1"/>
              </a:solidFill>
              <a:latin typeface="Calibri"/>
              <a:ea typeface="Calibri"/>
              <a:cs typeface="Calibri"/>
              <a:sym typeface="Calibri"/>
            </a:endParaRPr>
          </a:p>
        </p:txBody>
      </p:sp>
      <p:sp>
        <p:nvSpPr>
          <p:cNvPr id="1079" name="Google Shape;1079;g3e92e6f0be2_0_329"/>
          <p:cNvSpPr/>
          <p:nvPr/>
        </p:nvSpPr>
        <p:spPr>
          <a:xfrm>
            <a:off x="4800600" y="4443984"/>
            <a:ext cx="39777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950"/>
              <a:buFont typeface="Calibri"/>
              <a:buNone/>
            </a:pPr>
            <a:r>
              <a:rPr b="0" i="1" lang="en-US" sz="950" u="none" cap="none" strike="noStrike">
                <a:solidFill>
                  <a:srgbClr val="3A6BC4"/>
                </a:solidFill>
                <a:latin typeface="Calibri"/>
                <a:ea typeface="Calibri"/>
                <a:cs typeface="Calibri"/>
                <a:sym typeface="Calibri"/>
              </a:rPr>
              <a:t>thecompassalliance.org/programming</a:t>
            </a:r>
            <a:endParaRPr b="0" i="0" sz="950" u="none" cap="none" strike="noStrike">
              <a:solidFill>
                <a:schemeClr val="dk1"/>
              </a:solidFill>
              <a:latin typeface="Calibri"/>
              <a:ea typeface="Calibri"/>
              <a:cs typeface="Calibri"/>
              <a:sym typeface="Calibri"/>
            </a:endParaRPr>
          </a:p>
        </p:txBody>
      </p:sp>
      <p:sp>
        <p:nvSpPr>
          <p:cNvPr id="1080" name="Google Shape;1080;g3e92e6f0be2_0_329"/>
          <p:cNvSpPr/>
          <p:nvPr/>
        </p:nvSpPr>
        <p:spPr>
          <a:xfrm>
            <a:off x="4800600" y="4626864"/>
            <a:ext cx="397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950"/>
              <a:buFont typeface="Calibri"/>
              <a:buNone/>
            </a:pPr>
            <a:r>
              <a:rPr b="0" i="0" lang="en-US" sz="950" u="none" cap="none" strike="noStrike">
                <a:solidFill>
                  <a:srgbClr val="5B6B80"/>
                </a:solidFill>
                <a:latin typeface="Calibri"/>
                <a:ea typeface="Calibri"/>
                <a:cs typeface="Calibri"/>
                <a:sym typeface="Calibri"/>
              </a:rPr>
              <a:t>Curated programming guide links: control loops, odometry, vision, auto, command-based structure. Links to whitepapers from top teams. Especially good for mentors coming from industry trying to understand FRC-specific conventions.</a:t>
            </a:r>
            <a:endParaRPr b="0" i="0" sz="950" u="none" cap="none" strike="noStrike">
              <a:solidFill>
                <a:schemeClr val="dk1"/>
              </a:solidFill>
              <a:latin typeface="Calibri"/>
              <a:ea typeface="Calibri"/>
              <a:cs typeface="Calibri"/>
              <a:sym typeface="Calibri"/>
            </a:endParaRPr>
          </a:p>
        </p:txBody>
      </p:sp>
      <p:sp>
        <p:nvSpPr>
          <p:cNvPr id="1081" name="Google Shape;1081;g3e92e6f0be2_0_329"/>
          <p:cNvSpPr/>
          <p:nvPr/>
        </p:nvSpPr>
        <p:spPr>
          <a:xfrm>
            <a:off x="365760" y="4919472"/>
            <a:ext cx="8412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100"/>
              <a:buFont typeface="Calibri"/>
              <a:buNone/>
            </a:pPr>
            <a:r>
              <a:rPr b="0" i="1" lang="en-US" sz="1100" u="none" cap="none" strike="noStrike">
                <a:solidFill>
                  <a:srgbClr val="3A6BC4"/>
                </a:solidFill>
                <a:latin typeface="Calibri"/>
                <a:ea typeface="Calibri"/>
                <a:cs typeface="Calibri"/>
                <a:sym typeface="Calibri"/>
              </a:rPr>
              <a:t>🔑  The fastest path to competitive programming: WPILib docs → Command-Based architecture → AdvantageKit logging → PathPlanner auto → AprilTag vision</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A"/>
        </a:solidFill>
      </p:bgPr>
    </p:bg>
    <p:spTree>
      <p:nvGrpSpPr>
        <p:cNvPr id="1086" name="Shape 1086"/>
        <p:cNvGrpSpPr/>
        <p:nvPr/>
      </p:nvGrpSpPr>
      <p:grpSpPr>
        <a:xfrm>
          <a:off x="0" y="0"/>
          <a:ext cx="0" cy="0"/>
          <a:chOff x="0" y="0"/>
          <a:chExt cx="0" cy="0"/>
        </a:xfrm>
      </p:grpSpPr>
      <p:sp>
        <p:nvSpPr>
          <p:cNvPr id="1087" name="Google Shape;1087;g3e92e6f0be2_0_366"/>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g3e92e6f0be2_0_366"/>
          <p:cNvSpPr/>
          <p:nvPr/>
        </p:nvSpPr>
        <p:spPr>
          <a:xfrm>
            <a:off x="457200" y="64008"/>
            <a:ext cx="68580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100"/>
              <a:buFont typeface="Calibri"/>
              <a:buNone/>
            </a:pPr>
            <a:r>
              <a:rPr b="1" i="0" lang="en-US" sz="2100" u="none" cap="none" strike="noStrike">
                <a:solidFill>
                  <a:srgbClr val="FFFFFF"/>
                </a:solidFill>
                <a:latin typeface="Calibri"/>
                <a:ea typeface="Calibri"/>
                <a:cs typeface="Calibri"/>
                <a:sym typeface="Calibri"/>
              </a:rPr>
              <a:t>Training: Mechanical Design Education</a:t>
            </a:r>
            <a:endParaRPr b="0" i="0" sz="2100" u="none" cap="none" strike="noStrike">
              <a:solidFill>
                <a:schemeClr val="dk1"/>
              </a:solidFill>
              <a:latin typeface="Calibri"/>
              <a:ea typeface="Calibri"/>
              <a:cs typeface="Calibri"/>
              <a:sym typeface="Calibri"/>
            </a:endParaRPr>
          </a:p>
        </p:txBody>
      </p:sp>
      <p:sp>
        <p:nvSpPr>
          <p:cNvPr id="1089" name="Google Shape;1089;g3e92e6f0be2_0_366"/>
          <p:cNvSpPr/>
          <p:nvPr/>
        </p:nvSpPr>
        <p:spPr>
          <a:xfrm>
            <a:off x="7132320" y="109728"/>
            <a:ext cx="1536300" cy="4206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g3e92e6f0be2_0_366"/>
          <p:cNvSpPr/>
          <p:nvPr/>
        </p:nvSpPr>
        <p:spPr>
          <a:xfrm>
            <a:off x="7132320" y="109728"/>
            <a:ext cx="15363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TRAINING</a:t>
            </a:r>
            <a:endParaRPr b="0" i="0" sz="1100" u="none" cap="none" strike="noStrike">
              <a:solidFill>
                <a:schemeClr val="dk1"/>
              </a:solidFill>
              <a:latin typeface="Calibri"/>
              <a:ea typeface="Calibri"/>
              <a:cs typeface="Calibri"/>
              <a:sym typeface="Calibri"/>
            </a:endParaRPr>
          </a:p>
        </p:txBody>
      </p:sp>
      <p:sp>
        <p:nvSpPr>
          <p:cNvPr id="1091" name="Google Shape;1091;g3e92e6f0be2_0_366"/>
          <p:cNvSpPr/>
          <p:nvPr/>
        </p:nvSpPr>
        <p:spPr>
          <a:xfrm>
            <a:off x="0" y="5070348"/>
            <a:ext cx="91440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g3e92e6f0be2_0_366"/>
          <p:cNvSpPr/>
          <p:nvPr/>
        </p:nvSpPr>
        <p:spPr>
          <a:xfrm>
            <a:off x="457200" y="777240"/>
            <a:ext cx="82296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300"/>
              <a:buFont typeface="Calibri"/>
              <a:buNone/>
            </a:pPr>
            <a:r>
              <a:rPr b="0" i="0" lang="en-US" sz="1300" u="none" cap="none" strike="noStrike">
                <a:solidFill>
                  <a:srgbClr val="5B6B80"/>
                </a:solidFill>
                <a:latin typeface="Calibri"/>
                <a:ea typeface="Calibri"/>
                <a:cs typeface="Calibri"/>
                <a:sym typeface="Calibri"/>
              </a:rPr>
              <a:t>Great mechanical design is as learnable as programming. These are the most respected mechanical education resources in FRC — from beginner to competition-winning design principles.</a:t>
            </a:r>
            <a:endParaRPr b="0" i="0" sz="1300" u="none" cap="none" strike="noStrike">
              <a:solidFill>
                <a:schemeClr val="dk1"/>
              </a:solidFill>
              <a:latin typeface="Calibri"/>
              <a:ea typeface="Calibri"/>
              <a:cs typeface="Calibri"/>
              <a:sym typeface="Calibri"/>
            </a:endParaRPr>
          </a:p>
        </p:txBody>
      </p:sp>
      <p:sp>
        <p:nvSpPr>
          <p:cNvPr id="1093" name="Google Shape;1093;g3e92e6f0be2_0_366"/>
          <p:cNvSpPr/>
          <p:nvPr/>
        </p:nvSpPr>
        <p:spPr>
          <a:xfrm>
            <a:off x="274320" y="1417320"/>
            <a:ext cx="4251900" cy="16458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g3e92e6f0be2_0_366"/>
          <p:cNvSpPr/>
          <p:nvPr/>
        </p:nvSpPr>
        <p:spPr>
          <a:xfrm>
            <a:off x="274320" y="1417320"/>
            <a:ext cx="4251900" cy="73200"/>
          </a:xfrm>
          <a:prstGeom prst="rect">
            <a:avLst/>
          </a:prstGeom>
          <a:solidFill>
            <a:srgbClr val="3A6BC4"/>
          </a:solidFill>
          <a:ln cap="flat" cmpd="sng" w="12700">
            <a:solidFill>
              <a:srgbClr val="3A6B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g3e92e6f0be2_0_366"/>
          <p:cNvSpPr/>
          <p:nvPr/>
        </p:nvSpPr>
        <p:spPr>
          <a:xfrm>
            <a:off x="365760" y="1545336"/>
            <a:ext cx="40599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Spectrum 3847 Design Slides</a:t>
            </a:r>
            <a:endParaRPr b="0" i="0" sz="1200" u="none" cap="none" strike="noStrike">
              <a:solidFill>
                <a:schemeClr val="dk1"/>
              </a:solidFill>
              <a:latin typeface="Calibri"/>
              <a:ea typeface="Calibri"/>
              <a:cs typeface="Calibri"/>
              <a:sym typeface="Calibri"/>
            </a:endParaRPr>
          </a:p>
        </p:txBody>
      </p:sp>
      <p:sp>
        <p:nvSpPr>
          <p:cNvPr id="1096" name="Google Shape;1096;g3e92e6f0be2_0_366"/>
          <p:cNvSpPr/>
          <p:nvPr/>
        </p:nvSpPr>
        <p:spPr>
          <a:xfrm>
            <a:off x="365760" y="1847088"/>
            <a:ext cx="40599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Team 3847, Houston TX</a:t>
            </a:r>
            <a:endParaRPr b="0" i="0" sz="1000" u="none" cap="none" strike="noStrike">
              <a:solidFill>
                <a:schemeClr val="dk1"/>
              </a:solidFill>
              <a:latin typeface="Calibri"/>
              <a:ea typeface="Calibri"/>
              <a:cs typeface="Calibri"/>
              <a:sym typeface="Calibri"/>
            </a:endParaRPr>
          </a:p>
        </p:txBody>
      </p:sp>
      <p:sp>
        <p:nvSpPr>
          <p:cNvPr id="1097" name="Google Shape;1097;g3e92e6f0be2_0_366"/>
          <p:cNvSpPr/>
          <p:nvPr/>
        </p:nvSpPr>
        <p:spPr>
          <a:xfrm>
            <a:off x="365760" y="207568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spectrum3847.org/resources</a:t>
            </a:r>
            <a:endParaRPr b="0" i="0" sz="1000" u="none" cap="none" strike="noStrike">
              <a:solidFill>
                <a:schemeClr val="dk1"/>
              </a:solidFill>
              <a:latin typeface="Calibri"/>
              <a:ea typeface="Calibri"/>
              <a:cs typeface="Calibri"/>
              <a:sym typeface="Calibri"/>
            </a:endParaRPr>
          </a:p>
        </p:txBody>
      </p:sp>
      <p:sp>
        <p:nvSpPr>
          <p:cNvPr id="1098" name="Google Shape;1098;g3e92e6f0be2_0_366"/>
          <p:cNvSpPr/>
          <p:nvPr/>
        </p:nvSpPr>
        <p:spPr>
          <a:xfrm>
            <a:off x="365760" y="2295144"/>
            <a:ext cx="40599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200-slide comprehensive FRC mechanical design course. Topics: physics for robotics, gear ratios, chain/belt power transmission, linear motion, materials, tolerancing, mechanism types, and COTS parts in depth. Has been widely used as a formal in-team training curriculum for 8+ years. Also includes separate: Pneumatics Guide, Electrical Guide, Robot Maintenance Guide, and Beginner Swerve Guide.</a:t>
            </a:r>
            <a:endParaRPr b="0" i="0" sz="1000" u="none" cap="none" strike="noStrike">
              <a:solidFill>
                <a:schemeClr val="dk1"/>
              </a:solidFill>
              <a:latin typeface="Calibri"/>
              <a:ea typeface="Calibri"/>
              <a:cs typeface="Calibri"/>
              <a:sym typeface="Calibri"/>
            </a:endParaRPr>
          </a:p>
        </p:txBody>
      </p:sp>
      <p:sp>
        <p:nvSpPr>
          <p:cNvPr id="1099" name="Google Shape;1099;g3e92e6f0be2_0_366"/>
          <p:cNvSpPr/>
          <p:nvPr/>
        </p:nvSpPr>
        <p:spPr>
          <a:xfrm>
            <a:off x="4709160" y="1417320"/>
            <a:ext cx="4251900" cy="16458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g3e92e6f0be2_0_366"/>
          <p:cNvSpPr/>
          <p:nvPr/>
        </p:nvSpPr>
        <p:spPr>
          <a:xfrm>
            <a:off x="4709160" y="1417320"/>
            <a:ext cx="4251900" cy="73200"/>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g3e92e6f0be2_0_366"/>
          <p:cNvSpPr/>
          <p:nvPr/>
        </p:nvSpPr>
        <p:spPr>
          <a:xfrm>
            <a:off x="4800600" y="1545336"/>
            <a:ext cx="40599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1678 Citrus Circuits Design Training</a:t>
            </a:r>
            <a:endParaRPr b="0" i="0" sz="1200" u="none" cap="none" strike="noStrike">
              <a:solidFill>
                <a:schemeClr val="dk1"/>
              </a:solidFill>
              <a:latin typeface="Calibri"/>
              <a:ea typeface="Calibri"/>
              <a:cs typeface="Calibri"/>
              <a:sym typeface="Calibri"/>
            </a:endParaRPr>
          </a:p>
        </p:txBody>
      </p:sp>
      <p:sp>
        <p:nvSpPr>
          <p:cNvPr id="1102" name="Google Shape;1102;g3e92e6f0be2_0_366"/>
          <p:cNvSpPr/>
          <p:nvPr/>
        </p:nvSpPr>
        <p:spPr>
          <a:xfrm>
            <a:off x="4800600" y="1847088"/>
            <a:ext cx="40599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Team 1678, Davis CA</a:t>
            </a:r>
            <a:endParaRPr b="0" i="0" sz="1000" u="none" cap="none" strike="noStrike">
              <a:solidFill>
                <a:schemeClr val="dk1"/>
              </a:solidFill>
              <a:latin typeface="Calibri"/>
              <a:ea typeface="Calibri"/>
              <a:cs typeface="Calibri"/>
              <a:sym typeface="Calibri"/>
            </a:endParaRPr>
          </a:p>
        </p:txBody>
      </p:sp>
      <p:sp>
        <p:nvSpPr>
          <p:cNvPr id="1103" name="Google Shape;1103;g3e92e6f0be2_0_366"/>
          <p:cNvSpPr/>
          <p:nvPr/>
        </p:nvSpPr>
        <p:spPr>
          <a:xfrm>
            <a:off x="4800600" y="2075688"/>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citruscircuits.org/resources</a:t>
            </a:r>
            <a:endParaRPr b="0" i="0" sz="1000" u="none" cap="none" strike="noStrike">
              <a:solidFill>
                <a:schemeClr val="dk1"/>
              </a:solidFill>
              <a:latin typeface="Calibri"/>
              <a:ea typeface="Calibri"/>
              <a:cs typeface="Calibri"/>
              <a:sym typeface="Calibri"/>
            </a:endParaRPr>
          </a:p>
        </p:txBody>
      </p:sp>
      <p:sp>
        <p:nvSpPr>
          <p:cNvPr id="1104" name="Google Shape;1104;g3e92e6f0be2_0_366"/>
          <p:cNvSpPr/>
          <p:nvPr/>
        </p:nvSpPr>
        <p:spPr>
          <a:xfrm>
            <a:off x="4800600" y="2295144"/>
            <a:ext cx="40599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Workshop slides from one of FRC's most admired teams. Covers mechanism design thinking, design for reliability, 'simple robots that win' philosophy, and CAD principles. Available on their website. Especially valuable for the 'design philosophy' content that is hard to find elsewhere.</a:t>
            </a:r>
            <a:endParaRPr b="0" i="0" sz="1000" u="none" cap="none" strike="noStrike">
              <a:solidFill>
                <a:schemeClr val="dk1"/>
              </a:solidFill>
              <a:latin typeface="Calibri"/>
              <a:ea typeface="Calibri"/>
              <a:cs typeface="Calibri"/>
              <a:sym typeface="Calibri"/>
            </a:endParaRPr>
          </a:p>
        </p:txBody>
      </p:sp>
      <p:sp>
        <p:nvSpPr>
          <p:cNvPr id="1105" name="Google Shape;1105;g3e92e6f0be2_0_366"/>
          <p:cNvSpPr/>
          <p:nvPr/>
        </p:nvSpPr>
        <p:spPr>
          <a:xfrm>
            <a:off x="274320" y="3172968"/>
            <a:ext cx="4251900" cy="16458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g3e92e6f0be2_0_366"/>
          <p:cNvSpPr/>
          <p:nvPr/>
        </p:nvSpPr>
        <p:spPr>
          <a:xfrm>
            <a:off x="274320" y="3172968"/>
            <a:ext cx="4251900" cy="73200"/>
          </a:xfrm>
          <a:prstGeom prst="rect">
            <a:avLst/>
          </a:prstGeom>
          <a:solidFill>
            <a:srgbClr val="2E6E4E"/>
          </a:solidFill>
          <a:ln cap="flat" cmpd="sng" w="12700">
            <a:solidFill>
              <a:srgbClr val="2E6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g3e92e6f0be2_0_366"/>
          <p:cNvSpPr/>
          <p:nvPr/>
        </p:nvSpPr>
        <p:spPr>
          <a:xfrm>
            <a:off x="365760" y="3300984"/>
            <a:ext cx="40599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Dan Gelbart Prototyping Series</a:t>
            </a:r>
            <a:endParaRPr b="0" i="0" sz="1200" u="none" cap="none" strike="noStrike">
              <a:solidFill>
                <a:schemeClr val="dk1"/>
              </a:solidFill>
              <a:latin typeface="Calibri"/>
              <a:ea typeface="Calibri"/>
              <a:cs typeface="Calibri"/>
              <a:sym typeface="Calibri"/>
            </a:endParaRPr>
          </a:p>
        </p:txBody>
      </p:sp>
      <p:sp>
        <p:nvSpPr>
          <p:cNvPr id="1108" name="Google Shape;1108;g3e92e6f0be2_0_366"/>
          <p:cNvSpPr/>
          <p:nvPr/>
        </p:nvSpPr>
        <p:spPr>
          <a:xfrm>
            <a:off x="365760" y="3602736"/>
            <a:ext cx="40599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R&amp;D Engineer / Prototyping Expert</a:t>
            </a:r>
            <a:endParaRPr b="0" i="0" sz="1000" u="none" cap="none" strike="noStrike">
              <a:solidFill>
                <a:schemeClr val="dk1"/>
              </a:solidFill>
              <a:latin typeface="Calibri"/>
              <a:ea typeface="Calibri"/>
              <a:cs typeface="Calibri"/>
              <a:sym typeface="Calibri"/>
            </a:endParaRPr>
          </a:p>
        </p:txBody>
      </p:sp>
      <p:sp>
        <p:nvSpPr>
          <p:cNvPr id="1109" name="Google Shape;1109;g3e92e6f0be2_0_366"/>
          <p:cNvSpPr/>
          <p:nvPr/>
        </p:nvSpPr>
        <p:spPr>
          <a:xfrm>
            <a:off x="365760" y="3831336"/>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youtube.com - 'Dan Gelbart Prototyping'</a:t>
            </a:r>
            <a:endParaRPr b="0" i="0" sz="1000" u="none" cap="none" strike="noStrike">
              <a:solidFill>
                <a:schemeClr val="dk1"/>
              </a:solidFill>
              <a:latin typeface="Calibri"/>
              <a:ea typeface="Calibri"/>
              <a:cs typeface="Calibri"/>
              <a:sym typeface="Calibri"/>
            </a:endParaRPr>
          </a:p>
        </p:txBody>
      </p:sp>
      <p:sp>
        <p:nvSpPr>
          <p:cNvPr id="1110" name="Google Shape;1110;g3e92e6f0be2_0_366"/>
          <p:cNvSpPr/>
          <p:nvPr/>
        </p:nvSpPr>
        <p:spPr>
          <a:xfrm>
            <a:off x="365760" y="4050792"/>
            <a:ext cx="40599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18-part YouTube series on rapid prototyping techniques. While not FRC-specific, it's been recommended by mentors at 971, 254, and dozens of top teams. Covers tooling, materials, and methods achievable in a team shop. Life-changing for teams that feel limited by their tools — the constraint is creativity, not the shop.</a:t>
            </a:r>
            <a:endParaRPr b="0" i="0" sz="1000" u="none" cap="none" strike="noStrike">
              <a:solidFill>
                <a:schemeClr val="dk1"/>
              </a:solidFill>
              <a:latin typeface="Calibri"/>
              <a:ea typeface="Calibri"/>
              <a:cs typeface="Calibri"/>
              <a:sym typeface="Calibri"/>
            </a:endParaRPr>
          </a:p>
        </p:txBody>
      </p:sp>
      <p:sp>
        <p:nvSpPr>
          <p:cNvPr id="1111" name="Google Shape;1111;g3e92e6f0be2_0_366"/>
          <p:cNvSpPr/>
          <p:nvPr/>
        </p:nvSpPr>
        <p:spPr>
          <a:xfrm>
            <a:off x="4709160" y="3172968"/>
            <a:ext cx="4251900" cy="1645800"/>
          </a:xfrm>
          <a:prstGeom prst="rect">
            <a:avLst/>
          </a:prstGeom>
          <a:solidFill>
            <a:srgbClr val="FFFFFF"/>
          </a:solidFill>
          <a:ln cap="flat" cmpd="sng" w="12700">
            <a:solidFill>
              <a:srgbClr val="D8E4F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g3e92e6f0be2_0_366"/>
          <p:cNvSpPr/>
          <p:nvPr/>
        </p:nvSpPr>
        <p:spPr>
          <a:xfrm>
            <a:off x="4709160" y="3172968"/>
            <a:ext cx="4251900" cy="732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g3e92e6f0be2_0_366"/>
          <p:cNvSpPr/>
          <p:nvPr/>
        </p:nvSpPr>
        <p:spPr>
          <a:xfrm>
            <a:off x="4800600" y="3300984"/>
            <a:ext cx="40599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1B2A"/>
              </a:buClr>
              <a:buSzPts val="1200"/>
              <a:buFont typeface="Calibri"/>
              <a:buNone/>
            </a:pPr>
            <a:r>
              <a:rPr b="1" i="0" lang="en-US" sz="1200" u="none" cap="none" strike="noStrike">
                <a:solidFill>
                  <a:srgbClr val="0D1B2A"/>
                </a:solidFill>
                <a:latin typeface="Calibri"/>
                <a:ea typeface="Calibri"/>
                <a:cs typeface="Calibri"/>
                <a:sym typeface="Calibri"/>
              </a:rPr>
              <a:t>RECA.lc — Mechanism Calculator</a:t>
            </a:r>
            <a:endParaRPr b="0" i="0" sz="1200" u="none" cap="none" strike="noStrike">
              <a:solidFill>
                <a:schemeClr val="dk1"/>
              </a:solidFill>
              <a:latin typeface="Calibri"/>
              <a:ea typeface="Calibri"/>
              <a:cs typeface="Calibri"/>
              <a:sym typeface="Calibri"/>
            </a:endParaRPr>
          </a:p>
        </p:txBody>
      </p:sp>
      <p:sp>
        <p:nvSpPr>
          <p:cNvPr id="1114" name="Google Shape;1114;g3e92e6f0be2_0_366"/>
          <p:cNvSpPr/>
          <p:nvPr/>
        </p:nvSpPr>
        <p:spPr>
          <a:xfrm>
            <a:off x="4800600" y="3602736"/>
            <a:ext cx="40599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1" lang="en-US" sz="1000" u="none" cap="none" strike="noStrike">
                <a:solidFill>
                  <a:srgbClr val="5B6B80"/>
                </a:solidFill>
                <a:latin typeface="Calibri"/>
                <a:ea typeface="Calibri"/>
                <a:cs typeface="Calibri"/>
                <a:sym typeface="Calibri"/>
              </a:rPr>
              <a:t>Community-built free tool</a:t>
            </a:r>
            <a:endParaRPr b="0" i="0" sz="1000" u="none" cap="none" strike="noStrike">
              <a:solidFill>
                <a:schemeClr val="dk1"/>
              </a:solidFill>
              <a:latin typeface="Calibri"/>
              <a:ea typeface="Calibri"/>
              <a:cs typeface="Calibri"/>
              <a:sym typeface="Calibri"/>
            </a:endParaRPr>
          </a:p>
        </p:txBody>
      </p:sp>
      <p:sp>
        <p:nvSpPr>
          <p:cNvPr id="1115" name="Google Shape;1115;g3e92e6f0be2_0_366"/>
          <p:cNvSpPr/>
          <p:nvPr/>
        </p:nvSpPr>
        <p:spPr>
          <a:xfrm>
            <a:off x="4800600" y="3831336"/>
            <a:ext cx="4059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6BC4"/>
              </a:buClr>
              <a:buSzPts val="1000"/>
              <a:buFont typeface="Calibri"/>
              <a:buNone/>
            </a:pPr>
            <a:r>
              <a:rPr b="0" i="1" lang="en-US" sz="1000" u="none" cap="none" strike="noStrike">
                <a:solidFill>
                  <a:srgbClr val="3A6BC4"/>
                </a:solidFill>
                <a:latin typeface="Calibri"/>
                <a:ea typeface="Calibri"/>
                <a:cs typeface="Calibri"/>
                <a:sym typeface="Calibri"/>
              </a:rPr>
              <a:t>reca.lc</a:t>
            </a:r>
            <a:endParaRPr b="0" i="0" sz="1000" u="none" cap="none" strike="noStrike">
              <a:solidFill>
                <a:schemeClr val="dk1"/>
              </a:solidFill>
              <a:latin typeface="Calibri"/>
              <a:ea typeface="Calibri"/>
              <a:cs typeface="Calibri"/>
              <a:sym typeface="Calibri"/>
            </a:endParaRPr>
          </a:p>
        </p:txBody>
      </p:sp>
      <p:sp>
        <p:nvSpPr>
          <p:cNvPr id="1116" name="Google Shape;1116;g3e92e6f0be2_0_366"/>
          <p:cNvSpPr/>
          <p:nvPr/>
        </p:nvSpPr>
        <p:spPr>
          <a:xfrm>
            <a:off x="4800600" y="4050792"/>
            <a:ext cx="40599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0"/>
              </a:buClr>
              <a:buSzPts val="1000"/>
              <a:buFont typeface="Calibri"/>
              <a:buNone/>
            </a:pPr>
            <a:r>
              <a:rPr b="0" i="0" lang="en-US" sz="1000" u="none" cap="none" strike="noStrike">
                <a:solidFill>
                  <a:srgbClr val="5B6B80"/>
                </a:solidFill>
                <a:latin typeface="Calibri"/>
                <a:ea typeface="Calibri"/>
                <a:cs typeface="Calibri"/>
                <a:sym typeface="Calibri"/>
              </a:rPr>
              <a:t>Web-based mechanism calculator (replaces the AMB Design Spreadsheet). Select a mechanism type (arm, elevator, flywheel, linear drive), input your constraints (motor, ratio, load, distance), and get performance predictions: speed, current draw, time-to-target. Essential for ratio selection before ordering any hardware.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121" name="Shape 1121"/>
        <p:cNvGrpSpPr/>
        <p:nvPr/>
      </p:nvGrpSpPr>
      <p:grpSpPr>
        <a:xfrm>
          <a:off x="0" y="0"/>
          <a:ext cx="0" cy="0"/>
          <a:chOff x="0" y="0"/>
          <a:chExt cx="0" cy="0"/>
        </a:xfrm>
      </p:grpSpPr>
      <p:sp>
        <p:nvSpPr>
          <p:cNvPr id="1122" name="Google Shape;1122;p25"/>
          <p:cNvSpPr/>
          <p:nvPr/>
        </p:nvSpPr>
        <p:spPr>
          <a:xfrm>
            <a:off x="0" y="0"/>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5"/>
          <p:cNvSpPr/>
          <p:nvPr/>
        </p:nvSpPr>
        <p:spPr>
          <a:xfrm>
            <a:off x="0" y="5070348"/>
            <a:ext cx="9144000" cy="73152"/>
          </a:xfrm>
          <a:prstGeom prst="rect">
            <a:avLst/>
          </a:prstGeom>
          <a:solidFill>
            <a:srgbClr val="E87C0A"/>
          </a:solidFill>
          <a:ln cap="flat" cmpd="sng" w="12700">
            <a:solidFill>
              <a:srgbClr val="E87C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5"/>
          <p:cNvSpPr/>
          <p:nvPr/>
        </p:nvSpPr>
        <p:spPr>
          <a:xfrm>
            <a:off x="731520" y="822960"/>
            <a:ext cx="7680960" cy="2011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"FIRST is more than robots.</a:t>
            </a:r>
            <a:endParaRPr b="0" i="0" sz="3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It is about who you become in the process."</a:t>
            </a:r>
            <a:endParaRPr b="0" i="0" sz="3000" u="none" cap="none" strike="noStrike">
              <a:solidFill>
                <a:schemeClr val="dk1"/>
              </a:solidFill>
              <a:latin typeface="Calibri"/>
              <a:ea typeface="Calibri"/>
              <a:cs typeface="Calibri"/>
              <a:sym typeface="Calibri"/>
            </a:endParaRPr>
          </a:p>
        </p:txBody>
      </p:sp>
      <p:sp>
        <p:nvSpPr>
          <p:cNvPr id="1125" name="Google Shape;1125;p25"/>
          <p:cNvSpPr/>
          <p:nvPr/>
        </p:nvSpPr>
        <p:spPr>
          <a:xfrm>
            <a:off x="914400" y="2926080"/>
            <a:ext cx="73152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1400"/>
              <a:buFont typeface="Calibri"/>
              <a:buNone/>
            </a:pPr>
            <a:r>
              <a:rPr b="0" i="1" lang="en-US" sz="1400" u="none" cap="none" strike="noStrike">
                <a:solidFill>
                  <a:srgbClr val="E87C0A"/>
                </a:solidFill>
                <a:latin typeface="Calibri"/>
                <a:ea typeface="Calibri"/>
                <a:cs typeface="Calibri"/>
                <a:sym typeface="Calibri"/>
              </a:rPr>
              <a:t>— Dean Kamen, Founder of FIRST</a:t>
            </a:r>
            <a:endParaRPr b="0" i="0" sz="1400" u="none" cap="none" strike="noStrike">
              <a:solidFill>
                <a:schemeClr val="dk1"/>
              </a:solidFill>
              <a:latin typeface="Calibri"/>
              <a:ea typeface="Calibri"/>
              <a:cs typeface="Calibri"/>
              <a:sym typeface="Calibri"/>
            </a:endParaRPr>
          </a:p>
        </p:txBody>
      </p:sp>
      <p:sp>
        <p:nvSpPr>
          <p:cNvPr id="1126" name="Google Shape;1126;p25"/>
          <p:cNvSpPr/>
          <p:nvPr/>
        </p:nvSpPr>
        <p:spPr>
          <a:xfrm>
            <a:off x="457200" y="3520440"/>
            <a:ext cx="1920240" cy="118872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5"/>
          <p:cNvSpPr/>
          <p:nvPr/>
        </p:nvSpPr>
        <p:spPr>
          <a:xfrm>
            <a:off x="457200" y="3584448"/>
            <a:ext cx="19202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600"/>
              <a:buFont typeface="Calibri"/>
              <a:buNone/>
            </a:pPr>
            <a:r>
              <a:rPr b="1" i="0" lang="en-US" sz="2600" u="none" cap="none" strike="noStrike">
                <a:solidFill>
                  <a:srgbClr val="E87C0A"/>
                </a:solidFill>
                <a:latin typeface="Calibri"/>
                <a:ea typeface="Calibri"/>
                <a:cs typeface="Calibri"/>
                <a:sym typeface="Calibri"/>
              </a:rPr>
              <a:t>33+</a:t>
            </a:r>
            <a:endParaRPr b="0" i="0" sz="2600" u="none" cap="none" strike="noStrike">
              <a:solidFill>
                <a:schemeClr val="dk1"/>
              </a:solidFill>
              <a:latin typeface="Calibri"/>
              <a:ea typeface="Calibri"/>
              <a:cs typeface="Calibri"/>
              <a:sym typeface="Calibri"/>
            </a:endParaRPr>
          </a:p>
        </p:txBody>
      </p:sp>
      <p:sp>
        <p:nvSpPr>
          <p:cNvPr id="1128" name="Google Shape;1128;p25"/>
          <p:cNvSpPr/>
          <p:nvPr/>
        </p:nvSpPr>
        <p:spPr>
          <a:xfrm>
            <a:off x="457200" y="4187952"/>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Years of FRC</a:t>
            </a:r>
            <a:endParaRPr b="0" i="0" sz="1100" u="none" cap="none" strike="noStrike">
              <a:solidFill>
                <a:schemeClr val="dk1"/>
              </a:solidFill>
              <a:latin typeface="Calibri"/>
              <a:ea typeface="Calibri"/>
              <a:cs typeface="Calibri"/>
              <a:sym typeface="Calibri"/>
            </a:endParaRPr>
          </a:p>
        </p:txBody>
      </p:sp>
      <p:sp>
        <p:nvSpPr>
          <p:cNvPr id="1129" name="Google Shape;1129;p25"/>
          <p:cNvSpPr/>
          <p:nvPr/>
        </p:nvSpPr>
        <p:spPr>
          <a:xfrm>
            <a:off x="2542032" y="3520440"/>
            <a:ext cx="1920240" cy="118872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5"/>
          <p:cNvSpPr/>
          <p:nvPr/>
        </p:nvSpPr>
        <p:spPr>
          <a:xfrm>
            <a:off x="2542032" y="3584448"/>
            <a:ext cx="19202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600"/>
              <a:buFont typeface="Calibri"/>
              <a:buNone/>
            </a:pPr>
            <a:r>
              <a:rPr b="1" i="0" lang="en-US" sz="2600" u="none" cap="none" strike="noStrike">
                <a:solidFill>
                  <a:srgbClr val="E87C0A"/>
                </a:solidFill>
                <a:latin typeface="Calibri"/>
                <a:ea typeface="Calibri"/>
                <a:cs typeface="Calibri"/>
                <a:sym typeface="Calibri"/>
              </a:rPr>
              <a:t>28</a:t>
            </a:r>
            <a:endParaRPr b="0" i="0" sz="2600" u="none" cap="none" strike="noStrike">
              <a:solidFill>
                <a:schemeClr val="dk1"/>
              </a:solidFill>
              <a:latin typeface="Calibri"/>
              <a:ea typeface="Calibri"/>
              <a:cs typeface="Calibri"/>
              <a:sym typeface="Calibri"/>
            </a:endParaRPr>
          </a:p>
        </p:txBody>
      </p:sp>
      <p:sp>
        <p:nvSpPr>
          <p:cNvPr id="1131" name="Google Shape;1131;p25"/>
          <p:cNvSpPr/>
          <p:nvPr/>
        </p:nvSpPr>
        <p:spPr>
          <a:xfrm>
            <a:off x="2542032" y="4187952"/>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Countries</a:t>
            </a:r>
            <a:endParaRPr b="0" i="0" sz="1100" u="none" cap="none" strike="noStrike">
              <a:solidFill>
                <a:schemeClr val="dk1"/>
              </a:solidFill>
              <a:latin typeface="Calibri"/>
              <a:ea typeface="Calibri"/>
              <a:cs typeface="Calibri"/>
              <a:sym typeface="Calibri"/>
            </a:endParaRPr>
          </a:p>
        </p:txBody>
      </p:sp>
      <p:sp>
        <p:nvSpPr>
          <p:cNvPr id="1132" name="Google Shape;1132;p25"/>
          <p:cNvSpPr/>
          <p:nvPr/>
        </p:nvSpPr>
        <p:spPr>
          <a:xfrm>
            <a:off x="4626864" y="3520440"/>
            <a:ext cx="1920240" cy="118872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5"/>
          <p:cNvSpPr/>
          <p:nvPr/>
        </p:nvSpPr>
        <p:spPr>
          <a:xfrm>
            <a:off x="4626864" y="3584448"/>
            <a:ext cx="19202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600"/>
              <a:buFont typeface="Calibri"/>
              <a:buNone/>
            </a:pPr>
            <a:r>
              <a:rPr b="1" i="0" lang="en-US" sz="2600" u="none" cap="none" strike="noStrike">
                <a:solidFill>
                  <a:srgbClr val="E87C0A"/>
                </a:solidFill>
                <a:latin typeface="Calibri"/>
                <a:ea typeface="Calibri"/>
                <a:cs typeface="Calibri"/>
                <a:sym typeface="Calibri"/>
              </a:rPr>
              <a:t>86,700+</a:t>
            </a:r>
            <a:endParaRPr b="0" i="0" sz="2600" u="none" cap="none" strike="noStrike">
              <a:solidFill>
                <a:schemeClr val="dk1"/>
              </a:solidFill>
              <a:latin typeface="Calibri"/>
              <a:ea typeface="Calibri"/>
              <a:cs typeface="Calibri"/>
              <a:sym typeface="Calibri"/>
            </a:endParaRPr>
          </a:p>
        </p:txBody>
      </p:sp>
      <p:sp>
        <p:nvSpPr>
          <p:cNvPr id="1134" name="Google Shape;1134;p25"/>
          <p:cNvSpPr/>
          <p:nvPr/>
        </p:nvSpPr>
        <p:spPr>
          <a:xfrm>
            <a:off x="4626864" y="4187952"/>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Students</a:t>
            </a:r>
            <a:endParaRPr b="0" i="0" sz="1100" u="none" cap="none" strike="noStrike">
              <a:solidFill>
                <a:schemeClr val="dk1"/>
              </a:solidFill>
              <a:latin typeface="Calibri"/>
              <a:ea typeface="Calibri"/>
              <a:cs typeface="Calibri"/>
              <a:sym typeface="Calibri"/>
            </a:endParaRPr>
          </a:p>
        </p:txBody>
      </p:sp>
      <p:sp>
        <p:nvSpPr>
          <p:cNvPr id="1135" name="Google Shape;1135;p25"/>
          <p:cNvSpPr/>
          <p:nvPr/>
        </p:nvSpPr>
        <p:spPr>
          <a:xfrm>
            <a:off x="6711696" y="3520440"/>
            <a:ext cx="1920240" cy="1188720"/>
          </a:xfrm>
          <a:prstGeom prst="rect">
            <a:avLst/>
          </a:prstGeom>
          <a:solidFill>
            <a:srgbClr val="1B3A6B"/>
          </a:solidFill>
          <a:ln cap="flat" cmpd="sng" w="12700">
            <a:solidFill>
              <a:srgbClr val="1B3A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5"/>
          <p:cNvSpPr/>
          <p:nvPr/>
        </p:nvSpPr>
        <p:spPr>
          <a:xfrm>
            <a:off x="6711696" y="3584448"/>
            <a:ext cx="1920240"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7C0A"/>
              </a:buClr>
              <a:buSzPts val="2600"/>
              <a:buFont typeface="Calibri"/>
              <a:buNone/>
            </a:pPr>
            <a:r>
              <a:rPr b="1" i="0" lang="en-US" sz="2600" u="none" cap="none" strike="noStrike">
                <a:solidFill>
                  <a:srgbClr val="E87C0A"/>
                </a:solidFill>
                <a:latin typeface="Calibri"/>
                <a:ea typeface="Calibri"/>
                <a:cs typeface="Calibri"/>
                <a:sym typeface="Calibri"/>
              </a:rPr>
              <a:t>$80M+</a:t>
            </a:r>
            <a:endParaRPr b="0" i="0" sz="2600" u="none" cap="none" strike="noStrike">
              <a:solidFill>
                <a:schemeClr val="dk1"/>
              </a:solidFill>
              <a:latin typeface="Calibri"/>
              <a:ea typeface="Calibri"/>
              <a:cs typeface="Calibri"/>
              <a:sym typeface="Calibri"/>
            </a:endParaRPr>
          </a:p>
        </p:txBody>
      </p:sp>
      <p:sp>
        <p:nvSpPr>
          <p:cNvPr id="1137" name="Google Shape;1137;p25"/>
          <p:cNvSpPr/>
          <p:nvPr/>
        </p:nvSpPr>
        <p:spPr>
          <a:xfrm>
            <a:off x="6711696" y="4187952"/>
            <a:ext cx="1920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E4F0"/>
              </a:buClr>
              <a:buSzPts val="1100"/>
              <a:buFont typeface="Calibri"/>
              <a:buNone/>
            </a:pPr>
            <a:r>
              <a:rPr b="0" i="0" lang="en-US" sz="1100" u="none" cap="none" strike="noStrike">
                <a:solidFill>
                  <a:srgbClr val="D8E4F0"/>
                </a:solidFill>
                <a:latin typeface="Calibri"/>
                <a:ea typeface="Calibri"/>
                <a:cs typeface="Calibri"/>
                <a:sym typeface="Calibri"/>
              </a:rPr>
              <a:t>Scholarships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2026-05-13T09:12:47Z</dcterms:created>
  <dc:creator>PptxGenJS</dc:creator>
</cp:coreProperties>
</file>